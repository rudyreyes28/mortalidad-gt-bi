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Montserrat SemiBold"/>
      <p:regular r:id="rId22"/>
      <p:bold r:id="rId23"/>
      <p:italic r:id="rId24"/>
      <p:boldItalic r:id="rId25"/>
    </p:embeddedFont>
    <p:embeddedFont>
      <p:font typeface="Montserrat"/>
      <p:bold r:id="rId26"/>
      <p:boldItalic r:id="rId27"/>
    </p:embeddedFont>
    <p:embeddedFont>
      <p:font typeface="Montserrat ExtraBold"/>
      <p:bold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MontserratSemiBold-regular.fntdata"/><Relationship Id="rId21" Type="http://schemas.openxmlformats.org/officeDocument/2006/relationships/slide" Target="slides/slide16.xml"/><Relationship Id="rId24" Type="http://schemas.openxmlformats.org/officeDocument/2006/relationships/font" Target="fonts/MontserratSemiBold-italic.fntdata"/><Relationship Id="rId23" Type="http://schemas.openxmlformats.org/officeDocument/2006/relationships/font" Target="fonts/MontserratSemiBold-bold.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Montserrat-bold.fntdata"/><Relationship Id="rId25" Type="http://schemas.openxmlformats.org/officeDocument/2006/relationships/font" Target="fonts/MontserratSemiBold-boldItalic.fntdata"/><Relationship Id="rId28" Type="http://schemas.openxmlformats.org/officeDocument/2006/relationships/font" Target="fonts/MontserratExtraBold-bold.fntdata"/><Relationship Id="rId27" Type="http://schemas.openxmlformats.org/officeDocument/2006/relationships/font" Target="fonts/Montserrat-boldItalic.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ExtraBold-boldItalic.fnt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 name="Shape 51"/>
        <p:cNvGrpSpPr/>
        <p:nvPr/>
      </p:nvGrpSpPr>
      <p:grpSpPr>
        <a:xfrm>
          <a:off x="0" y="0"/>
          <a:ext cx="0" cy="0"/>
          <a:chOff x="0" y="0"/>
          <a:chExt cx="0" cy="0"/>
        </a:xfrm>
      </p:grpSpPr>
      <p:sp>
        <p:nvSpPr>
          <p:cNvPr id="52" name="Google Shape;52;g3f1c5238c9c_0_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 name="Google Shape;53;g3f1c5238c9c_0_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f1c5238c9c_0_2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f1c5238c9c_0_2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f1c5238c9c_0_5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f1c5238c9c_0_5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3f1c5238c9c_0_6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3f1c5238c9c_0_6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f1c5238c9c_0_7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f1c5238c9c_0_7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3f1c5238c9c_0_10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3f1c5238c9c_0_10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f1c5238c9c_0_1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f1c5238c9c_0_1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3f1c5238c9c_0_1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3f1c5238c9c_0_1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g3f1c5238c9c_0_14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2" name="Google Shape;342;g3f1c5238c9c_0_14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3f1c5238c9c_0_16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1" name="Google Shape;381;g3f1c5238c9c_0_16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6" name="Shape 406"/>
        <p:cNvGrpSpPr/>
        <p:nvPr/>
      </p:nvGrpSpPr>
      <p:grpSpPr>
        <a:xfrm>
          <a:off x="0" y="0"/>
          <a:ext cx="0" cy="0"/>
          <a:chOff x="0" y="0"/>
          <a:chExt cx="0" cy="0"/>
        </a:xfrm>
      </p:grpSpPr>
      <p:sp>
        <p:nvSpPr>
          <p:cNvPr id="407" name="Google Shape;407;g3f1c5238c9c_0_16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8" name="Google Shape;408;g3f1c5238c9c_0_16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f1c5238c9c_0_18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3" name="Google Shape;413;g3f1c5238c9c_0_18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3f1c5238c9c_0_19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3f1c5238c9c_0_19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4" name="Shape 444"/>
        <p:cNvGrpSpPr/>
        <p:nvPr/>
      </p:nvGrpSpPr>
      <p:grpSpPr>
        <a:xfrm>
          <a:off x="0" y="0"/>
          <a:ext cx="0" cy="0"/>
          <a:chOff x="0" y="0"/>
          <a:chExt cx="0" cy="0"/>
        </a:xfrm>
      </p:grpSpPr>
      <p:sp>
        <p:nvSpPr>
          <p:cNvPr id="445" name="Google Shape;445;g3f1c5238c9c_0_19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6" name="Google Shape;446;g3f1c5238c9c_0_19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9" name="Shape 449"/>
        <p:cNvGrpSpPr/>
        <p:nvPr/>
      </p:nvGrpSpPr>
      <p:grpSpPr>
        <a:xfrm>
          <a:off x="0" y="0"/>
          <a:ext cx="0" cy="0"/>
          <a:chOff x="0" y="0"/>
          <a:chExt cx="0" cy="0"/>
        </a:xfrm>
      </p:grpSpPr>
      <p:sp>
        <p:nvSpPr>
          <p:cNvPr id="450" name="Google Shape;450;g3f1c5238c9c_0_19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1" name="Google Shape;451;g3f1c5238c9c_0_19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g3f1c5238c9c_0_2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9" name="Google Shape;479;g3f1c5238c9c_0_2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g3f1c59d8a56_6_0)">
  <p:cSld name="Generated (g3f1c59d8a56_6_0)">
    <p:spTree>
      <p:nvGrpSpPr>
        <p:cNvPr id="50" name="Shape 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19.png"/><Relationship Id="rId5" Type="http://schemas.openxmlformats.org/officeDocument/2006/relationships/image" Target="../media/image1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image" Target="../media/image1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7.png"/><Relationship Id="rId4" Type="http://schemas.openxmlformats.org/officeDocument/2006/relationships/image" Target="../media/image2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27.png"/><Relationship Id="rId7" Type="http://schemas.openxmlformats.org/officeDocument/2006/relationships/image" Target="../media/image2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5.png"/><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hyperlink" Target="https://app.powerbi.com/groups/me/reports/6b651538-b34e-4059-a73e-255ad0a61bf4/?pbi_source=PowerPoint" TargetMode="External"/><Relationship Id="rId4"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hyperlink" Target="https://app.powerbi.com/groups/me/reports/6b651538-b34e-4059-a73e-255ad0a61bf4/?pbi_source=PowerPoint" TargetMode="Externa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image" Target="../media/image28.png"/><Relationship Id="rId4" Type="http://schemas.openxmlformats.org/officeDocument/2006/relationships/image" Target="../media/image11.png"/><Relationship Id="rId5" Type="http://schemas.openxmlformats.org/officeDocument/2006/relationships/image" Target="../media/image21.png"/><Relationship Id="rId6" Type="http://schemas.openxmlformats.org/officeDocument/2006/relationships/image" Target="../media/image25.png"/><Relationship Id="rId7"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 name="Shape 54"/>
        <p:cNvGrpSpPr/>
        <p:nvPr/>
      </p:nvGrpSpPr>
      <p:grpSpPr>
        <a:xfrm>
          <a:off x="0" y="0"/>
          <a:ext cx="0" cy="0"/>
          <a:chOff x="0" y="0"/>
          <a:chExt cx="0" cy="0"/>
        </a:xfrm>
      </p:grpSpPr>
      <p:pic>
        <p:nvPicPr>
          <p:cNvPr id="55" name="Google Shape;55;p14"/>
          <p:cNvPicPr preferRelativeResize="0"/>
          <p:nvPr/>
        </p:nvPicPr>
        <p:blipFill rotWithShape="1">
          <a:blip r:embed="rId3">
            <a:alphaModFix/>
          </a:blip>
          <a:srcRect b="0" l="0" r="0" t="0"/>
          <a:stretch/>
        </p:blipFill>
        <p:spPr>
          <a:xfrm>
            <a:off x="0" y="0"/>
            <a:ext cx="9144000" cy="5143500"/>
          </a:xfrm>
          <a:prstGeom prst="rect">
            <a:avLst/>
          </a:prstGeom>
          <a:noFill/>
          <a:ln>
            <a:noFill/>
          </a:ln>
        </p:spPr>
      </p:pic>
      <p:pic>
        <p:nvPicPr>
          <p:cNvPr id="56" name="Google Shape;56;p14"/>
          <p:cNvPicPr preferRelativeResize="0"/>
          <p:nvPr/>
        </p:nvPicPr>
        <p:blipFill rotWithShape="1">
          <a:blip r:embed="rId4">
            <a:alphaModFix/>
          </a:blip>
          <a:srcRect b="0" l="0" r="0" t="0"/>
          <a:stretch/>
        </p:blipFill>
        <p:spPr>
          <a:xfrm>
            <a:off x="762000" y="2647950"/>
            <a:ext cx="4943400" cy="28500"/>
          </a:xfrm>
          <a:prstGeom prst="rect">
            <a:avLst/>
          </a:prstGeom>
          <a:noFill/>
          <a:ln>
            <a:noFill/>
          </a:ln>
        </p:spPr>
      </p:pic>
      <p:pic>
        <p:nvPicPr>
          <p:cNvPr id="57" name="Google Shape;57;p14"/>
          <p:cNvPicPr preferRelativeResize="0"/>
          <p:nvPr/>
        </p:nvPicPr>
        <p:blipFill rotWithShape="1">
          <a:blip r:embed="rId5">
            <a:alphaModFix/>
          </a:blip>
          <a:srcRect b="0" l="0" r="0" t="0"/>
          <a:stretch/>
        </p:blipFill>
        <p:spPr>
          <a:xfrm>
            <a:off x="0" y="0"/>
            <a:ext cx="1524000" cy="5143500"/>
          </a:xfrm>
          <a:prstGeom prst="rect">
            <a:avLst/>
          </a:prstGeom>
          <a:noFill/>
          <a:ln>
            <a:noFill/>
          </a:ln>
        </p:spPr>
      </p:pic>
      <p:grpSp>
        <p:nvGrpSpPr>
          <p:cNvPr id="58" name="Google Shape;58;p14"/>
          <p:cNvGrpSpPr/>
          <p:nvPr/>
        </p:nvGrpSpPr>
        <p:grpSpPr>
          <a:xfrm>
            <a:off x="4953000" y="381000"/>
            <a:ext cx="4000500" cy="4953000"/>
            <a:chOff x="4953000" y="381000"/>
            <a:chExt cx="4000500" cy="4953000"/>
          </a:xfrm>
        </p:grpSpPr>
        <p:sp>
          <p:nvSpPr>
            <p:cNvPr id="59" name="Google Shape;59;p14"/>
            <p:cNvSpPr/>
            <p:nvPr/>
          </p:nvSpPr>
          <p:spPr>
            <a:xfrm>
              <a:off x="6286500" y="381000"/>
              <a:ext cx="2667000" cy="2667000"/>
            </a:xfrm>
            <a:prstGeom prst="ellipse">
              <a:avLst/>
            </a:prstGeom>
            <a:solidFill>
              <a:srgbClr val="3B82F6">
                <a:alpha val="7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0" name="Google Shape;60;p14"/>
            <p:cNvSpPr/>
            <p:nvPr/>
          </p:nvSpPr>
          <p:spPr>
            <a:xfrm>
              <a:off x="7048500" y="1143000"/>
              <a:ext cx="1714500" cy="1714500"/>
            </a:xfrm>
            <a:prstGeom prst="ellipse">
              <a:avLst/>
            </a:prstGeom>
            <a:solidFill>
              <a:srgbClr val="10B981">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1" name="Google Shape;61;p14"/>
            <p:cNvSpPr/>
            <p:nvPr/>
          </p:nvSpPr>
          <p:spPr>
            <a:xfrm>
              <a:off x="4953000" y="1905000"/>
              <a:ext cx="3429000" cy="3429000"/>
            </a:xfrm>
            <a:prstGeom prst="ellipse">
              <a:avLst/>
            </a:prstGeom>
            <a:solidFill>
              <a:srgbClr val="021329"/>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62" name="Google Shape;62;p14"/>
          <p:cNvGrpSpPr/>
          <p:nvPr/>
        </p:nvGrpSpPr>
        <p:grpSpPr>
          <a:xfrm>
            <a:off x="762000" y="762000"/>
            <a:ext cx="7620000" cy="1619175"/>
            <a:chOff x="762000" y="762000"/>
            <a:chExt cx="7620000" cy="1619175"/>
          </a:xfrm>
        </p:grpSpPr>
        <p:sp>
          <p:nvSpPr>
            <p:cNvPr id="63" name="Google Shape;63;p14"/>
            <p:cNvSpPr txBox="1"/>
            <p:nvPr/>
          </p:nvSpPr>
          <p:spPr>
            <a:xfrm>
              <a:off x="762000" y="762000"/>
              <a:ext cx="7620000" cy="2859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000">
                  <a:solidFill>
                    <a:srgbClr val="10B981"/>
                  </a:solidFill>
                  <a:latin typeface="Montserrat"/>
                  <a:ea typeface="Montserrat"/>
                  <a:cs typeface="Montserrat"/>
                  <a:sym typeface="Montserrat"/>
                </a:rPr>
                <a:t>Salud Pública y Asistencia Social</a:t>
              </a:r>
              <a:endParaRPr b="1" sz="1000">
                <a:solidFill>
                  <a:srgbClr val="10B981"/>
                </a:solidFill>
                <a:latin typeface="Montserrat"/>
                <a:ea typeface="Montserrat"/>
                <a:cs typeface="Montserrat"/>
                <a:sym typeface="Montserrat"/>
              </a:endParaRPr>
            </a:p>
          </p:txBody>
        </p:sp>
        <p:sp>
          <p:nvSpPr>
            <p:cNvPr id="64" name="Google Shape;64;p14"/>
            <p:cNvSpPr txBox="1"/>
            <p:nvPr/>
          </p:nvSpPr>
          <p:spPr>
            <a:xfrm>
              <a:off x="762000" y="1095375"/>
              <a:ext cx="7620000" cy="12858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2590">
                  <a:solidFill>
                    <a:srgbClr val="FFFFFF"/>
                  </a:solidFill>
                  <a:latin typeface="Montserrat ExtraBold"/>
                  <a:ea typeface="Montserrat ExtraBold"/>
                  <a:cs typeface="Montserrat ExtraBold"/>
                  <a:sym typeface="Montserrat ExtraBold"/>
                </a:rPr>
                <a:t>Plataforma de Inteligencia Epidemiológica</a:t>
              </a:r>
              <a:endParaRPr b="0" sz="2590">
                <a:solidFill>
                  <a:srgbClr val="FFFFFF"/>
                </a:solidFill>
                <a:latin typeface="Montserrat ExtraBold"/>
                <a:ea typeface="Montserrat ExtraBold"/>
                <a:cs typeface="Montserrat ExtraBold"/>
                <a:sym typeface="Montserrat ExtraBold"/>
              </a:endParaRPr>
            </a:p>
            <a:p>
              <a:pPr indent="0" lvl="0" marL="0" rtl="0" algn="l">
                <a:spcBef>
                  <a:spcPts val="900"/>
                </a:spcBef>
                <a:spcAft>
                  <a:spcPts val="0"/>
                </a:spcAft>
                <a:buNone/>
              </a:pPr>
              <a:r>
                <a:rPr b="0" lang="es" sz="2035">
                  <a:solidFill>
                    <a:srgbClr val="3B82F6"/>
                  </a:solidFill>
                  <a:latin typeface="Montserrat SemiBold"/>
                  <a:ea typeface="Montserrat SemiBold"/>
                  <a:cs typeface="Montserrat SemiBold"/>
                  <a:sym typeface="Montserrat SemiBold"/>
                </a:rPr>
                <a:t>Análisis de Mortalidad Pre y Post COVID-19</a:t>
              </a:r>
              <a:endParaRPr b="0" sz="2035">
                <a:solidFill>
                  <a:srgbClr val="3B82F6"/>
                </a:solidFill>
                <a:latin typeface="Montserrat SemiBold"/>
                <a:ea typeface="Montserrat SemiBold"/>
                <a:cs typeface="Montserrat SemiBold"/>
                <a:sym typeface="Montserrat SemiBold"/>
              </a:endParaRPr>
            </a:p>
          </p:txBody>
        </p:sp>
      </p:grpSp>
      <p:sp>
        <p:nvSpPr>
          <p:cNvPr id="65" name="Google Shape;65;p14"/>
          <p:cNvSpPr txBox="1"/>
          <p:nvPr/>
        </p:nvSpPr>
        <p:spPr>
          <a:xfrm>
            <a:off x="762000" y="2952750"/>
            <a:ext cx="4572000" cy="571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1400">
                <a:solidFill>
                  <a:srgbClr val="94A3B8"/>
                </a:solidFill>
                <a:latin typeface="Arial"/>
                <a:ea typeface="Arial"/>
                <a:cs typeface="Arial"/>
                <a:sym typeface="Arial"/>
              </a:rPr>
              <a:t>Exploración del Estado de la Salud en Guatemala y Centroamérica a través de fuentes de datos públicas.</a:t>
            </a:r>
            <a:endParaRPr b="0" sz="1400">
              <a:solidFill>
                <a:srgbClr val="94A3B8"/>
              </a:solidFill>
              <a:latin typeface="Arial"/>
              <a:ea typeface="Arial"/>
              <a:cs typeface="Arial"/>
              <a:sym typeface="Arial"/>
            </a:endParaRPr>
          </a:p>
        </p:txBody>
      </p:sp>
      <p:grpSp>
        <p:nvGrpSpPr>
          <p:cNvPr id="66" name="Google Shape;66;p14"/>
          <p:cNvGrpSpPr/>
          <p:nvPr/>
        </p:nvGrpSpPr>
        <p:grpSpPr>
          <a:xfrm>
            <a:off x="762000" y="3790950"/>
            <a:ext cx="3810000" cy="876225"/>
            <a:chOff x="762000" y="3790950"/>
            <a:chExt cx="3810000" cy="876225"/>
          </a:xfrm>
        </p:grpSpPr>
        <p:sp>
          <p:nvSpPr>
            <p:cNvPr id="67" name="Google Shape;67;p14"/>
            <p:cNvSpPr/>
            <p:nvPr/>
          </p:nvSpPr>
          <p:spPr>
            <a:xfrm>
              <a:off x="762000" y="3790950"/>
              <a:ext cx="3810000" cy="9600"/>
            </a:xfrm>
            <a:prstGeom prst="rect">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68" name="Google Shape;68;p14"/>
            <p:cNvSpPr txBox="1"/>
            <p:nvPr/>
          </p:nvSpPr>
          <p:spPr>
            <a:xfrm>
              <a:off x="762000" y="3952875"/>
              <a:ext cx="3810000" cy="714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1100">
                  <a:solidFill>
                    <a:srgbClr val="3B82F6"/>
                  </a:solidFill>
                  <a:latin typeface="Montserrat"/>
                  <a:ea typeface="Montserrat"/>
                  <a:cs typeface="Montserrat"/>
                  <a:sym typeface="Montserrat"/>
                </a:rPr>
                <a:t>Autores del Proyecto</a:t>
              </a:r>
              <a:endParaRPr b="1" sz="1100">
                <a:solidFill>
                  <a:srgbClr val="3B82F6"/>
                </a:solidFill>
                <a:latin typeface="Montserrat"/>
                <a:ea typeface="Montserrat"/>
                <a:cs typeface="Montserrat"/>
                <a:sym typeface="Montserrat"/>
              </a:endParaRPr>
            </a:p>
            <a:p>
              <a:pPr indent="0" lvl="0" marL="0" rtl="0" algn="l">
                <a:spcBef>
                  <a:spcPts val="600"/>
                </a:spcBef>
                <a:spcAft>
                  <a:spcPts val="0"/>
                </a:spcAft>
                <a:buNone/>
              </a:pPr>
              <a:r>
                <a:rPr lang="es" sz="1200">
                  <a:solidFill>
                    <a:srgbClr val="F1F5F9"/>
                  </a:solidFill>
                  <a:latin typeface="Arial"/>
                  <a:ea typeface="Arial"/>
                  <a:cs typeface="Arial"/>
                  <a:sym typeface="Arial"/>
                </a:rPr>
                <a:t>3150529020901 - William Alexander Miranda Santos</a:t>
              </a:r>
              <a:endParaRPr sz="1200">
                <a:solidFill>
                  <a:srgbClr val="F1F5F9"/>
                </a:solidFill>
                <a:latin typeface="Arial"/>
                <a:ea typeface="Arial"/>
                <a:cs typeface="Arial"/>
                <a:sym typeface="Arial"/>
              </a:endParaRPr>
            </a:p>
            <a:p>
              <a:pPr indent="0" lvl="0" marL="0" rtl="0" algn="l">
                <a:spcBef>
                  <a:spcPts val="0"/>
                </a:spcBef>
                <a:spcAft>
                  <a:spcPts val="0"/>
                </a:spcAft>
                <a:buNone/>
              </a:pPr>
              <a:r>
                <a:rPr lang="es" sz="1200">
                  <a:solidFill>
                    <a:srgbClr val="F1F5F9"/>
                  </a:solidFill>
                  <a:latin typeface="Arial"/>
                  <a:ea typeface="Arial"/>
                  <a:cs typeface="Arial"/>
                  <a:sym typeface="Arial"/>
                </a:rPr>
                <a:t>3249400331332 - Elier Rigoberto Gómez Figueroa</a:t>
              </a:r>
              <a:endParaRPr sz="1200">
                <a:solidFill>
                  <a:srgbClr val="F1F5F9"/>
                </a:solidFill>
                <a:latin typeface="Arial"/>
                <a:ea typeface="Arial"/>
                <a:cs typeface="Arial"/>
                <a:sym typeface="Arial"/>
              </a:endParaRPr>
            </a:p>
            <a:p>
              <a:pPr indent="0" lvl="0" marL="0" rtl="0" algn="l">
                <a:spcBef>
                  <a:spcPts val="0"/>
                </a:spcBef>
                <a:spcAft>
                  <a:spcPts val="0"/>
                </a:spcAft>
                <a:buNone/>
              </a:pPr>
              <a:r>
                <a:rPr lang="es" sz="1200">
                  <a:solidFill>
                    <a:srgbClr val="F1F5F9"/>
                  </a:solidFill>
                  <a:latin typeface="Arial"/>
                  <a:ea typeface="Arial"/>
                  <a:cs typeface="Arial"/>
                  <a:sym typeface="Arial"/>
                </a:rPr>
                <a:t>2958915561001 - Rudy Alessandro Reyes Oxláj</a:t>
              </a:r>
              <a:endParaRPr sz="1200">
                <a:solidFill>
                  <a:srgbClr val="F1F5F9"/>
                </a:solidFill>
                <a:latin typeface="Arial"/>
                <a:ea typeface="Arial"/>
                <a:cs typeface="Arial"/>
                <a:sym typeface="Arial"/>
              </a:endParaRPr>
            </a:p>
          </p:txBody>
        </p:sp>
      </p:grpSp>
      <p:grpSp>
        <p:nvGrpSpPr>
          <p:cNvPr id="69" name="Google Shape;69;p14"/>
          <p:cNvGrpSpPr/>
          <p:nvPr/>
        </p:nvGrpSpPr>
        <p:grpSpPr>
          <a:xfrm>
            <a:off x="5517800" y="2095425"/>
            <a:ext cx="2476500" cy="2857500"/>
            <a:chOff x="5905500" y="1143000"/>
            <a:chExt cx="2476500" cy="2857500"/>
          </a:xfrm>
        </p:grpSpPr>
        <p:sp>
          <p:nvSpPr>
            <p:cNvPr id="70" name="Google Shape;70;p14"/>
            <p:cNvSpPr/>
            <p:nvPr/>
          </p:nvSpPr>
          <p:spPr>
            <a:xfrm>
              <a:off x="5905500" y="1143000"/>
              <a:ext cx="2476500" cy="2857500"/>
            </a:xfrm>
            <a:prstGeom prst="roundRect">
              <a:avLst>
                <a:gd fmla="val 6153"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1" name="Google Shape;71;p14"/>
            <p:cNvSpPr/>
            <p:nvPr/>
          </p:nvSpPr>
          <p:spPr>
            <a:xfrm>
              <a:off x="6143625" y="1381125"/>
              <a:ext cx="428700" cy="428700"/>
            </a:xfrm>
            <a:prstGeom prst="roundRect">
              <a:avLst>
                <a:gd fmla="val 17777" name="adj"/>
              </a:avLst>
            </a:prstGeom>
            <a:solidFill>
              <a:srgbClr val="1E293B">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2" name="Google Shape;72;p14"/>
            <p:cNvSpPr txBox="1"/>
            <p:nvPr/>
          </p:nvSpPr>
          <p:spPr>
            <a:xfrm>
              <a:off x="6143625" y="1405223"/>
              <a:ext cx="428700" cy="4287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1650">
                  <a:solidFill>
                    <a:srgbClr val="3B82F6"/>
                  </a:solidFill>
                  <a:latin typeface="Material Icons"/>
                  <a:ea typeface="Material Icons"/>
                  <a:cs typeface="Material Icons"/>
                  <a:sym typeface="Material Icons"/>
                </a:rPr>
                <a:t>analytics</a:t>
              </a:r>
              <a:endParaRPr sz="1650">
                <a:solidFill>
                  <a:srgbClr val="3B82F6"/>
                </a:solidFill>
                <a:latin typeface="Material Icons"/>
                <a:ea typeface="Material Icons"/>
                <a:cs typeface="Material Icons"/>
                <a:sym typeface="Material Icons"/>
              </a:endParaRPr>
            </a:p>
          </p:txBody>
        </p:sp>
        <p:sp>
          <p:nvSpPr>
            <p:cNvPr id="73" name="Google Shape;73;p14"/>
            <p:cNvSpPr txBox="1"/>
            <p:nvPr/>
          </p:nvSpPr>
          <p:spPr>
            <a:xfrm>
              <a:off x="6143625" y="2047875"/>
              <a:ext cx="2000100" cy="17145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1000">
                  <a:solidFill>
                    <a:srgbClr val="10B981"/>
                  </a:solidFill>
                  <a:latin typeface="Montserrat"/>
                  <a:ea typeface="Montserrat"/>
                  <a:cs typeface="Montserrat"/>
                  <a:sym typeface="Montserrat"/>
                </a:rPr>
                <a:t>Enfoque de Plataforma</a:t>
              </a:r>
              <a:endParaRPr b="1" sz="1000">
                <a:solidFill>
                  <a:srgbClr val="10B981"/>
                </a:solidFill>
                <a:latin typeface="Montserrat"/>
                <a:ea typeface="Montserrat"/>
                <a:cs typeface="Montserrat"/>
                <a:sym typeface="Montserrat"/>
              </a:endParaRPr>
            </a:p>
            <a:p>
              <a:pPr indent="0" lvl="0" marL="0" rtl="0" algn="l">
                <a:spcBef>
                  <a:spcPts val="750"/>
                </a:spcBef>
                <a:spcAft>
                  <a:spcPts val="0"/>
                </a:spcAft>
                <a:buNone/>
              </a:pPr>
              <a:r>
                <a:rPr b="0" lang="es" sz="1100">
                  <a:solidFill>
                    <a:srgbClr val="F1F5F9"/>
                  </a:solidFill>
                  <a:latin typeface="Arial"/>
                  <a:ea typeface="Arial"/>
                  <a:cs typeface="Arial"/>
                  <a:sym typeface="Arial"/>
                </a:rPr>
                <a:t>Análisis integral end-to-end con integración y limpieza de registros de mortalidad INE y datos MSPAS.</a:t>
              </a:r>
              <a:endParaRPr b="0" sz="1100">
                <a:solidFill>
                  <a:srgbClr val="F1F5F9"/>
                </a:solidFill>
                <a:latin typeface="Arial"/>
                <a:ea typeface="Arial"/>
                <a:cs typeface="Arial"/>
                <a:sym typeface="Arial"/>
              </a:endParaRPr>
            </a:p>
            <a:p>
              <a:pPr indent="0" lvl="0" marL="0" rtl="0" algn="l">
                <a:spcBef>
                  <a:spcPts val="1050"/>
                </a:spcBef>
                <a:spcAft>
                  <a:spcPts val="0"/>
                </a:spcAft>
                <a:buNone/>
              </a:pPr>
              <a:r>
                <a:rPr b="0" lang="es" sz="950">
                  <a:solidFill>
                    <a:srgbClr val="94A3B8"/>
                  </a:solidFill>
                  <a:latin typeface="Arial"/>
                  <a:ea typeface="Arial"/>
                  <a:cs typeface="Arial"/>
                  <a:sym typeface="Arial"/>
                </a:rPr>
                <a:t>Gobernanza &amp; Ciencia de Datos</a:t>
              </a:r>
              <a:endParaRPr/>
            </a:p>
          </p:txBody>
        </p:sp>
      </p:grpSp>
      <p:grpSp>
        <p:nvGrpSpPr>
          <p:cNvPr id="74" name="Google Shape;74;p14"/>
          <p:cNvGrpSpPr/>
          <p:nvPr/>
        </p:nvGrpSpPr>
        <p:grpSpPr>
          <a:xfrm>
            <a:off x="762000" y="4810125"/>
            <a:ext cx="1619400" cy="142800"/>
            <a:chOff x="762000" y="4810125"/>
            <a:chExt cx="1619400" cy="142800"/>
          </a:xfrm>
        </p:grpSpPr>
        <p:sp>
          <p:nvSpPr>
            <p:cNvPr id="75" name="Google Shape;75;p14"/>
            <p:cNvSpPr/>
            <p:nvPr/>
          </p:nvSpPr>
          <p:spPr>
            <a:xfrm>
              <a:off x="762000" y="4810125"/>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6" name="Google Shape;76;p14"/>
            <p:cNvSpPr txBox="1"/>
            <p:nvPr/>
          </p:nvSpPr>
          <p:spPr>
            <a:xfrm>
              <a:off x="762000" y="4810125"/>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3B82F6"/>
                  </a:solidFill>
                  <a:latin typeface="Arial"/>
                  <a:ea typeface="Arial"/>
                  <a:cs typeface="Arial"/>
                  <a:sym typeface="Arial"/>
                </a:rPr>
                <a:t>PNUD</a:t>
              </a:r>
              <a:endParaRPr b="0" sz="650">
                <a:solidFill>
                  <a:srgbClr val="3B82F6"/>
                </a:solidFill>
                <a:latin typeface="Arial"/>
                <a:ea typeface="Arial"/>
                <a:cs typeface="Arial"/>
                <a:sym typeface="Arial"/>
              </a:endParaRPr>
            </a:p>
          </p:txBody>
        </p:sp>
        <p:sp>
          <p:nvSpPr>
            <p:cNvPr id="77" name="Google Shape;77;p14"/>
            <p:cNvSpPr/>
            <p:nvPr/>
          </p:nvSpPr>
          <p:spPr>
            <a:xfrm>
              <a:off x="1333500" y="4810125"/>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78" name="Google Shape;78;p14"/>
            <p:cNvSpPr txBox="1"/>
            <p:nvPr/>
          </p:nvSpPr>
          <p:spPr>
            <a:xfrm>
              <a:off x="1333500" y="4810125"/>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10B981"/>
                  </a:solidFill>
                  <a:latin typeface="Arial"/>
                  <a:ea typeface="Arial"/>
                  <a:cs typeface="Arial"/>
                  <a:sym typeface="Arial"/>
                </a:rPr>
                <a:t>MSPAS</a:t>
              </a:r>
              <a:endParaRPr b="0" sz="650">
                <a:solidFill>
                  <a:srgbClr val="10B981"/>
                </a:solidFill>
                <a:latin typeface="Arial"/>
                <a:ea typeface="Arial"/>
                <a:cs typeface="Arial"/>
                <a:sym typeface="Arial"/>
              </a:endParaRPr>
            </a:p>
          </p:txBody>
        </p:sp>
        <p:sp>
          <p:nvSpPr>
            <p:cNvPr id="79" name="Google Shape;79;p14"/>
            <p:cNvSpPr/>
            <p:nvPr/>
          </p:nvSpPr>
          <p:spPr>
            <a:xfrm>
              <a:off x="1905000" y="4810125"/>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0" name="Google Shape;80;p14"/>
            <p:cNvSpPr txBox="1"/>
            <p:nvPr/>
          </p:nvSpPr>
          <p:spPr>
            <a:xfrm>
              <a:off x="1905000" y="4810125"/>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94A3B8"/>
                  </a:solidFill>
                  <a:latin typeface="Arial"/>
                  <a:ea typeface="Arial"/>
                  <a:cs typeface="Arial"/>
                  <a:sym typeface="Arial"/>
                </a:rPr>
                <a:t>USAC</a:t>
              </a:r>
              <a:endParaRPr b="0" sz="650">
                <a:solidFill>
                  <a:srgbClr val="94A3B8"/>
                </a:solidFill>
                <a:latin typeface="Arial"/>
                <a:ea typeface="Arial"/>
                <a:cs typeface="Arial"/>
                <a:sym typeface="Arial"/>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5"/>
          <p:cNvSpPr/>
          <p:nvPr/>
        </p:nvSpPr>
        <p:spPr>
          <a:xfrm>
            <a:off x="0" y="0"/>
            <a:ext cx="9144000" cy="5143500"/>
          </a:xfrm>
          <a:prstGeom prst="rect">
            <a:avLst/>
          </a:prstGeom>
          <a:solidFill>
            <a:srgbClr val="020B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86" name="Google Shape;86;p15"/>
          <p:cNvGrpSpPr/>
          <p:nvPr/>
        </p:nvGrpSpPr>
        <p:grpSpPr>
          <a:xfrm>
            <a:off x="4953000" y="381000"/>
            <a:ext cx="4000500" cy="4953000"/>
            <a:chOff x="4953000" y="381000"/>
            <a:chExt cx="4000500" cy="4953000"/>
          </a:xfrm>
        </p:grpSpPr>
        <p:sp>
          <p:nvSpPr>
            <p:cNvPr id="87" name="Google Shape;87;p15"/>
            <p:cNvSpPr/>
            <p:nvPr/>
          </p:nvSpPr>
          <p:spPr>
            <a:xfrm>
              <a:off x="6286500" y="381000"/>
              <a:ext cx="2667000" cy="2667000"/>
            </a:xfrm>
            <a:prstGeom prst="ellipse">
              <a:avLst/>
            </a:prstGeom>
            <a:solidFill>
              <a:srgbClr val="3B82F6">
                <a:alpha val="5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8" name="Google Shape;88;p15"/>
            <p:cNvSpPr/>
            <p:nvPr/>
          </p:nvSpPr>
          <p:spPr>
            <a:xfrm>
              <a:off x="7048500" y="1143000"/>
              <a:ext cx="1714500" cy="1714500"/>
            </a:xfrm>
            <a:prstGeom prst="ellipse">
              <a:avLst/>
            </a:prstGeom>
            <a:solidFill>
              <a:srgbClr val="10B981">
                <a:alpha val="3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89" name="Google Shape;89;p15"/>
            <p:cNvSpPr/>
            <p:nvPr/>
          </p:nvSpPr>
          <p:spPr>
            <a:xfrm>
              <a:off x="4953000" y="1905000"/>
              <a:ext cx="3429000" cy="3429000"/>
            </a:xfrm>
            <a:prstGeom prst="ellipse">
              <a:avLst/>
            </a:prstGeom>
            <a:solidFill>
              <a:srgbClr val="021329"/>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90" name="Google Shape;90;p15"/>
          <p:cNvGrpSpPr/>
          <p:nvPr/>
        </p:nvGrpSpPr>
        <p:grpSpPr>
          <a:xfrm>
            <a:off x="762000" y="428625"/>
            <a:ext cx="7620000" cy="714525"/>
            <a:chOff x="762000" y="428625"/>
            <a:chExt cx="7620000" cy="714525"/>
          </a:xfrm>
        </p:grpSpPr>
        <p:sp>
          <p:nvSpPr>
            <p:cNvPr id="91" name="Google Shape;91;p15"/>
            <p:cNvSpPr txBox="1"/>
            <p:nvPr/>
          </p:nvSpPr>
          <p:spPr>
            <a:xfrm>
              <a:off x="762000" y="428625"/>
              <a:ext cx="7620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000">
                  <a:solidFill>
                    <a:srgbClr val="10B981"/>
                  </a:solidFill>
                  <a:latin typeface="Montserrat"/>
                  <a:ea typeface="Montserrat"/>
                  <a:cs typeface="Montserrat"/>
                  <a:sym typeface="Montserrat"/>
                </a:rPr>
                <a:t>PLATAFORMA DE INTELIGENCIA EPIDEMIOLÓGICA</a:t>
              </a:r>
              <a:endParaRPr b="1" sz="1000">
                <a:solidFill>
                  <a:srgbClr val="10B981"/>
                </a:solidFill>
                <a:latin typeface="Montserrat"/>
                <a:ea typeface="Montserrat"/>
                <a:cs typeface="Montserrat"/>
                <a:sym typeface="Montserrat"/>
              </a:endParaRPr>
            </a:p>
          </p:txBody>
        </p:sp>
        <p:sp>
          <p:nvSpPr>
            <p:cNvPr id="92" name="Google Shape;92;p15"/>
            <p:cNvSpPr txBox="1"/>
            <p:nvPr/>
          </p:nvSpPr>
          <p:spPr>
            <a:xfrm>
              <a:off x="762000" y="666750"/>
              <a:ext cx="7620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2400">
                  <a:solidFill>
                    <a:srgbClr val="FFFFFF"/>
                  </a:solidFill>
                  <a:latin typeface="Montserrat ExtraBold"/>
                  <a:ea typeface="Montserrat ExtraBold"/>
                  <a:cs typeface="Montserrat ExtraBold"/>
                  <a:sym typeface="Montserrat ExtraBold"/>
                </a:rPr>
                <a:t>El Problema de Negocio</a:t>
              </a:r>
              <a:endParaRPr b="0" sz="2400">
                <a:solidFill>
                  <a:srgbClr val="FFFFFF"/>
                </a:solidFill>
                <a:latin typeface="Montserrat ExtraBold"/>
                <a:ea typeface="Montserrat ExtraBold"/>
                <a:cs typeface="Montserrat ExtraBold"/>
                <a:sym typeface="Montserrat ExtraBold"/>
              </a:endParaRPr>
            </a:p>
          </p:txBody>
        </p:sp>
      </p:grpSp>
      <p:grpSp>
        <p:nvGrpSpPr>
          <p:cNvPr id="93" name="Google Shape;93;p15"/>
          <p:cNvGrpSpPr/>
          <p:nvPr/>
        </p:nvGrpSpPr>
        <p:grpSpPr>
          <a:xfrm>
            <a:off x="762000" y="1428750"/>
            <a:ext cx="2381400" cy="2952900"/>
            <a:chOff x="762000" y="1428750"/>
            <a:chExt cx="2381400" cy="2952900"/>
          </a:xfrm>
        </p:grpSpPr>
        <p:sp>
          <p:nvSpPr>
            <p:cNvPr id="94" name="Google Shape;94;p15"/>
            <p:cNvSpPr/>
            <p:nvPr/>
          </p:nvSpPr>
          <p:spPr>
            <a:xfrm>
              <a:off x="762000" y="1428750"/>
              <a:ext cx="2381400" cy="2952900"/>
            </a:xfrm>
            <a:prstGeom prst="roundRect">
              <a:avLst>
                <a:gd fmla="val 6400"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5" name="Google Shape;95;p15"/>
            <p:cNvSpPr/>
            <p:nvPr/>
          </p:nvSpPr>
          <p:spPr>
            <a:xfrm>
              <a:off x="1000125" y="1666875"/>
              <a:ext cx="438300" cy="438300"/>
            </a:xfrm>
            <a:prstGeom prst="roundRect">
              <a:avLst>
                <a:gd fmla="val 17391" name="adj"/>
              </a:avLst>
            </a:prstGeom>
            <a:solidFill>
              <a:srgbClr val="1E293B">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96" name="Google Shape;96;p15"/>
            <p:cNvSpPr txBox="1"/>
            <p:nvPr/>
          </p:nvSpPr>
          <p:spPr>
            <a:xfrm>
              <a:off x="1000125" y="1696085"/>
              <a:ext cx="4383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2000">
                  <a:solidFill>
                    <a:srgbClr val="3B82F6"/>
                  </a:solidFill>
                  <a:latin typeface="Material Icons"/>
                  <a:ea typeface="Material Icons"/>
                  <a:cs typeface="Material Icons"/>
                  <a:sym typeface="Material Icons"/>
                </a:rPr>
                <a:t>dns</a:t>
              </a:r>
              <a:endParaRPr sz="2000">
                <a:solidFill>
                  <a:srgbClr val="3B82F6"/>
                </a:solidFill>
                <a:latin typeface="Material Icons"/>
                <a:ea typeface="Material Icons"/>
                <a:cs typeface="Material Icons"/>
                <a:sym typeface="Material Icons"/>
              </a:endParaRPr>
            </a:p>
          </p:txBody>
        </p:sp>
        <p:sp>
          <p:nvSpPr>
            <p:cNvPr id="97" name="Google Shape;97;p15"/>
            <p:cNvSpPr txBox="1"/>
            <p:nvPr/>
          </p:nvSpPr>
          <p:spPr>
            <a:xfrm>
              <a:off x="1000125" y="2286000"/>
              <a:ext cx="19050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1200">
                  <a:solidFill>
                    <a:srgbClr val="10B981"/>
                  </a:solidFill>
                  <a:latin typeface="Montserrat"/>
                  <a:ea typeface="Montserrat"/>
                  <a:cs typeface="Montserrat"/>
                  <a:sym typeface="Montserrat"/>
                </a:rPr>
                <a:t>Sistemas Aislados</a:t>
              </a:r>
              <a:endParaRPr b="1" sz="1200">
                <a:solidFill>
                  <a:srgbClr val="10B981"/>
                </a:solidFill>
                <a:latin typeface="Montserrat"/>
                <a:ea typeface="Montserrat"/>
                <a:cs typeface="Montserrat"/>
                <a:sym typeface="Montserrat"/>
              </a:endParaRPr>
            </a:p>
            <a:p>
              <a:pPr indent="0" lvl="0" marL="0" rtl="0" algn="l">
                <a:spcBef>
                  <a:spcPts val="600"/>
                </a:spcBef>
                <a:spcAft>
                  <a:spcPts val="0"/>
                </a:spcAft>
                <a:buNone/>
              </a:pPr>
              <a:r>
                <a:rPr b="0" lang="es" sz="1100">
                  <a:solidFill>
                    <a:srgbClr val="F1F5F9"/>
                  </a:solidFill>
                  <a:latin typeface="Arial"/>
                  <a:ea typeface="Arial"/>
                  <a:cs typeface="Arial"/>
                  <a:sym typeface="Arial"/>
                </a:rPr>
                <a:t>Datos fragmentados en formatos incompatibles (INE vs. MSPAS vs. OMS).</a:t>
              </a:r>
              <a:endParaRPr b="0" sz="1100">
                <a:solidFill>
                  <a:srgbClr val="F1F5F9"/>
                </a:solidFill>
                <a:latin typeface="Arial"/>
                <a:ea typeface="Arial"/>
                <a:cs typeface="Arial"/>
                <a:sym typeface="Arial"/>
              </a:endParaRPr>
            </a:p>
            <a:p>
              <a:pPr indent="0" lvl="0" marL="0" rtl="0" algn="l">
                <a:spcBef>
                  <a:spcPts val="900"/>
                </a:spcBef>
                <a:spcAft>
                  <a:spcPts val="0"/>
                </a:spcAft>
                <a:buNone/>
              </a:pPr>
              <a:r>
                <a:rPr b="0" lang="es" sz="950">
                  <a:solidFill>
                    <a:srgbClr val="94A3B8"/>
                  </a:solidFill>
                  <a:latin typeface="Arial"/>
                  <a:ea typeface="Arial"/>
                  <a:cs typeface="Arial"/>
                  <a:sym typeface="Arial"/>
                </a:rPr>
                <a:t>Fragmentación de Datos</a:t>
              </a:r>
              <a:endParaRPr b="0" sz="950">
                <a:solidFill>
                  <a:srgbClr val="94A3B8"/>
                </a:solidFill>
                <a:latin typeface="Arial"/>
                <a:ea typeface="Arial"/>
                <a:cs typeface="Arial"/>
                <a:sym typeface="Arial"/>
              </a:endParaRPr>
            </a:p>
          </p:txBody>
        </p:sp>
      </p:grpSp>
      <p:grpSp>
        <p:nvGrpSpPr>
          <p:cNvPr id="98" name="Google Shape;98;p15"/>
          <p:cNvGrpSpPr/>
          <p:nvPr/>
        </p:nvGrpSpPr>
        <p:grpSpPr>
          <a:xfrm>
            <a:off x="3381375" y="1428750"/>
            <a:ext cx="2381400" cy="2952900"/>
            <a:chOff x="3381375" y="1428750"/>
            <a:chExt cx="2381400" cy="2952900"/>
          </a:xfrm>
        </p:grpSpPr>
        <p:sp>
          <p:nvSpPr>
            <p:cNvPr id="99" name="Google Shape;99;p15"/>
            <p:cNvSpPr/>
            <p:nvPr/>
          </p:nvSpPr>
          <p:spPr>
            <a:xfrm>
              <a:off x="3381375" y="1428750"/>
              <a:ext cx="2381400" cy="2952900"/>
            </a:xfrm>
            <a:prstGeom prst="roundRect">
              <a:avLst>
                <a:gd fmla="val 6400"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0" name="Google Shape;100;p15"/>
            <p:cNvSpPr/>
            <p:nvPr/>
          </p:nvSpPr>
          <p:spPr>
            <a:xfrm>
              <a:off x="3619500" y="1666875"/>
              <a:ext cx="438300" cy="438300"/>
            </a:xfrm>
            <a:prstGeom prst="roundRect">
              <a:avLst>
                <a:gd fmla="val 17391" name="adj"/>
              </a:avLst>
            </a:prstGeom>
            <a:solidFill>
              <a:srgbClr val="1E293B">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1" name="Google Shape;101;p15"/>
            <p:cNvSpPr txBox="1"/>
            <p:nvPr/>
          </p:nvSpPr>
          <p:spPr>
            <a:xfrm>
              <a:off x="3619500" y="1696085"/>
              <a:ext cx="4383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2000">
                  <a:solidFill>
                    <a:srgbClr val="3B82F6"/>
                  </a:solidFill>
                  <a:latin typeface="Material Icons"/>
                  <a:ea typeface="Material Icons"/>
                  <a:cs typeface="Material Icons"/>
                  <a:sym typeface="Material Icons"/>
                </a:rPr>
                <a:t>trending_down</a:t>
              </a:r>
              <a:endParaRPr sz="2000">
                <a:solidFill>
                  <a:srgbClr val="3B82F6"/>
                </a:solidFill>
                <a:latin typeface="Material Icons"/>
                <a:ea typeface="Material Icons"/>
                <a:cs typeface="Material Icons"/>
                <a:sym typeface="Material Icons"/>
              </a:endParaRPr>
            </a:p>
          </p:txBody>
        </p:sp>
        <p:sp>
          <p:nvSpPr>
            <p:cNvPr id="102" name="Google Shape;102;p15"/>
            <p:cNvSpPr txBox="1"/>
            <p:nvPr/>
          </p:nvSpPr>
          <p:spPr>
            <a:xfrm>
              <a:off x="3619500" y="2286000"/>
              <a:ext cx="19050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1200">
                  <a:solidFill>
                    <a:srgbClr val="10B981"/>
                  </a:solidFill>
                  <a:latin typeface="Montserrat"/>
                  <a:ea typeface="Montserrat"/>
                  <a:cs typeface="Montserrat"/>
                  <a:sym typeface="Montserrat"/>
                </a:rPr>
                <a:t>Análisis Limitado</a:t>
              </a:r>
              <a:endParaRPr b="1" sz="1200">
                <a:solidFill>
                  <a:srgbClr val="10B981"/>
                </a:solidFill>
                <a:latin typeface="Montserrat"/>
                <a:ea typeface="Montserrat"/>
                <a:cs typeface="Montserrat"/>
                <a:sym typeface="Montserrat"/>
              </a:endParaRPr>
            </a:p>
            <a:p>
              <a:pPr indent="0" lvl="0" marL="0" rtl="0" algn="l">
                <a:spcBef>
                  <a:spcPts val="600"/>
                </a:spcBef>
                <a:spcAft>
                  <a:spcPts val="0"/>
                </a:spcAft>
                <a:buNone/>
              </a:pPr>
              <a:r>
                <a:rPr b="0" lang="es" sz="1100">
                  <a:solidFill>
                    <a:srgbClr val="F1F5F9"/>
                  </a:solidFill>
                  <a:latin typeface="Arial"/>
                  <a:ea typeface="Arial"/>
                  <a:cs typeface="Arial"/>
                  <a:sym typeface="Arial"/>
                </a:rPr>
                <a:t>Cifras oficiales de COVID-19 no explican el exceso de mortalidad civil.</a:t>
              </a:r>
              <a:endParaRPr b="0" sz="1100">
                <a:solidFill>
                  <a:srgbClr val="F1F5F9"/>
                </a:solidFill>
                <a:latin typeface="Arial"/>
                <a:ea typeface="Arial"/>
                <a:cs typeface="Arial"/>
                <a:sym typeface="Arial"/>
              </a:endParaRPr>
            </a:p>
            <a:p>
              <a:pPr indent="0" lvl="0" marL="0" rtl="0" algn="l">
                <a:spcBef>
                  <a:spcPts val="900"/>
                </a:spcBef>
                <a:spcAft>
                  <a:spcPts val="0"/>
                </a:spcAft>
                <a:buNone/>
              </a:pPr>
              <a:r>
                <a:rPr b="0" lang="es" sz="950">
                  <a:solidFill>
                    <a:srgbClr val="94A3B8"/>
                  </a:solidFill>
                  <a:latin typeface="Arial"/>
                  <a:ea typeface="Arial"/>
                  <a:cs typeface="Arial"/>
                  <a:sym typeface="Arial"/>
                </a:rPr>
                <a:t>Vacío de Información</a:t>
              </a:r>
              <a:endParaRPr b="0" sz="950">
                <a:solidFill>
                  <a:srgbClr val="94A3B8"/>
                </a:solidFill>
                <a:latin typeface="Arial"/>
                <a:ea typeface="Arial"/>
                <a:cs typeface="Arial"/>
                <a:sym typeface="Arial"/>
              </a:endParaRPr>
            </a:p>
          </p:txBody>
        </p:sp>
      </p:grpSp>
      <p:grpSp>
        <p:nvGrpSpPr>
          <p:cNvPr id="103" name="Google Shape;103;p15"/>
          <p:cNvGrpSpPr/>
          <p:nvPr/>
        </p:nvGrpSpPr>
        <p:grpSpPr>
          <a:xfrm>
            <a:off x="6000750" y="1428750"/>
            <a:ext cx="2381400" cy="2952900"/>
            <a:chOff x="6000750" y="1428750"/>
            <a:chExt cx="2381400" cy="2952900"/>
          </a:xfrm>
        </p:grpSpPr>
        <p:sp>
          <p:nvSpPr>
            <p:cNvPr id="104" name="Google Shape;104;p15"/>
            <p:cNvSpPr/>
            <p:nvPr/>
          </p:nvSpPr>
          <p:spPr>
            <a:xfrm>
              <a:off x="6000750" y="1428750"/>
              <a:ext cx="2381400" cy="2952900"/>
            </a:xfrm>
            <a:prstGeom prst="roundRect">
              <a:avLst>
                <a:gd fmla="val 6400"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5" name="Google Shape;105;p15"/>
            <p:cNvSpPr/>
            <p:nvPr/>
          </p:nvSpPr>
          <p:spPr>
            <a:xfrm>
              <a:off x="6238875" y="1666875"/>
              <a:ext cx="438300" cy="438300"/>
            </a:xfrm>
            <a:prstGeom prst="roundRect">
              <a:avLst>
                <a:gd fmla="val 17391" name="adj"/>
              </a:avLst>
            </a:prstGeom>
            <a:solidFill>
              <a:srgbClr val="1E293B">
                <a:alpha val="8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06" name="Google Shape;106;p15"/>
            <p:cNvSpPr txBox="1"/>
            <p:nvPr/>
          </p:nvSpPr>
          <p:spPr>
            <a:xfrm>
              <a:off x="6238875" y="1696085"/>
              <a:ext cx="438300" cy="438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2000">
                  <a:solidFill>
                    <a:srgbClr val="10B981"/>
                  </a:solidFill>
                  <a:latin typeface="Material Icons"/>
                  <a:ea typeface="Material Icons"/>
                  <a:cs typeface="Material Icons"/>
                  <a:sym typeface="Material Icons"/>
                </a:rPr>
                <a:t>biotech</a:t>
              </a:r>
              <a:endParaRPr sz="2000">
                <a:solidFill>
                  <a:srgbClr val="10B981"/>
                </a:solidFill>
                <a:latin typeface="Material Icons"/>
                <a:ea typeface="Material Icons"/>
                <a:cs typeface="Material Icons"/>
                <a:sym typeface="Material Icons"/>
              </a:endParaRPr>
            </a:p>
          </p:txBody>
        </p:sp>
        <p:sp>
          <p:nvSpPr>
            <p:cNvPr id="107" name="Google Shape;107;p15"/>
            <p:cNvSpPr txBox="1"/>
            <p:nvPr/>
          </p:nvSpPr>
          <p:spPr>
            <a:xfrm>
              <a:off x="6238875" y="2286000"/>
              <a:ext cx="1905000" cy="1905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1200">
                  <a:solidFill>
                    <a:srgbClr val="10B981"/>
                  </a:solidFill>
                  <a:latin typeface="Montserrat"/>
                  <a:ea typeface="Montserrat"/>
                  <a:cs typeface="Montserrat"/>
                  <a:sym typeface="Montserrat"/>
                </a:rPr>
                <a:t>Objetivo</a:t>
              </a:r>
              <a:endParaRPr b="1" sz="1200">
                <a:solidFill>
                  <a:srgbClr val="10B981"/>
                </a:solidFill>
                <a:latin typeface="Montserrat"/>
                <a:ea typeface="Montserrat"/>
                <a:cs typeface="Montserrat"/>
                <a:sym typeface="Montserrat"/>
              </a:endParaRPr>
            </a:p>
            <a:p>
              <a:pPr indent="0" lvl="0" marL="0" rtl="0" algn="l">
                <a:spcBef>
                  <a:spcPts val="600"/>
                </a:spcBef>
                <a:spcAft>
                  <a:spcPts val="0"/>
                </a:spcAft>
                <a:buNone/>
              </a:pPr>
              <a:r>
                <a:rPr b="0" lang="es" sz="1100">
                  <a:solidFill>
                    <a:srgbClr val="F1F5F9"/>
                  </a:solidFill>
                  <a:latin typeface="Arial"/>
                  <a:ea typeface="Arial"/>
                  <a:cs typeface="Arial"/>
                  <a:sym typeface="Arial"/>
                </a:rPr>
                <a:t>Construir un Data Warehouse unificado para medir el impacto real en la mortalidad de Guatemala.</a:t>
              </a:r>
              <a:endParaRPr b="0" sz="1100">
                <a:solidFill>
                  <a:srgbClr val="F1F5F9"/>
                </a:solidFill>
                <a:latin typeface="Arial"/>
                <a:ea typeface="Arial"/>
                <a:cs typeface="Arial"/>
                <a:sym typeface="Arial"/>
              </a:endParaRPr>
            </a:p>
            <a:p>
              <a:pPr indent="0" lvl="0" marL="0" rtl="0" algn="l">
                <a:spcBef>
                  <a:spcPts val="900"/>
                </a:spcBef>
                <a:spcAft>
                  <a:spcPts val="0"/>
                </a:spcAft>
                <a:buNone/>
              </a:pPr>
              <a:r>
                <a:rPr b="0" lang="es" sz="950">
                  <a:solidFill>
                    <a:srgbClr val="10B981"/>
                  </a:solidFill>
                  <a:latin typeface="Arial"/>
                  <a:ea typeface="Arial"/>
                  <a:cs typeface="Arial"/>
                  <a:sym typeface="Arial"/>
                </a:rPr>
                <a:t>Solución Integrada</a:t>
              </a:r>
              <a:endParaRPr b="0" sz="950">
                <a:solidFill>
                  <a:srgbClr val="10B981"/>
                </a:solidFill>
                <a:latin typeface="Arial"/>
                <a:ea typeface="Arial"/>
                <a:cs typeface="Arial"/>
                <a:sym typeface="Arial"/>
              </a:endParaRPr>
            </a:p>
          </p:txBody>
        </p:sp>
      </p:grpSp>
      <p:grpSp>
        <p:nvGrpSpPr>
          <p:cNvPr id="108" name="Google Shape;108;p15"/>
          <p:cNvGrpSpPr/>
          <p:nvPr/>
        </p:nvGrpSpPr>
        <p:grpSpPr>
          <a:xfrm>
            <a:off x="762000" y="4667250"/>
            <a:ext cx="1619400" cy="142800"/>
            <a:chOff x="762000" y="4667250"/>
            <a:chExt cx="1619400" cy="142800"/>
          </a:xfrm>
        </p:grpSpPr>
        <p:sp>
          <p:nvSpPr>
            <p:cNvPr id="109" name="Google Shape;109;p15"/>
            <p:cNvSpPr/>
            <p:nvPr/>
          </p:nvSpPr>
          <p:spPr>
            <a:xfrm>
              <a:off x="762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0" name="Google Shape;110;p15"/>
            <p:cNvSpPr txBox="1"/>
            <p:nvPr/>
          </p:nvSpPr>
          <p:spPr>
            <a:xfrm>
              <a:off x="762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3B82F6"/>
                  </a:solidFill>
                  <a:latin typeface="Arial"/>
                  <a:ea typeface="Arial"/>
                  <a:cs typeface="Arial"/>
                  <a:sym typeface="Arial"/>
                </a:rPr>
                <a:t>PNUD</a:t>
              </a:r>
              <a:endParaRPr b="0" sz="650">
                <a:solidFill>
                  <a:srgbClr val="3B82F6"/>
                </a:solidFill>
                <a:latin typeface="Arial"/>
                <a:ea typeface="Arial"/>
                <a:cs typeface="Arial"/>
                <a:sym typeface="Arial"/>
              </a:endParaRPr>
            </a:p>
          </p:txBody>
        </p:sp>
        <p:sp>
          <p:nvSpPr>
            <p:cNvPr id="111" name="Google Shape;111;p15"/>
            <p:cNvSpPr/>
            <p:nvPr/>
          </p:nvSpPr>
          <p:spPr>
            <a:xfrm>
              <a:off x="13335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2" name="Google Shape;112;p15"/>
            <p:cNvSpPr txBox="1"/>
            <p:nvPr/>
          </p:nvSpPr>
          <p:spPr>
            <a:xfrm>
              <a:off x="13335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10B981"/>
                  </a:solidFill>
                  <a:latin typeface="Arial"/>
                  <a:ea typeface="Arial"/>
                  <a:cs typeface="Arial"/>
                  <a:sym typeface="Arial"/>
                </a:rPr>
                <a:t>MSPAS</a:t>
              </a:r>
              <a:endParaRPr b="0" sz="650">
                <a:solidFill>
                  <a:srgbClr val="10B981"/>
                </a:solidFill>
                <a:latin typeface="Arial"/>
                <a:ea typeface="Arial"/>
                <a:cs typeface="Arial"/>
                <a:sym typeface="Arial"/>
              </a:endParaRPr>
            </a:p>
          </p:txBody>
        </p:sp>
        <p:sp>
          <p:nvSpPr>
            <p:cNvPr id="113" name="Google Shape;113;p15"/>
            <p:cNvSpPr/>
            <p:nvPr/>
          </p:nvSpPr>
          <p:spPr>
            <a:xfrm>
              <a:off x="1905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14" name="Google Shape;114;p15"/>
            <p:cNvSpPr txBox="1"/>
            <p:nvPr/>
          </p:nvSpPr>
          <p:spPr>
            <a:xfrm>
              <a:off x="1905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94A3B8"/>
                  </a:solidFill>
                  <a:latin typeface="Arial"/>
                  <a:ea typeface="Arial"/>
                  <a:cs typeface="Arial"/>
                  <a:sym typeface="Arial"/>
                </a:rPr>
                <a:t>USAC</a:t>
              </a:r>
              <a:endParaRPr b="0" sz="650">
                <a:solidFill>
                  <a:srgbClr val="94A3B8"/>
                </a:solidFill>
                <a:latin typeface="Arial"/>
                <a:ea typeface="Arial"/>
                <a:cs typeface="Arial"/>
                <a:sym typeface="Arial"/>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16"/>
          <p:cNvSpPr/>
          <p:nvPr/>
        </p:nvSpPr>
        <p:spPr>
          <a:xfrm>
            <a:off x="0" y="0"/>
            <a:ext cx="9144000" cy="5143500"/>
          </a:xfrm>
          <a:prstGeom prst="rect">
            <a:avLst/>
          </a:prstGeom>
          <a:solidFill>
            <a:srgbClr val="020B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20" name="Google Shape;120;p16"/>
          <p:cNvGrpSpPr/>
          <p:nvPr/>
        </p:nvGrpSpPr>
        <p:grpSpPr>
          <a:xfrm>
            <a:off x="4953000" y="381000"/>
            <a:ext cx="4000500" cy="4953000"/>
            <a:chOff x="4953000" y="381000"/>
            <a:chExt cx="4000500" cy="4953000"/>
          </a:xfrm>
        </p:grpSpPr>
        <p:sp>
          <p:nvSpPr>
            <p:cNvPr id="121" name="Google Shape;121;p16"/>
            <p:cNvSpPr/>
            <p:nvPr/>
          </p:nvSpPr>
          <p:spPr>
            <a:xfrm>
              <a:off x="6286500" y="381000"/>
              <a:ext cx="2667000" cy="2667000"/>
            </a:xfrm>
            <a:prstGeom prst="ellipse">
              <a:avLst/>
            </a:prstGeom>
            <a:solidFill>
              <a:srgbClr val="3B82F6">
                <a:alpha val="5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2" name="Google Shape;122;p16"/>
            <p:cNvSpPr/>
            <p:nvPr/>
          </p:nvSpPr>
          <p:spPr>
            <a:xfrm>
              <a:off x="7048500" y="1143000"/>
              <a:ext cx="1714500" cy="1714500"/>
            </a:xfrm>
            <a:prstGeom prst="ellipse">
              <a:avLst/>
            </a:prstGeom>
            <a:solidFill>
              <a:srgbClr val="10B981">
                <a:alpha val="3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3" name="Google Shape;123;p16"/>
            <p:cNvSpPr/>
            <p:nvPr/>
          </p:nvSpPr>
          <p:spPr>
            <a:xfrm>
              <a:off x="4953000" y="1905000"/>
              <a:ext cx="3429000" cy="3429000"/>
            </a:xfrm>
            <a:prstGeom prst="ellipse">
              <a:avLst/>
            </a:prstGeom>
            <a:solidFill>
              <a:srgbClr val="021329"/>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24" name="Google Shape;124;p16"/>
          <p:cNvGrpSpPr/>
          <p:nvPr/>
        </p:nvGrpSpPr>
        <p:grpSpPr>
          <a:xfrm>
            <a:off x="762000" y="428625"/>
            <a:ext cx="7620000" cy="714525"/>
            <a:chOff x="762000" y="428625"/>
            <a:chExt cx="7620000" cy="714525"/>
          </a:xfrm>
        </p:grpSpPr>
        <p:sp>
          <p:nvSpPr>
            <p:cNvPr id="125" name="Google Shape;125;p16"/>
            <p:cNvSpPr txBox="1"/>
            <p:nvPr/>
          </p:nvSpPr>
          <p:spPr>
            <a:xfrm>
              <a:off x="762000" y="428625"/>
              <a:ext cx="7620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000">
                  <a:solidFill>
                    <a:srgbClr val="10B981"/>
                  </a:solidFill>
                  <a:latin typeface="Montserrat"/>
                  <a:ea typeface="Montserrat"/>
                  <a:cs typeface="Montserrat"/>
                  <a:sym typeface="Montserrat"/>
                </a:rPr>
                <a:t>PLATAFORMA DE INTELIGENCIA EPIDEMIOLÓGICA</a:t>
              </a:r>
              <a:endParaRPr b="1" sz="1000">
                <a:solidFill>
                  <a:srgbClr val="10B981"/>
                </a:solidFill>
                <a:latin typeface="Montserrat"/>
                <a:ea typeface="Montserrat"/>
                <a:cs typeface="Montserrat"/>
                <a:sym typeface="Montserrat"/>
              </a:endParaRPr>
            </a:p>
          </p:txBody>
        </p:sp>
        <p:sp>
          <p:nvSpPr>
            <p:cNvPr id="126" name="Google Shape;126;p16"/>
            <p:cNvSpPr txBox="1"/>
            <p:nvPr/>
          </p:nvSpPr>
          <p:spPr>
            <a:xfrm>
              <a:off x="762000" y="666750"/>
              <a:ext cx="7620000" cy="4764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0" lang="es" sz="2400">
                  <a:solidFill>
                    <a:srgbClr val="FFFFFF"/>
                  </a:solidFill>
                  <a:latin typeface="Montserrat ExtraBold"/>
                  <a:ea typeface="Montserrat ExtraBold"/>
                  <a:cs typeface="Montserrat ExtraBold"/>
                  <a:sym typeface="Montserrat ExtraBold"/>
                </a:rPr>
                <a:t>Gobernanza y Gestión del Proyecto</a:t>
              </a:r>
              <a:endParaRPr b="0" sz="2400">
                <a:solidFill>
                  <a:srgbClr val="FFFFFF"/>
                </a:solidFill>
                <a:latin typeface="Montserrat ExtraBold"/>
                <a:ea typeface="Montserrat ExtraBold"/>
                <a:cs typeface="Montserrat ExtraBold"/>
                <a:sym typeface="Montserrat ExtraBold"/>
              </a:endParaRPr>
            </a:p>
          </p:txBody>
        </p:sp>
      </p:grpSp>
      <p:grpSp>
        <p:nvGrpSpPr>
          <p:cNvPr id="127" name="Google Shape;127;p16"/>
          <p:cNvGrpSpPr/>
          <p:nvPr/>
        </p:nvGrpSpPr>
        <p:grpSpPr>
          <a:xfrm>
            <a:off x="762000" y="1381125"/>
            <a:ext cx="3619500" cy="2857650"/>
            <a:chOff x="762000" y="1381125"/>
            <a:chExt cx="3619500" cy="2857650"/>
          </a:xfrm>
        </p:grpSpPr>
        <p:sp>
          <p:nvSpPr>
            <p:cNvPr id="128" name="Google Shape;128;p16"/>
            <p:cNvSpPr/>
            <p:nvPr/>
          </p:nvSpPr>
          <p:spPr>
            <a:xfrm>
              <a:off x="762000" y="1381125"/>
              <a:ext cx="3619500" cy="1285800"/>
            </a:xfrm>
            <a:prstGeom prst="roundRect">
              <a:avLst>
                <a:gd fmla="val 8888"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29" name="Google Shape;129;p16"/>
            <p:cNvSpPr txBox="1"/>
            <p:nvPr/>
          </p:nvSpPr>
          <p:spPr>
            <a:xfrm>
              <a:off x="952500" y="1524000"/>
              <a:ext cx="3238500" cy="10002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s" sz="1200">
                  <a:solidFill>
                    <a:srgbClr val="10B981"/>
                  </a:solidFill>
                  <a:latin typeface="Montserrat"/>
                  <a:ea typeface="Montserrat"/>
                  <a:cs typeface="Montserrat"/>
                  <a:sym typeface="Montserrat"/>
                </a:rPr>
                <a:t>Estructura del Proyecto (WBS)</a:t>
              </a:r>
              <a:endParaRPr b="1" sz="1200">
                <a:solidFill>
                  <a:srgbClr val="10B981"/>
                </a:solidFill>
                <a:latin typeface="Montserrat"/>
                <a:ea typeface="Montserrat"/>
                <a:cs typeface="Montserrat"/>
                <a:sym typeface="Montserrat"/>
              </a:endParaRPr>
            </a:p>
            <a:p>
              <a:pPr indent="0" lvl="0" marL="0" rtl="0" algn="l">
                <a:spcBef>
                  <a:spcPts val="450"/>
                </a:spcBef>
                <a:spcAft>
                  <a:spcPts val="0"/>
                </a:spcAft>
                <a:buNone/>
              </a:pPr>
              <a:r>
                <a:rPr b="0" lang="es" sz="1100">
                  <a:solidFill>
                    <a:srgbClr val="F1F5F9"/>
                  </a:solidFill>
                  <a:latin typeface="Arial"/>
                  <a:ea typeface="Arial"/>
                  <a:cs typeface="Arial"/>
                  <a:sym typeface="Arial"/>
                </a:rPr>
                <a:t>Planificación robusta orientada al cumplimiento de hitos claves del sistema.</a:t>
              </a:r>
              <a:endParaRPr b="0" sz="1100">
                <a:solidFill>
                  <a:srgbClr val="F1F5F9"/>
                </a:solidFill>
                <a:latin typeface="Arial"/>
                <a:ea typeface="Arial"/>
                <a:cs typeface="Arial"/>
                <a:sym typeface="Arial"/>
              </a:endParaRPr>
            </a:p>
            <a:p>
              <a:pPr indent="0" lvl="0" marL="0" rtl="0" algn="l">
                <a:spcBef>
                  <a:spcPts val="600"/>
                </a:spcBef>
                <a:spcAft>
                  <a:spcPts val="0"/>
                </a:spcAft>
                <a:buNone/>
              </a:pPr>
              <a:r>
                <a:rPr b="0" lang="es" sz="1050">
                  <a:solidFill>
                    <a:srgbClr val="3B82F6"/>
                  </a:solidFill>
                  <a:latin typeface="Arial"/>
                  <a:ea typeface="Arial"/>
                  <a:cs typeface="Arial"/>
                  <a:sym typeface="Arial"/>
                </a:rPr>
                <a:t>• 4 Hitos entregables estructurados en 4 meses.</a:t>
              </a:r>
              <a:endParaRPr b="0" sz="1050">
                <a:solidFill>
                  <a:srgbClr val="3B82F6"/>
                </a:solidFill>
                <a:latin typeface="Arial"/>
                <a:ea typeface="Arial"/>
                <a:cs typeface="Arial"/>
                <a:sym typeface="Arial"/>
              </a:endParaRPr>
            </a:p>
          </p:txBody>
        </p:sp>
        <p:sp>
          <p:nvSpPr>
            <p:cNvPr id="130" name="Google Shape;130;p16"/>
            <p:cNvSpPr/>
            <p:nvPr/>
          </p:nvSpPr>
          <p:spPr>
            <a:xfrm>
              <a:off x="762000" y="2809875"/>
              <a:ext cx="3619500" cy="1428900"/>
            </a:xfrm>
            <a:prstGeom prst="roundRect">
              <a:avLst>
                <a:gd fmla="val 8000"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1" name="Google Shape;131;p16"/>
            <p:cNvSpPr txBox="1"/>
            <p:nvPr/>
          </p:nvSpPr>
          <p:spPr>
            <a:xfrm>
              <a:off x="952500" y="2952750"/>
              <a:ext cx="3238500" cy="1143000"/>
            </a:xfrm>
            <a:prstGeom prst="rect">
              <a:avLst/>
            </a:prstGeom>
            <a:solidFill>
              <a:srgbClr val="000000">
                <a:alpha val="0"/>
              </a:srgbClr>
            </a:solidFill>
            <a:ln>
              <a:noFill/>
            </a:ln>
          </p:spPr>
          <p:txBody>
            <a:bodyPr anchorCtr="0" anchor="t" bIns="0" lIns="0" spcFirstLastPara="1" rIns="0" wrap="square" tIns="0">
              <a:noAutofit/>
            </a:bodyPr>
            <a:lstStyle/>
            <a:p>
              <a:pPr indent="0" lvl="0" marL="0" rtl="0" algn="l">
                <a:spcBef>
                  <a:spcPts val="0"/>
                </a:spcBef>
                <a:spcAft>
                  <a:spcPts val="0"/>
                </a:spcAft>
                <a:buNone/>
              </a:pPr>
              <a:r>
                <a:rPr b="1" lang="es" sz="930">
                  <a:solidFill>
                    <a:srgbClr val="10B981"/>
                  </a:solidFill>
                  <a:latin typeface="Montserrat"/>
                  <a:ea typeface="Montserrat"/>
                  <a:cs typeface="Montserrat"/>
                  <a:sym typeface="Montserrat"/>
                </a:rPr>
                <a:t>Riesgos Críticos Mitigados</a:t>
              </a:r>
              <a:endParaRPr b="1" sz="930">
                <a:solidFill>
                  <a:srgbClr val="10B981"/>
                </a:solidFill>
                <a:latin typeface="Montserrat"/>
                <a:ea typeface="Montserrat"/>
                <a:cs typeface="Montserrat"/>
                <a:sym typeface="Montserrat"/>
              </a:endParaRPr>
            </a:p>
            <a:p>
              <a:pPr indent="0" lvl="0" marL="0" rtl="0" algn="l">
                <a:spcBef>
                  <a:spcPts val="450"/>
                </a:spcBef>
                <a:spcAft>
                  <a:spcPts val="0"/>
                </a:spcAft>
                <a:buNone/>
              </a:pPr>
              <a:r>
                <a:rPr b="0" lang="es" sz="814">
                  <a:solidFill>
                    <a:srgbClr val="F1F5F9"/>
                  </a:solidFill>
                  <a:latin typeface="Arial"/>
                  <a:ea typeface="Arial"/>
                  <a:cs typeface="Arial"/>
                  <a:sym typeface="Arial"/>
                </a:rPr>
                <a:t>• Burocracia de Datos:</a:t>
              </a:r>
              <a:endParaRPr b="0" sz="814">
                <a:solidFill>
                  <a:srgbClr val="F1F5F9"/>
                </a:solidFill>
                <a:latin typeface="Arial"/>
                <a:ea typeface="Arial"/>
                <a:cs typeface="Arial"/>
                <a:sym typeface="Arial"/>
              </a:endParaRPr>
            </a:p>
            <a:p>
              <a:pPr indent="0" lvl="0" marL="114300" marR="0" rtl="0" algn="l">
                <a:spcBef>
                  <a:spcPts val="450"/>
                </a:spcBef>
                <a:spcAft>
                  <a:spcPts val="0"/>
                </a:spcAft>
                <a:buNone/>
              </a:pPr>
              <a:r>
                <a:rPr b="0" lang="es" sz="775">
                  <a:solidFill>
                    <a:srgbClr val="94A3B8"/>
                  </a:solidFill>
                  <a:latin typeface="Arial"/>
                  <a:ea typeface="Arial"/>
                  <a:cs typeface="Arial"/>
                  <a:sym typeface="Arial"/>
                </a:rPr>
                <a:t>Estrategias de gobernanza interinstitucional y convenios rápidos de intercambio.</a:t>
              </a:r>
              <a:endParaRPr b="0" sz="775">
                <a:solidFill>
                  <a:srgbClr val="94A3B8"/>
                </a:solidFill>
                <a:latin typeface="Arial"/>
                <a:ea typeface="Arial"/>
                <a:cs typeface="Arial"/>
                <a:sym typeface="Arial"/>
              </a:endParaRPr>
            </a:p>
            <a:p>
              <a:pPr indent="0" lvl="0" marL="0" rtl="0" algn="l">
                <a:spcBef>
                  <a:spcPts val="600"/>
                </a:spcBef>
                <a:spcAft>
                  <a:spcPts val="0"/>
                </a:spcAft>
                <a:buNone/>
              </a:pPr>
              <a:r>
                <a:rPr b="0" lang="es" sz="814">
                  <a:solidFill>
                    <a:srgbClr val="F1F5F9"/>
                  </a:solidFill>
                  <a:latin typeface="Arial"/>
                  <a:ea typeface="Arial"/>
                  <a:cs typeface="Arial"/>
                  <a:sym typeface="Arial"/>
                </a:rPr>
                <a:t>• Subregistro Rural:</a:t>
              </a:r>
              <a:endParaRPr b="0" sz="814">
                <a:solidFill>
                  <a:srgbClr val="F1F5F9"/>
                </a:solidFill>
                <a:latin typeface="Arial"/>
                <a:ea typeface="Arial"/>
                <a:cs typeface="Arial"/>
                <a:sym typeface="Arial"/>
              </a:endParaRPr>
            </a:p>
            <a:p>
              <a:pPr indent="0" lvl="0" marL="114300" marR="0" rtl="0" algn="l">
                <a:spcBef>
                  <a:spcPts val="300"/>
                </a:spcBef>
                <a:spcAft>
                  <a:spcPts val="0"/>
                </a:spcAft>
                <a:buNone/>
              </a:pPr>
              <a:r>
                <a:rPr b="0" lang="es" sz="775">
                  <a:solidFill>
                    <a:srgbClr val="94A3B8"/>
                  </a:solidFill>
                  <a:latin typeface="Arial"/>
                  <a:ea typeface="Arial"/>
                  <a:cs typeface="Arial"/>
                  <a:sym typeface="Arial"/>
                </a:rPr>
                <a:t>Modelos de imputación estadística avanzada y mitigación activa de sesgo geográfico.</a:t>
              </a:r>
              <a:endParaRPr b="0" sz="775">
                <a:solidFill>
                  <a:srgbClr val="94A3B8"/>
                </a:solidFill>
                <a:latin typeface="Arial"/>
                <a:ea typeface="Arial"/>
                <a:cs typeface="Arial"/>
                <a:sym typeface="Arial"/>
              </a:endParaRPr>
            </a:p>
          </p:txBody>
        </p:sp>
      </p:grpSp>
      <p:grpSp>
        <p:nvGrpSpPr>
          <p:cNvPr id="132" name="Google Shape;132;p16"/>
          <p:cNvGrpSpPr/>
          <p:nvPr/>
        </p:nvGrpSpPr>
        <p:grpSpPr>
          <a:xfrm>
            <a:off x="4572000" y="1381125"/>
            <a:ext cx="3810000" cy="2857500"/>
            <a:chOff x="4572000" y="1381125"/>
            <a:chExt cx="3810000" cy="2857500"/>
          </a:xfrm>
        </p:grpSpPr>
        <p:sp>
          <p:nvSpPr>
            <p:cNvPr id="133" name="Google Shape;133;p16"/>
            <p:cNvSpPr/>
            <p:nvPr/>
          </p:nvSpPr>
          <p:spPr>
            <a:xfrm>
              <a:off x="4572000" y="1381125"/>
              <a:ext cx="3810000" cy="2857500"/>
            </a:xfrm>
            <a:prstGeom prst="roundRect">
              <a:avLst>
                <a:gd fmla="val 5333" name="adj"/>
              </a:avLst>
            </a:prstGeom>
            <a:solidFill>
              <a:srgbClr val="0B1E36">
                <a:alpha val="4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34" name="Google Shape;134;p16"/>
            <p:cNvSpPr txBox="1"/>
            <p:nvPr/>
          </p:nvSpPr>
          <p:spPr>
            <a:xfrm>
              <a:off x="4762500" y="1524000"/>
              <a:ext cx="3429000" cy="238200"/>
            </a:xfrm>
            <a:prstGeom prst="rect">
              <a:avLst/>
            </a:prstGeom>
            <a:solidFill>
              <a:srgbClr val="000000">
                <a:alpha val="0"/>
              </a:srgbClr>
            </a:solidFill>
            <a:ln>
              <a:noFill/>
            </a:ln>
          </p:spPr>
          <p:txBody>
            <a:bodyPr anchorCtr="0" anchor="ctr" bIns="0" lIns="0" spcFirstLastPara="1" rIns="0" wrap="square" tIns="0">
              <a:noAutofit/>
            </a:bodyPr>
            <a:lstStyle/>
            <a:p>
              <a:pPr indent="0" lvl="0" marL="0" rtl="0" algn="l">
                <a:spcBef>
                  <a:spcPts val="0"/>
                </a:spcBef>
                <a:spcAft>
                  <a:spcPts val="0"/>
                </a:spcAft>
                <a:buNone/>
              </a:pPr>
              <a:r>
                <a:rPr b="1" lang="es" sz="1100">
                  <a:solidFill>
                    <a:srgbClr val="FFFFFF"/>
                  </a:solidFill>
                  <a:latin typeface="Montserrat"/>
                  <a:ea typeface="Montserrat"/>
                  <a:cs typeface="Montserrat"/>
                  <a:sym typeface="Montserrat"/>
                </a:rPr>
                <a:t>CUADRO RESUMEN DE GESTIÓN</a:t>
              </a:r>
              <a:endParaRPr b="1" sz="1100">
                <a:solidFill>
                  <a:srgbClr val="FFFFFF"/>
                </a:solidFill>
                <a:latin typeface="Montserrat"/>
                <a:ea typeface="Montserrat"/>
                <a:cs typeface="Montserrat"/>
                <a:sym typeface="Montserrat"/>
              </a:endParaRPr>
            </a:p>
          </p:txBody>
        </p:sp>
        <p:grpSp>
          <p:nvGrpSpPr>
            <p:cNvPr id="135" name="Google Shape;135;p16"/>
            <p:cNvGrpSpPr/>
            <p:nvPr/>
          </p:nvGrpSpPr>
          <p:grpSpPr>
            <a:xfrm>
              <a:off x="4762500" y="1775460"/>
              <a:ext cx="2762400" cy="444015"/>
              <a:chOff x="4762500" y="1775460"/>
              <a:chExt cx="2762400" cy="444015"/>
            </a:xfrm>
          </p:grpSpPr>
          <p:sp>
            <p:nvSpPr>
              <p:cNvPr id="136" name="Google Shape;136;p16"/>
              <p:cNvSpPr txBox="1"/>
              <p:nvPr/>
            </p:nvSpPr>
            <p:spPr>
              <a:xfrm>
                <a:off x="4762500" y="1884045"/>
                <a:ext cx="1059600" cy="13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675">
                    <a:solidFill>
                      <a:srgbClr val="94A3B8"/>
                    </a:solidFill>
                    <a:latin typeface="Montserrat"/>
                    <a:ea typeface="Montserrat"/>
                    <a:cs typeface="Montserrat"/>
                    <a:sym typeface="Montserrat"/>
                  </a:rPr>
                  <a:t>MINI GANTT (4 MESES)</a:t>
                </a:r>
                <a:endParaRPr b="1" sz="675">
                  <a:solidFill>
                    <a:srgbClr val="94A3B8"/>
                  </a:solidFill>
                  <a:latin typeface="Montserrat"/>
                  <a:ea typeface="Montserrat"/>
                  <a:cs typeface="Montserrat"/>
                  <a:sym typeface="Montserrat"/>
                </a:endParaRPr>
              </a:p>
            </p:txBody>
          </p:sp>
          <p:pic>
            <p:nvPicPr>
              <p:cNvPr id="137" name="Google Shape;137;p16"/>
              <p:cNvPicPr preferRelativeResize="0"/>
              <p:nvPr/>
            </p:nvPicPr>
            <p:blipFill rotWithShape="1">
              <a:blip r:embed="rId3">
                <a:alphaModFix/>
              </a:blip>
              <a:srcRect b="0" l="0" r="0" t="0"/>
              <a:stretch/>
            </p:blipFill>
            <p:spPr>
              <a:xfrm>
                <a:off x="5995988" y="1857375"/>
                <a:ext cx="9600" cy="362100"/>
              </a:xfrm>
              <a:prstGeom prst="rect">
                <a:avLst/>
              </a:prstGeom>
              <a:noFill/>
              <a:ln>
                <a:noFill/>
              </a:ln>
            </p:spPr>
          </p:pic>
          <p:pic>
            <p:nvPicPr>
              <p:cNvPr id="138" name="Google Shape;138;p16"/>
              <p:cNvPicPr preferRelativeResize="0"/>
              <p:nvPr/>
            </p:nvPicPr>
            <p:blipFill rotWithShape="1">
              <a:blip r:embed="rId3">
                <a:alphaModFix/>
              </a:blip>
              <a:srcRect b="0" l="0" r="0" t="0"/>
              <a:stretch/>
            </p:blipFill>
            <p:spPr>
              <a:xfrm>
                <a:off x="6472238" y="1857375"/>
                <a:ext cx="9600" cy="362100"/>
              </a:xfrm>
              <a:prstGeom prst="rect">
                <a:avLst/>
              </a:prstGeom>
              <a:noFill/>
              <a:ln>
                <a:noFill/>
              </a:ln>
            </p:spPr>
          </p:pic>
          <p:pic>
            <p:nvPicPr>
              <p:cNvPr id="139" name="Google Shape;139;p16"/>
              <p:cNvPicPr preferRelativeResize="0"/>
              <p:nvPr/>
            </p:nvPicPr>
            <p:blipFill rotWithShape="1">
              <a:blip r:embed="rId3">
                <a:alphaModFix/>
              </a:blip>
              <a:srcRect b="0" l="0" r="0" t="0"/>
              <a:stretch/>
            </p:blipFill>
            <p:spPr>
              <a:xfrm>
                <a:off x="6948488" y="1857375"/>
                <a:ext cx="9600" cy="362100"/>
              </a:xfrm>
              <a:prstGeom prst="rect">
                <a:avLst/>
              </a:prstGeom>
              <a:noFill/>
              <a:ln>
                <a:noFill/>
              </a:ln>
            </p:spPr>
          </p:pic>
          <p:pic>
            <p:nvPicPr>
              <p:cNvPr id="140" name="Google Shape;140;p16"/>
              <p:cNvPicPr preferRelativeResize="0"/>
              <p:nvPr/>
            </p:nvPicPr>
            <p:blipFill rotWithShape="1">
              <a:blip r:embed="rId3">
                <a:alphaModFix/>
              </a:blip>
              <a:srcRect b="0" l="0" r="0" t="0"/>
              <a:stretch/>
            </p:blipFill>
            <p:spPr>
              <a:xfrm>
                <a:off x="7424738" y="1857375"/>
                <a:ext cx="9600" cy="362100"/>
              </a:xfrm>
              <a:prstGeom prst="rect">
                <a:avLst/>
              </a:prstGeom>
              <a:noFill/>
              <a:ln>
                <a:noFill/>
              </a:ln>
            </p:spPr>
          </p:pic>
          <p:sp>
            <p:nvSpPr>
              <p:cNvPr id="141" name="Google Shape;141;p16"/>
              <p:cNvSpPr txBox="1"/>
              <p:nvPr/>
            </p:nvSpPr>
            <p:spPr>
              <a:xfrm>
                <a:off x="5959545" y="1775460"/>
                <a:ext cx="82500" cy="108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446">
                    <a:solidFill>
                      <a:srgbClr val="94A3B8"/>
                    </a:solidFill>
                    <a:latin typeface="Arial"/>
                    <a:ea typeface="Arial"/>
                    <a:cs typeface="Arial"/>
                    <a:sym typeface="Arial"/>
                  </a:rPr>
                  <a:t>M1</a:t>
                </a:r>
                <a:endParaRPr sz="446">
                  <a:solidFill>
                    <a:srgbClr val="94A3B8"/>
                  </a:solidFill>
                  <a:latin typeface="Arial"/>
                  <a:ea typeface="Arial"/>
                  <a:cs typeface="Arial"/>
                  <a:sym typeface="Arial"/>
                </a:endParaRPr>
              </a:p>
            </p:txBody>
          </p:sp>
          <p:sp>
            <p:nvSpPr>
              <p:cNvPr id="142" name="Google Shape;142;p16"/>
              <p:cNvSpPr txBox="1"/>
              <p:nvPr/>
            </p:nvSpPr>
            <p:spPr>
              <a:xfrm>
                <a:off x="6435795" y="1775460"/>
                <a:ext cx="82500" cy="108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446">
                    <a:solidFill>
                      <a:srgbClr val="94A3B8"/>
                    </a:solidFill>
                    <a:latin typeface="Arial"/>
                    <a:ea typeface="Arial"/>
                    <a:cs typeface="Arial"/>
                    <a:sym typeface="Arial"/>
                  </a:rPr>
                  <a:t>M2</a:t>
                </a:r>
                <a:endParaRPr sz="446">
                  <a:solidFill>
                    <a:srgbClr val="94A3B8"/>
                  </a:solidFill>
                  <a:latin typeface="Arial"/>
                  <a:ea typeface="Arial"/>
                  <a:cs typeface="Arial"/>
                  <a:sym typeface="Arial"/>
                </a:endParaRPr>
              </a:p>
            </p:txBody>
          </p:sp>
          <p:sp>
            <p:nvSpPr>
              <p:cNvPr id="143" name="Google Shape;143;p16"/>
              <p:cNvSpPr txBox="1"/>
              <p:nvPr/>
            </p:nvSpPr>
            <p:spPr>
              <a:xfrm>
                <a:off x="6912045" y="1775460"/>
                <a:ext cx="82500" cy="108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446">
                    <a:solidFill>
                      <a:srgbClr val="94A3B8"/>
                    </a:solidFill>
                    <a:latin typeface="Arial"/>
                    <a:ea typeface="Arial"/>
                    <a:cs typeface="Arial"/>
                    <a:sym typeface="Arial"/>
                  </a:rPr>
                  <a:t>M3</a:t>
                </a:r>
                <a:endParaRPr sz="446">
                  <a:solidFill>
                    <a:srgbClr val="94A3B8"/>
                  </a:solidFill>
                  <a:latin typeface="Arial"/>
                  <a:ea typeface="Arial"/>
                  <a:cs typeface="Arial"/>
                  <a:sym typeface="Arial"/>
                </a:endParaRPr>
              </a:p>
            </p:txBody>
          </p:sp>
          <p:sp>
            <p:nvSpPr>
              <p:cNvPr id="144" name="Google Shape;144;p16"/>
              <p:cNvSpPr txBox="1"/>
              <p:nvPr/>
            </p:nvSpPr>
            <p:spPr>
              <a:xfrm>
                <a:off x="7388295" y="1775460"/>
                <a:ext cx="82500" cy="108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446">
                    <a:solidFill>
                      <a:srgbClr val="94A3B8"/>
                    </a:solidFill>
                    <a:latin typeface="Arial"/>
                    <a:ea typeface="Arial"/>
                    <a:cs typeface="Arial"/>
                    <a:sym typeface="Arial"/>
                  </a:rPr>
                  <a:t>M4</a:t>
                </a:r>
                <a:endParaRPr sz="446">
                  <a:solidFill>
                    <a:srgbClr val="94A3B8"/>
                  </a:solidFill>
                  <a:latin typeface="Arial"/>
                  <a:ea typeface="Arial"/>
                  <a:cs typeface="Arial"/>
                  <a:sym typeface="Arial"/>
                </a:endParaRPr>
              </a:p>
            </p:txBody>
          </p:sp>
          <p:sp>
            <p:nvSpPr>
              <p:cNvPr id="145" name="Google Shape;145;p16"/>
              <p:cNvSpPr/>
              <p:nvPr/>
            </p:nvSpPr>
            <p:spPr>
              <a:xfrm>
                <a:off x="5810250" y="1905000"/>
                <a:ext cx="571500" cy="57300"/>
              </a:xfrm>
              <a:prstGeom prst="roundRect">
                <a:avLst>
                  <a:gd fmla="val 50000" name="adj"/>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6" name="Google Shape;146;p16"/>
              <p:cNvSpPr/>
              <p:nvPr/>
            </p:nvSpPr>
            <p:spPr>
              <a:xfrm>
                <a:off x="6286500" y="2000250"/>
                <a:ext cx="762000" cy="57300"/>
              </a:xfrm>
              <a:prstGeom prst="roundRect">
                <a:avLst>
                  <a:gd fmla="val 50000" name="adj"/>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47" name="Google Shape;147;p16"/>
              <p:cNvSpPr/>
              <p:nvPr/>
            </p:nvSpPr>
            <p:spPr>
              <a:xfrm>
                <a:off x="6858000" y="2095500"/>
                <a:ext cx="666900" cy="57300"/>
              </a:xfrm>
              <a:prstGeom prst="roundRect">
                <a:avLst>
                  <a:gd fmla="val 50000" name="adj"/>
                </a:avLst>
              </a:prstGeom>
              <a:solidFill>
                <a:srgbClr val="F59E0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48" name="Google Shape;148;p16"/>
            <p:cNvGrpSpPr/>
            <p:nvPr/>
          </p:nvGrpSpPr>
          <p:grpSpPr>
            <a:xfrm>
              <a:off x="4762500" y="2503170"/>
              <a:ext cx="2619525" cy="509775"/>
              <a:chOff x="4762500" y="2503170"/>
              <a:chExt cx="2619525" cy="509775"/>
            </a:xfrm>
          </p:grpSpPr>
          <p:sp>
            <p:nvSpPr>
              <p:cNvPr id="149" name="Google Shape;149;p16"/>
              <p:cNvSpPr txBox="1"/>
              <p:nvPr/>
            </p:nvSpPr>
            <p:spPr>
              <a:xfrm>
                <a:off x="4762500" y="2503170"/>
                <a:ext cx="1218600" cy="13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624">
                    <a:solidFill>
                      <a:srgbClr val="94A3B8"/>
                    </a:solidFill>
                    <a:latin typeface="Montserrat"/>
                    <a:ea typeface="Montserrat"/>
                    <a:cs typeface="Montserrat"/>
                    <a:sym typeface="Montserrat"/>
                  </a:rPr>
                  <a:t>WBS (HITOS ENTREGABLES)</a:t>
                </a:r>
                <a:endParaRPr b="1" sz="624">
                  <a:solidFill>
                    <a:srgbClr val="94A3B8"/>
                  </a:solidFill>
                  <a:latin typeface="Montserrat"/>
                  <a:ea typeface="Montserrat"/>
                  <a:cs typeface="Montserrat"/>
                  <a:sym typeface="Montserrat"/>
                </a:endParaRPr>
              </a:p>
            </p:txBody>
          </p:sp>
          <p:pic>
            <p:nvPicPr>
              <p:cNvPr id="150" name="Google Shape;150;p16"/>
              <p:cNvPicPr preferRelativeResize="0"/>
              <p:nvPr/>
            </p:nvPicPr>
            <p:blipFill rotWithShape="1">
              <a:blip r:embed="rId4">
                <a:alphaModFix/>
              </a:blip>
              <a:srcRect b="0" l="0" r="0" t="0"/>
              <a:stretch/>
            </p:blipFill>
            <p:spPr>
              <a:xfrm>
                <a:off x="5800725" y="2686050"/>
                <a:ext cx="1352700" cy="190500"/>
              </a:xfrm>
              <a:prstGeom prst="rect">
                <a:avLst/>
              </a:prstGeom>
              <a:noFill/>
              <a:ln>
                <a:noFill/>
              </a:ln>
            </p:spPr>
          </p:pic>
          <p:sp>
            <p:nvSpPr>
              <p:cNvPr id="151" name="Google Shape;151;p16"/>
              <p:cNvSpPr/>
              <p:nvPr/>
            </p:nvSpPr>
            <p:spPr>
              <a:xfrm>
                <a:off x="6191250" y="2590800"/>
                <a:ext cx="571500" cy="114300"/>
              </a:xfrm>
              <a:prstGeom prst="roundRect">
                <a:avLst>
                  <a:gd fmla="val 25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2" name="Google Shape;152;p16"/>
              <p:cNvSpPr txBox="1"/>
              <p:nvPr/>
            </p:nvSpPr>
            <p:spPr>
              <a:xfrm>
                <a:off x="6312179" y="2623185"/>
                <a:ext cx="329700" cy="108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525">
                    <a:solidFill>
                      <a:srgbClr val="FFFFFF"/>
                    </a:solidFill>
                    <a:latin typeface="Arial"/>
                    <a:ea typeface="Arial"/>
                    <a:cs typeface="Arial"/>
                    <a:sym typeface="Arial"/>
                  </a:rPr>
                  <a:t>Proyecto</a:t>
                </a:r>
                <a:endParaRPr b="1" sz="525">
                  <a:solidFill>
                    <a:srgbClr val="FFFFFF"/>
                  </a:solidFill>
                  <a:latin typeface="Arial"/>
                  <a:ea typeface="Arial"/>
                  <a:cs typeface="Arial"/>
                  <a:sym typeface="Arial"/>
                </a:endParaRPr>
              </a:p>
            </p:txBody>
          </p:sp>
          <p:sp>
            <p:nvSpPr>
              <p:cNvPr id="153" name="Google Shape;153;p16"/>
              <p:cNvSpPr/>
              <p:nvPr/>
            </p:nvSpPr>
            <p:spPr>
              <a:xfrm>
                <a:off x="5572125" y="2876550"/>
                <a:ext cx="476400" cy="114300"/>
              </a:xfrm>
              <a:prstGeom prst="roundRect">
                <a:avLst>
                  <a:gd fmla="val 16666" name="adj"/>
                </a:avLst>
              </a:prstGeom>
              <a:solidFill>
                <a:srgbClr val="0B1E36"/>
              </a:solidFill>
              <a:ln cap="flat" cmpd="sng" w="9525">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4" name="Google Shape;154;p16"/>
              <p:cNvSpPr txBox="1"/>
              <p:nvPr/>
            </p:nvSpPr>
            <p:spPr>
              <a:xfrm>
                <a:off x="5618940" y="2912745"/>
                <a:ext cx="382500" cy="1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488">
                    <a:solidFill>
                      <a:srgbClr val="3B82F6"/>
                    </a:solidFill>
                    <a:latin typeface="Arial"/>
                    <a:ea typeface="Arial"/>
                    <a:cs typeface="Arial"/>
                    <a:sym typeface="Arial"/>
                  </a:rPr>
                  <a:t>Hito 1 &amp; 2</a:t>
                </a:r>
                <a:endParaRPr sz="488">
                  <a:solidFill>
                    <a:srgbClr val="3B82F6"/>
                  </a:solidFill>
                  <a:latin typeface="Arial"/>
                  <a:ea typeface="Arial"/>
                  <a:cs typeface="Arial"/>
                  <a:sym typeface="Arial"/>
                </a:endParaRPr>
              </a:p>
            </p:txBody>
          </p:sp>
          <p:sp>
            <p:nvSpPr>
              <p:cNvPr id="155" name="Google Shape;155;p16"/>
              <p:cNvSpPr/>
              <p:nvPr/>
            </p:nvSpPr>
            <p:spPr>
              <a:xfrm>
                <a:off x="6238875" y="2876550"/>
                <a:ext cx="476400" cy="114300"/>
              </a:xfrm>
              <a:prstGeom prst="roundRect">
                <a:avLst>
                  <a:gd fmla="val 16666" name="adj"/>
                </a:avLst>
              </a:prstGeom>
              <a:solidFill>
                <a:srgbClr val="0B1E36"/>
              </a:solidFill>
              <a:ln cap="flat" cmpd="sng" w="9525">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6" name="Google Shape;156;p16"/>
              <p:cNvSpPr txBox="1"/>
              <p:nvPr/>
            </p:nvSpPr>
            <p:spPr>
              <a:xfrm>
                <a:off x="6362214" y="2912745"/>
                <a:ext cx="229500" cy="1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488">
                    <a:solidFill>
                      <a:srgbClr val="10B981"/>
                    </a:solidFill>
                    <a:latin typeface="Arial"/>
                    <a:ea typeface="Arial"/>
                    <a:cs typeface="Arial"/>
                    <a:sym typeface="Arial"/>
                  </a:rPr>
                  <a:t>Hito 3</a:t>
                </a:r>
                <a:endParaRPr sz="488">
                  <a:solidFill>
                    <a:srgbClr val="10B981"/>
                  </a:solidFill>
                  <a:latin typeface="Arial"/>
                  <a:ea typeface="Arial"/>
                  <a:cs typeface="Arial"/>
                  <a:sym typeface="Arial"/>
                </a:endParaRPr>
              </a:p>
            </p:txBody>
          </p:sp>
          <p:sp>
            <p:nvSpPr>
              <p:cNvPr id="157" name="Google Shape;157;p16"/>
              <p:cNvSpPr/>
              <p:nvPr/>
            </p:nvSpPr>
            <p:spPr>
              <a:xfrm>
                <a:off x="6905625" y="2876550"/>
                <a:ext cx="476400" cy="114300"/>
              </a:xfrm>
              <a:prstGeom prst="roundRect">
                <a:avLst>
                  <a:gd fmla="val 16666" name="adj"/>
                </a:avLst>
              </a:prstGeom>
              <a:solidFill>
                <a:srgbClr val="0B1E36"/>
              </a:solidFill>
              <a:ln cap="flat" cmpd="sng" w="9525">
                <a:solidFill>
                  <a:srgbClr val="F59E0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58" name="Google Shape;158;p16"/>
              <p:cNvSpPr txBox="1"/>
              <p:nvPr/>
            </p:nvSpPr>
            <p:spPr>
              <a:xfrm>
                <a:off x="7028964" y="2912745"/>
                <a:ext cx="229500" cy="100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488">
                    <a:solidFill>
                      <a:srgbClr val="F59E0B"/>
                    </a:solidFill>
                    <a:latin typeface="Arial"/>
                    <a:ea typeface="Arial"/>
                    <a:cs typeface="Arial"/>
                    <a:sym typeface="Arial"/>
                  </a:rPr>
                  <a:t>Hito 4</a:t>
                </a:r>
                <a:endParaRPr sz="488">
                  <a:solidFill>
                    <a:srgbClr val="F59E0B"/>
                  </a:solidFill>
                  <a:latin typeface="Arial"/>
                  <a:ea typeface="Arial"/>
                  <a:cs typeface="Arial"/>
                  <a:sym typeface="Arial"/>
                </a:endParaRPr>
              </a:p>
            </p:txBody>
          </p:sp>
        </p:grpSp>
        <p:grpSp>
          <p:nvGrpSpPr>
            <p:cNvPr id="159" name="Google Shape;159;p16"/>
            <p:cNvGrpSpPr/>
            <p:nvPr/>
          </p:nvGrpSpPr>
          <p:grpSpPr>
            <a:xfrm>
              <a:off x="4762500" y="3312795"/>
              <a:ext cx="2761125" cy="885240"/>
              <a:chOff x="4762500" y="3312795"/>
              <a:chExt cx="2761125" cy="885240"/>
            </a:xfrm>
          </p:grpSpPr>
          <p:sp>
            <p:nvSpPr>
              <p:cNvPr id="160" name="Google Shape;160;p16"/>
              <p:cNvSpPr txBox="1"/>
              <p:nvPr/>
            </p:nvSpPr>
            <p:spPr>
              <a:xfrm>
                <a:off x="4762500" y="3312795"/>
                <a:ext cx="1218600" cy="1386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675">
                    <a:solidFill>
                      <a:srgbClr val="94A3B8"/>
                    </a:solidFill>
                    <a:latin typeface="Montserrat"/>
                    <a:ea typeface="Montserrat"/>
                    <a:cs typeface="Montserrat"/>
                    <a:sym typeface="Montserrat"/>
                  </a:rPr>
                  <a:t>MATRIZ DE RIESGOS (PxI)</a:t>
                </a:r>
                <a:endParaRPr b="1" sz="675">
                  <a:solidFill>
                    <a:srgbClr val="94A3B8"/>
                  </a:solidFill>
                  <a:latin typeface="Montserrat"/>
                  <a:ea typeface="Montserrat"/>
                  <a:cs typeface="Montserrat"/>
                  <a:sym typeface="Montserrat"/>
                </a:endParaRPr>
              </a:p>
            </p:txBody>
          </p:sp>
          <p:sp>
            <p:nvSpPr>
              <p:cNvPr id="161" name="Google Shape;161;p16"/>
              <p:cNvSpPr/>
              <p:nvPr/>
            </p:nvSpPr>
            <p:spPr>
              <a:xfrm>
                <a:off x="6000750" y="3476625"/>
                <a:ext cx="381000" cy="285900"/>
              </a:xfrm>
              <a:prstGeom prst="rect">
                <a:avLst/>
              </a:prstGeom>
              <a:solidFill>
                <a:srgbClr val="EF4444">
                  <a:alpha val="3000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2" name="Google Shape;162;p16"/>
              <p:cNvSpPr/>
              <p:nvPr/>
            </p:nvSpPr>
            <p:spPr>
              <a:xfrm>
                <a:off x="6381750" y="3476625"/>
                <a:ext cx="381000" cy="285900"/>
              </a:xfrm>
              <a:prstGeom prst="rect">
                <a:avLst/>
              </a:prstGeom>
              <a:solidFill>
                <a:srgbClr val="EF4444">
                  <a:alpha val="69999"/>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3" name="Google Shape;163;p16"/>
              <p:cNvSpPr/>
              <p:nvPr/>
            </p:nvSpPr>
            <p:spPr>
              <a:xfrm>
                <a:off x="6000750" y="3762375"/>
                <a:ext cx="381000" cy="285900"/>
              </a:xfrm>
              <a:prstGeom prst="rect">
                <a:avLst/>
              </a:prstGeom>
              <a:solidFill>
                <a:srgbClr val="10B981">
                  <a:alpha val="3000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4" name="Google Shape;164;p16"/>
              <p:cNvSpPr/>
              <p:nvPr/>
            </p:nvSpPr>
            <p:spPr>
              <a:xfrm>
                <a:off x="6381750" y="3762375"/>
                <a:ext cx="381000" cy="285900"/>
              </a:xfrm>
              <a:prstGeom prst="rect">
                <a:avLst/>
              </a:prstGeom>
              <a:solidFill>
                <a:srgbClr val="F59E0B">
                  <a:alpha val="50000"/>
                </a:srgbClr>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65" name="Google Shape;165;p16"/>
              <p:cNvSpPr txBox="1"/>
              <p:nvPr/>
            </p:nvSpPr>
            <p:spPr>
              <a:xfrm>
                <a:off x="5693054" y="3594735"/>
                <a:ext cx="164700" cy="108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s" sz="525">
                    <a:solidFill>
                      <a:srgbClr val="94A3B8"/>
                    </a:solidFill>
                    <a:latin typeface="Arial"/>
                    <a:ea typeface="Arial"/>
                    <a:cs typeface="Arial"/>
                    <a:sym typeface="Arial"/>
                  </a:rPr>
                  <a:t>Alta</a:t>
                </a:r>
                <a:endParaRPr sz="525">
                  <a:solidFill>
                    <a:srgbClr val="94A3B8"/>
                  </a:solidFill>
                  <a:latin typeface="Arial"/>
                  <a:ea typeface="Arial"/>
                  <a:cs typeface="Arial"/>
                  <a:sym typeface="Arial"/>
                </a:endParaRPr>
              </a:p>
            </p:txBody>
          </p:sp>
          <p:sp>
            <p:nvSpPr>
              <p:cNvPr id="166" name="Google Shape;166;p16"/>
              <p:cNvSpPr txBox="1"/>
              <p:nvPr/>
            </p:nvSpPr>
            <p:spPr>
              <a:xfrm>
                <a:off x="5693054" y="3880485"/>
                <a:ext cx="164700" cy="108000"/>
              </a:xfrm>
              <a:prstGeom prst="rect">
                <a:avLst/>
              </a:prstGeom>
              <a:noFill/>
              <a:ln>
                <a:noFill/>
              </a:ln>
            </p:spPr>
            <p:txBody>
              <a:bodyPr anchorCtr="0" anchor="ctr" bIns="0" lIns="0" spcFirstLastPara="1" rIns="0" wrap="square" tIns="0">
                <a:noAutofit/>
              </a:bodyPr>
              <a:lstStyle/>
              <a:p>
                <a:pPr indent="0" lvl="0" marL="0" rtl="0" algn="r">
                  <a:spcBef>
                    <a:spcPts val="0"/>
                  </a:spcBef>
                  <a:spcAft>
                    <a:spcPts val="0"/>
                  </a:spcAft>
                  <a:buNone/>
                </a:pPr>
                <a:r>
                  <a:rPr lang="es" sz="525">
                    <a:solidFill>
                      <a:srgbClr val="94A3B8"/>
                    </a:solidFill>
                    <a:latin typeface="Arial"/>
                    <a:ea typeface="Arial"/>
                    <a:cs typeface="Arial"/>
                    <a:sym typeface="Arial"/>
                  </a:rPr>
                  <a:t>Baja</a:t>
                </a:r>
                <a:endParaRPr sz="525">
                  <a:solidFill>
                    <a:srgbClr val="94A3B8"/>
                  </a:solidFill>
                  <a:latin typeface="Arial"/>
                  <a:ea typeface="Arial"/>
                  <a:cs typeface="Arial"/>
                  <a:sym typeface="Arial"/>
                </a:endParaRPr>
              </a:p>
            </p:txBody>
          </p:sp>
          <p:sp>
            <p:nvSpPr>
              <p:cNvPr id="167" name="Google Shape;167;p16"/>
              <p:cNvSpPr txBox="1"/>
              <p:nvPr/>
            </p:nvSpPr>
            <p:spPr>
              <a:xfrm>
                <a:off x="6005827" y="4090035"/>
                <a:ext cx="370800" cy="108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525">
                    <a:solidFill>
                      <a:srgbClr val="94A3B8"/>
                    </a:solidFill>
                    <a:latin typeface="Arial"/>
                    <a:ea typeface="Arial"/>
                    <a:cs typeface="Arial"/>
                    <a:sym typeface="Arial"/>
                  </a:rPr>
                  <a:t>Bajo Imp.</a:t>
                </a:r>
                <a:endParaRPr sz="525">
                  <a:solidFill>
                    <a:srgbClr val="94A3B8"/>
                  </a:solidFill>
                  <a:latin typeface="Arial"/>
                  <a:ea typeface="Arial"/>
                  <a:cs typeface="Arial"/>
                  <a:sym typeface="Arial"/>
                </a:endParaRPr>
              </a:p>
            </p:txBody>
          </p:sp>
          <p:sp>
            <p:nvSpPr>
              <p:cNvPr id="168" name="Google Shape;168;p16"/>
              <p:cNvSpPr txBox="1"/>
              <p:nvPr/>
            </p:nvSpPr>
            <p:spPr>
              <a:xfrm>
                <a:off x="6386827" y="4090035"/>
                <a:ext cx="370800" cy="108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525">
                    <a:solidFill>
                      <a:srgbClr val="94A3B8"/>
                    </a:solidFill>
                    <a:latin typeface="Arial"/>
                    <a:ea typeface="Arial"/>
                    <a:cs typeface="Arial"/>
                    <a:sym typeface="Arial"/>
                  </a:rPr>
                  <a:t>Alto Imp.</a:t>
                </a:r>
                <a:endParaRPr sz="525">
                  <a:solidFill>
                    <a:srgbClr val="94A3B8"/>
                  </a:solidFill>
                  <a:latin typeface="Arial"/>
                  <a:ea typeface="Arial"/>
                  <a:cs typeface="Arial"/>
                  <a:sym typeface="Arial"/>
                </a:endParaRPr>
              </a:p>
            </p:txBody>
          </p:sp>
          <p:sp>
            <p:nvSpPr>
              <p:cNvPr id="169" name="Google Shape;169;p16"/>
              <p:cNvSpPr/>
              <p:nvPr/>
            </p:nvSpPr>
            <p:spPr>
              <a:xfrm>
                <a:off x="6477000" y="3571875"/>
                <a:ext cx="95400" cy="95400"/>
              </a:xfrm>
              <a:prstGeom prst="ellipse">
                <a:avLst/>
              </a:prstGeom>
              <a:solidFill>
                <a:srgbClr val="FFFFFF"/>
              </a:solidFill>
              <a:ln cap="flat" cmpd="sng" w="14300">
                <a:solidFill>
                  <a:srgbClr val="EF4444"/>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0" name="Google Shape;170;p16"/>
              <p:cNvSpPr txBox="1"/>
              <p:nvPr/>
            </p:nvSpPr>
            <p:spPr>
              <a:xfrm>
                <a:off x="6489306" y="3592830"/>
                <a:ext cx="70500" cy="9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416">
                    <a:solidFill>
                      <a:srgbClr val="020B16"/>
                    </a:solidFill>
                    <a:latin typeface="Arial"/>
                    <a:ea typeface="Arial"/>
                    <a:cs typeface="Arial"/>
                    <a:sym typeface="Arial"/>
                  </a:rPr>
                  <a:t>R1</a:t>
                </a:r>
                <a:endParaRPr b="1" sz="416">
                  <a:solidFill>
                    <a:srgbClr val="020B16"/>
                  </a:solidFill>
                  <a:latin typeface="Arial"/>
                  <a:ea typeface="Arial"/>
                  <a:cs typeface="Arial"/>
                  <a:sym typeface="Arial"/>
                </a:endParaRPr>
              </a:p>
            </p:txBody>
          </p:sp>
          <p:sp>
            <p:nvSpPr>
              <p:cNvPr id="171" name="Google Shape;171;p16"/>
              <p:cNvSpPr/>
              <p:nvPr/>
            </p:nvSpPr>
            <p:spPr>
              <a:xfrm>
                <a:off x="6096000" y="3857625"/>
                <a:ext cx="95400" cy="95400"/>
              </a:xfrm>
              <a:prstGeom prst="ellipse">
                <a:avLst/>
              </a:prstGeom>
              <a:solidFill>
                <a:srgbClr val="FFFFFF"/>
              </a:solidFill>
              <a:ln cap="flat" cmpd="sng" w="1430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2" name="Google Shape;172;p16"/>
              <p:cNvSpPr txBox="1"/>
              <p:nvPr/>
            </p:nvSpPr>
            <p:spPr>
              <a:xfrm>
                <a:off x="6108306" y="3878580"/>
                <a:ext cx="70500" cy="924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416">
                    <a:solidFill>
                      <a:srgbClr val="020B16"/>
                    </a:solidFill>
                    <a:latin typeface="Arial"/>
                    <a:ea typeface="Arial"/>
                    <a:cs typeface="Arial"/>
                    <a:sym typeface="Arial"/>
                  </a:rPr>
                  <a:t>R2</a:t>
                </a:r>
                <a:endParaRPr b="1" sz="416">
                  <a:solidFill>
                    <a:srgbClr val="020B16"/>
                  </a:solidFill>
                  <a:latin typeface="Arial"/>
                  <a:ea typeface="Arial"/>
                  <a:cs typeface="Arial"/>
                  <a:sym typeface="Arial"/>
                </a:endParaRPr>
              </a:p>
            </p:txBody>
          </p:sp>
          <p:pic>
            <p:nvPicPr>
              <p:cNvPr id="173" name="Google Shape;173;p16"/>
              <p:cNvPicPr preferRelativeResize="0"/>
              <p:nvPr/>
            </p:nvPicPr>
            <p:blipFill rotWithShape="1">
              <a:blip r:embed="rId5">
                <a:alphaModFix/>
              </a:blip>
              <a:srcRect b="0" l="0" r="0" t="0"/>
              <a:stretch/>
            </p:blipFill>
            <p:spPr>
              <a:xfrm>
                <a:off x="6181725" y="3662363"/>
                <a:ext cx="347700" cy="223800"/>
              </a:xfrm>
              <a:prstGeom prst="rect">
                <a:avLst/>
              </a:prstGeom>
              <a:noFill/>
              <a:ln>
                <a:noFill/>
              </a:ln>
            </p:spPr>
          </p:pic>
          <p:sp>
            <p:nvSpPr>
              <p:cNvPr id="174" name="Google Shape;174;p16"/>
              <p:cNvSpPr txBox="1"/>
              <p:nvPr/>
            </p:nvSpPr>
            <p:spPr>
              <a:xfrm>
                <a:off x="6905625" y="3594735"/>
                <a:ext cx="576900" cy="10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525">
                    <a:solidFill>
                      <a:srgbClr val="F59E0B"/>
                    </a:solidFill>
                    <a:latin typeface="Arial"/>
                    <a:ea typeface="Arial"/>
                    <a:cs typeface="Arial"/>
                    <a:sym typeface="Arial"/>
                  </a:rPr>
                  <a:t>R1: Burocracia</a:t>
                </a:r>
                <a:endParaRPr b="1" sz="525">
                  <a:solidFill>
                    <a:srgbClr val="F59E0B"/>
                  </a:solidFill>
                  <a:latin typeface="Arial"/>
                  <a:ea typeface="Arial"/>
                  <a:cs typeface="Arial"/>
                  <a:sym typeface="Arial"/>
                </a:endParaRPr>
              </a:p>
            </p:txBody>
          </p:sp>
          <p:sp>
            <p:nvSpPr>
              <p:cNvPr id="175" name="Google Shape;175;p16"/>
              <p:cNvSpPr txBox="1"/>
              <p:nvPr/>
            </p:nvSpPr>
            <p:spPr>
              <a:xfrm>
                <a:off x="6905625" y="3737610"/>
                <a:ext cx="618000" cy="10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525">
                    <a:solidFill>
                      <a:srgbClr val="10B981"/>
                    </a:solidFill>
                    <a:latin typeface="Arial"/>
                    <a:ea typeface="Arial"/>
                    <a:cs typeface="Arial"/>
                    <a:sym typeface="Arial"/>
                  </a:rPr>
                  <a:t>R2: Subregistro</a:t>
                </a:r>
                <a:endParaRPr b="1" sz="525">
                  <a:solidFill>
                    <a:srgbClr val="10B981"/>
                  </a:solidFill>
                  <a:latin typeface="Arial"/>
                  <a:ea typeface="Arial"/>
                  <a:cs typeface="Arial"/>
                  <a:sym typeface="Arial"/>
                </a:endParaRPr>
              </a:p>
            </p:txBody>
          </p:sp>
          <p:sp>
            <p:nvSpPr>
              <p:cNvPr id="176" name="Google Shape;176;p16"/>
              <p:cNvSpPr txBox="1"/>
              <p:nvPr/>
            </p:nvSpPr>
            <p:spPr>
              <a:xfrm>
                <a:off x="6905625" y="3880485"/>
                <a:ext cx="370800" cy="1080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i="1" lang="es" sz="525">
                    <a:solidFill>
                      <a:srgbClr val="94A3B8"/>
                    </a:solidFill>
                    <a:latin typeface="Arial"/>
                    <a:ea typeface="Arial"/>
                    <a:cs typeface="Arial"/>
                    <a:sym typeface="Arial"/>
                  </a:rPr>
                  <a:t>Mitigados</a:t>
                </a:r>
                <a:endParaRPr i="1" sz="525">
                  <a:solidFill>
                    <a:srgbClr val="94A3B8"/>
                  </a:solidFill>
                  <a:latin typeface="Arial"/>
                  <a:ea typeface="Arial"/>
                  <a:cs typeface="Arial"/>
                  <a:sym typeface="Arial"/>
                </a:endParaRPr>
              </a:p>
            </p:txBody>
          </p:sp>
        </p:grpSp>
      </p:grpSp>
      <p:grpSp>
        <p:nvGrpSpPr>
          <p:cNvPr id="177" name="Google Shape;177;p16"/>
          <p:cNvGrpSpPr/>
          <p:nvPr/>
        </p:nvGrpSpPr>
        <p:grpSpPr>
          <a:xfrm>
            <a:off x="762000" y="4667250"/>
            <a:ext cx="1619400" cy="142800"/>
            <a:chOff x="762000" y="4667250"/>
            <a:chExt cx="1619400" cy="142800"/>
          </a:xfrm>
        </p:grpSpPr>
        <p:sp>
          <p:nvSpPr>
            <p:cNvPr id="178" name="Google Shape;178;p16"/>
            <p:cNvSpPr/>
            <p:nvPr/>
          </p:nvSpPr>
          <p:spPr>
            <a:xfrm>
              <a:off x="762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79" name="Google Shape;179;p16"/>
            <p:cNvSpPr txBox="1"/>
            <p:nvPr/>
          </p:nvSpPr>
          <p:spPr>
            <a:xfrm>
              <a:off x="762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3B82F6"/>
                  </a:solidFill>
                  <a:latin typeface="Arial"/>
                  <a:ea typeface="Arial"/>
                  <a:cs typeface="Arial"/>
                  <a:sym typeface="Arial"/>
                </a:rPr>
                <a:t>PNUD</a:t>
              </a:r>
              <a:endParaRPr b="0" sz="650">
                <a:solidFill>
                  <a:srgbClr val="3B82F6"/>
                </a:solidFill>
                <a:latin typeface="Arial"/>
                <a:ea typeface="Arial"/>
                <a:cs typeface="Arial"/>
                <a:sym typeface="Arial"/>
              </a:endParaRPr>
            </a:p>
          </p:txBody>
        </p:sp>
        <p:sp>
          <p:nvSpPr>
            <p:cNvPr id="180" name="Google Shape;180;p16"/>
            <p:cNvSpPr/>
            <p:nvPr/>
          </p:nvSpPr>
          <p:spPr>
            <a:xfrm>
              <a:off x="13335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1" name="Google Shape;181;p16"/>
            <p:cNvSpPr txBox="1"/>
            <p:nvPr/>
          </p:nvSpPr>
          <p:spPr>
            <a:xfrm>
              <a:off x="13335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10B981"/>
                  </a:solidFill>
                  <a:latin typeface="Arial"/>
                  <a:ea typeface="Arial"/>
                  <a:cs typeface="Arial"/>
                  <a:sym typeface="Arial"/>
                </a:rPr>
                <a:t>MSPAS</a:t>
              </a:r>
              <a:endParaRPr b="0" sz="650">
                <a:solidFill>
                  <a:srgbClr val="10B981"/>
                </a:solidFill>
                <a:latin typeface="Arial"/>
                <a:ea typeface="Arial"/>
                <a:cs typeface="Arial"/>
                <a:sym typeface="Arial"/>
              </a:endParaRPr>
            </a:p>
          </p:txBody>
        </p:sp>
        <p:sp>
          <p:nvSpPr>
            <p:cNvPr id="182" name="Google Shape;182;p16"/>
            <p:cNvSpPr/>
            <p:nvPr/>
          </p:nvSpPr>
          <p:spPr>
            <a:xfrm>
              <a:off x="1905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83" name="Google Shape;183;p16"/>
            <p:cNvSpPr txBox="1"/>
            <p:nvPr/>
          </p:nvSpPr>
          <p:spPr>
            <a:xfrm>
              <a:off x="1905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94A3B8"/>
                  </a:solidFill>
                  <a:latin typeface="Arial"/>
                  <a:ea typeface="Arial"/>
                  <a:cs typeface="Arial"/>
                  <a:sym typeface="Arial"/>
                </a:rPr>
                <a:t>USAC</a:t>
              </a:r>
              <a:endParaRPr b="0" sz="650">
                <a:solidFill>
                  <a:srgbClr val="94A3B8"/>
                </a:solidFill>
                <a:latin typeface="Arial"/>
                <a:ea typeface="Arial"/>
                <a:cs typeface="Arial"/>
                <a:sym typeface="Arial"/>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7"/>
          <p:cNvSpPr/>
          <p:nvPr/>
        </p:nvSpPr>
        <p:spPr>
          <a:xfrm>
            <a:off x="0" y="0"/>
            <a:ext cx="9144000" cy="5143500"/>
          </a:xfrm>
          <a:prstGeom prst="rect">
            <a:avLst/>
          </a:prstGeom>
          <a:solidFill>
            <a:srgbClr val="020B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189" name="Google Shape;189;p17"/>
          <p:cNvGrpSpPr/>
          <p:nvPr/>
        </p:nvGrpSpPr>
        <p:grpSpPr>
          <a:xfrm>
            <a:off x="4953000" y="381000"/>
            <a:ext cx="4000500" cy="4953000"/>
            <a:chOff x="4953000" y="381000"/>
            <a:chExt cx="4000500" cy="4953000"/>
          </a:xfrm>
        </p:grpSpPr>
        <p:sp>
          <p:nvSpPr>
            <p:cNvPr id="190" name="Google Shape;190;p17"/>
            <p:cNvSpPr/>
            <p:nvPr/>
          </p:nvSpPr>
          <p:spPr>
            <a:xfrm>
              <a:off x="6286500" y="381000"/>
              <a:ext cx="2667000" cy="2667000"/>
            </a:xfrm>
            <a:prstGeom prst="ellipse">
              <a:avLst/>
            </a:prstGeom>
            <a:solidFill>
              <a:srgbClr val="3B82F6">
                <a:alpha val="5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1" name="Google Shape;191;p17"/>
            <p:cNvSpPr/>
            <p:nvPr/>
          </p:nvSpPr>
          <p:spPr>
            <a:xfrm>
              <a:off x="7048500" y="1143000"/>
              <a:ext cx="1714500" cy="1714500"/>
            </a:xfrm>
            <a:prstGeom prst="ellipse">
              <a:avLst/>
            </a:prstGeom>
            <a:solidFill>
              <a:srgbClr val="10B981">
                <a:alpha val="3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2" name="Google Shape;192;p17"/>
            <p:cNvSpPr/>
            <p:nvPr/>
          </p:nvSpPr>
          <p:spPr>
            <a:xfrm>
              <a:off x="4953000" y="1905000"/>
              <a:ext cx="3429000" cy="3429000"/>
            </a:xfrm>
            <a:prstGeom prst="ellipse">
              <a:avLst/>
            </a:prstGeom>
            <a:solidFill>
              <a:srgbClr val="021329"/>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193" name="Google Shape;193;p17"/>
          <p:cNvGrpSpPr/>
          <p:nvPr/>
        </p:nvGrpSpPr>
        <p:grpSpPr>
          <a:xfrm>
            <a:off x="762000" y="428625"/>
            <a:ext cx="7620000" cy="714525"/>
            <a:chOff x="762000" y="428625"/>
            <a:chExt cx="7620000" cy="714525"/>
          </a:xfrm>
        </p:grpSpPr>
        <p:sp>
          <p:nvSpPr>
            <p:cNvPr id="194" name="Google Shape;194;p17"/>
            <p:cNvSpPr txBox="1"/>
            <p:nvPr/>
          </p:nvSpPr>
          <p:spPr>
            <a:xfrm>
              <a:off x="762000" y="428625"/>
              <a:ext cx="7620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000">
                  <a:solidFill>
                    <a:srgbClr val="10B981"/>
                  </a:solidFill>
                  <a:latin typeface="Montserrat"/>
                  <a:ea typeface="Montserrat"/>
                  <a:cs typeface="Montserrat"/>
                  <a:sym typeface="Montserrat"/>
                </a:rPr>
                <a:t>PLATAFORMA DE INTELIGENCIA EPIDEMIOLÓGICA</a:t>
              </a:r>
              <a:endParaRPr b="1" sz="1000">
                <a:solidFill>
                  <a:srgbClr val="10B981"/>
                </a:solidFill>
                <a:latin typeface="Montserrat"/>
                <a:ea typeface="Montserrat"/>
                <a:cs typeface="Montserrat"/>
                <a:sym typeface="Montserrat"/>
              </a:endParaRPr>
            </a:p>
          </p:txBody>
        </p:sp>
        <p:sp>
          <p:nvSpPr>
            <p:cNvPr id="195" name="Google Shape;195;p17"/>
            <p:cNvSpPr txBox="1"/>
            <p:nvPr/>
          </p:nvSpPr>
          <p:spPr>
            <a:xfrm>
              <a:off x="762000" y="666750"/>
              <a:ext cx="7620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s" sz="2400">
                  <a:solidFill>
                    <a:srgbClr val="FFFFFF"/>
                  </a:solidFill>
                  <a:latin typeface="Montserrat ExtraBold"/>
                  <a:ea typeface="Montserrat ExtraBold"/>
                  <a:cs typeface="Montserrat ExtraBold"/>
                  <a:sym typeface="Montserrat ExtraBold"/>
                </a:rPr>
                <a:t>Arquitectura End-to-End (Visión General)</a:t>
              </a:r>
              <a:endParaRPr b="0" sz="2400">
                <a:solidFill>
                  <a:srgbClr val="FFFFFF"/>
                </a:solidFill>
                <a:latin typeface="Montserrat ExtraBold"/>
                <a:ea typeface="Montserrat ExtraBold"/>
                <a:cs typeface="Montserrat ExtraBold"/>
                <a:sym typeface="Montserrat ExtraBold"/>
              </a:endParaRPr>
            </a:p>
          </p:txBody>
        </p:sp>
      </p:grpSp>
      <p:grpSp>
        <p:nvGrpSpPr>
          <p:cNvPr id="196" name="Google Shape;196;p17"/>
          <p:cNvGrpSpPr/>
          <p:nvPr/>
        </p:nvGrpSpPr>
        <p:grpSpPr>
          <a:xfrm>
            <a:off x="762000" y="1381125"/>
            <a:ext cx="1905000" cy="3238575"/>
            <a:chOff x="762000" y="1381125"/>
            <a:chExt cx="1905000" cy="3238575"/>
          </a:xfrm>
        </p:grpSpPr>
        <p:sp>
          <p:nvSpPr>
            <p:cNvPr id="197" name="Google Shape;197;p17"/>
            <p:cNvSpPr/>
            <p:nvPr/>
          </p:nvSpPr>
          <p:spPr>
            <a:xfrm>
              <a:off x="762000" y="1381125"/>
              <a:ext cx="1905000" cy="1524000"/>
            </a:xfrm>
            <a:prstGeom prst="roundRect">
              <a:avLst>
                <a:gd fmla="val 7500"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198" name="Google Shape;198;p17"/>
            <p:cNvSpPr txBox="1"/>
            <p:nvPr/>
          </p:nvSpPr>
          <p:spPr>
            <a:xfrm>
              <a:off x="952500" y="1571625"/>
              <a:ext cx="1524000" cy="11430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900">
                  <a:solidFill>
                    <a:srgbClr val="3B82F6"/>
                  </a:solidFill>
                  <a:latin typeface="Montserrat"/>
                  <a:ea typeface="Montserrat"/>
                  <a:cs typeface="Montserrat"/>
                  <a:sym typeface="Montserrat"/>
                </a:rPr>
                <a:t>CAPA DE DATOS</a:t>
              </a:r>
              <a:endParaRPr b="1" sz="900">
                <a:solidFill>
                  <a:srgbClr val="3B82F6"/>
                </a:solidFill>
                <a:latin typeface="Montserrat"/>
                <a:ea typeface="Montserrat"/>
                <a:cs typeface="Montserrat"/>
                <a:sym typeface="Montserrat"/>
              </a:endParaRPr>
            </a:p>
            <a:p>
              <a:pPr indent="0" lvl="0" marL="0" rtl="0" algn="l">
                <a:spcBef>
                  <a:spcPts val="300"/>
                </a:spcBef>
                <a:spcAft>
                  <a:spcPts val="600"/>
                </a:spcAft>
                <a:buNone/>
              </a:pPr>
              <a:r>
                <a:rPr b="1" lang="es" sz="1100">
                  <a:solidFill>
                    <a:srgbClr val="10B981"/>
                  </a:solidFill>
                  <a:latin typeface="Montserrat"/>
                  <a:ea typeface="Montserrat"/>
                  <a:cs typeface="Montserrat"/>
                  <a:sym typeface="Montserrat"/>
                </a:rPr>
                <a:t>Integración</a:t>
              </a:r>
              <a:r>
                <a:rPr b="0" lang="es" sz="1100">
                  <a:solidFill>
                    <a:srgbClr val="F1F5F9"/>
                  </a:solidFill>
                  <a:latin typeface="Arial"/>
                  <a:ea typeface="Arial"/>
                  <a:cs typeface="Arial"/>
                  <a:sym typeface="Arial"/>
                </a:rPr>
                <a:t> de fuentes heterogéneas (Drive, SharePoint, S3, RDS).</a:t>
              </a:r>
              <a:endParaRPr b="0" sz="1100">
                <a:solidFill>
                  <a:srgbClr val="F1F5F9"/>
                </a:solidFill>
                <a:latin typeface="Arial"/>
                <a:ea typeface="Arial"/>
                <a:cs typeface="Arial"/>
                <a:sym typeface="Arial"/>
              </a:endParaRPr>
            </a:p>
          </p:txBody>
        </p:sp>
        <p:sp>
          <p:nvSpPr>
            <p:cNvPr id="199" name="Google Shape;199;p17"/>
            <p:cNvSpPr/>
            <p:nvPr/>
          </p:nvSpPr>
          <p:spPr>
            <a:xfrm>
              <a:off x="762000" y="3048000"/>
              <a:ext cx="1905000" cy="1571700"/>
            </a:xfrm>
            <a:prstGeom prst="roundRect">
              <a:avLst>
                <a:gd fmla="val 7272"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0" name="Google Shape;200;p17"/>
            <p:cNvSpPr txBox="1"/>
            <p:nvPr/>
          </p:nvSpPr>
          <p:spPr>
            <a:xfrm>
              <a:off x="952500" y="3238500"/>
              <a:ext cx="1524000" cy="1190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900">
                  <a:solidFill>
                    <a:srgbClr val="3B82F6"/>
                  </a:solidFill>
                  <a:latin typeface="Montserrat"/>
                  <a:ea typeface="Montserrat"/>
                  <a:cs typeface="Montserrat"/>
                  <a:sym typeface="Montserrat"/>
                </a:rPr>
                <a:t>INGESTA &amp; ETL</a:t>
              </a:r>
              <a:endParaRPr b="1" sz="900">
                <a:solidFill>
                  <a:srgbClr val="3B82F6"/>
                </a:solidFill>
                <a:latin typeface="Montserrat"/>
                <a:ea typeface="Montserrat"/>
                <a:cs typeface="Montserrat"/>
                <a:sym typeface="Montserrat"/>
              </a:endParaRPr>
            </a:p>
            <a:p>
              <a:pPr indent="0" lvl="0" marL="0" rtl="0" algn="l">
                <a:spcBef>
                  <a:spcPts val="300"/>
                </a:spcBef>
                <a:spcAft>
                  <a:spcPts val="0"/>
                </a:spcAft>
                <a:buNone/>
              </a:pPr>
              <a:r>
                <a:rPr b="1" lang="es" sz="1100">
                  <a:solidFill>
                    <a:srgbClr val="10B981"/>
                  </a:solidFill>
                  <a:latin typeface="Montserrat"/>
                  <a:ea typeface="Montserrat"/>
                  <a:cs typeface="Montserrat"/>
                  <a:sym typeface="Montserrat"/>
                </a:rPr>
                <a:t>Desacoplamiento</a:t>
              </a:r>
              <a:r>
                <a:rPr b="0" lang="es" sz="1100">
                  <a:solidFill>
                    <a:srgbClr val="F1F5F9"/>
                  </a:solidFill>
                  <a:latin typeface="Arial"/>
                  <a:ea typeface="Arial"/>
                  <a:cs typeface="Arial"/>
                  <a:sym typeface="Arial"/>
                </a:rPr>
                <a:t> de capas clave: Extracción, Transformación y Carga.</a:t>
              </a:r>
              <a:endParaRPr b="0" sz="1100">
                <a:solidFill>
                  <a:srgbClr val="F1F5F9"/>
                </a:solidFill>
                <a:latin typeface="Arial"/>
                <a:ea typeface="Arial"/>
                <a:cs typeface="Arial"/>
                <a:sym typeface="Arial"/>
              </a:endParaRPr>
            </a:p>
          </p:txBody>
        </p:sp>
      </p:grpSp>
      <p:grpSp>
        <p:nvGrpSpPr>
          <p:cNvPr id="201" name="Google Shape;201;p17"/>
          <p:cNvGrpSpPr/>
          <p:nvPr/>
        </p:nvGrpSpPr>
        <p:grpSpPr>
          <a:xfrm>
            <a:off x="3038475" y="1371600"/>
            <a:ext cx="5353200" cy="3257700"/>
            <a:chOff x="3038475" y="1371600"/>
            <a:chExt cx="5353200" cy="3257700"/>
          </a:xfrm>
        </p:grpSpPr>
        <p:pic>
          <p:nvPicPr>
            <p:cNvPr id="202" name="Google Shape;202;p17"/>
            <p:cNvPicPr preferRelativeResize="0"/>
            <p:nvPr/>
          </p:nvPicPr>
          <p:blipFill rotWithShape="1">
            <a:blip r:embed="rId3">
              <a:alphaModFix/>
            </a:blip>
            <a:srcRect b="0" l="0" r="0" t="0"/>
            <a:stretch/>
          </p:blipFill>
          <p:spPr>
            <a:xfrm>
              <a:off x="3038475" y="1371600"/>
              <a:ext cx="5353200" cy="3257700"/>
            </a:xfrm>
            <a:prstGeom prst="rect">
              <a:avLst/>
            </a:prstGeom>
            <a:noFill/>
            <a:ln>
              <a:noFill/>
            </a:ln>
          </p:spPr>
        </p:pic>
        <p:sp>
          <p:nvSpPr>
            <p:cNvPr id="203" name="Google Shape;203;p17"/>
            <p:cNvSpPr txBox="1"/>
            <p:nvPr/>
          </p:nvSpPr>
          <p:spPr>
            <a:xfrm>
              <a:off x="3048000" y="1381125"/>
              <a:ext cx="5334000" cy="3238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1200">
                  <a:solidFill>
                    <a:srgbClr val="94A3B8"/>
                  </a:solidFill>
                  <a:latin typeface="Montserrat"/>
                  <a:ea typeface="Montserrat"/>
                  <a:cs typeface="Montserrat"/>
                  <a:sym typeface="Montserrat"/>
                </a:rPr>
                <a:t>Espacio reservado para Diagrama UML</a:t>
              </a:r>
              <a:endParaRPr b="1" sz="1200">
                <a:solidFill>
                  <a:srgbClr val="94A3B8"/>
                </a:solidFill>
                <a:latin typeface="Montserrat"/>
                <a:ea typeface="Montserrat"/>
                <a:cs typeface="Montserrat"/>
                <a:sym typeface="Montserrat"/>
              </a:endParaRPr>
            </a:p>
            <a:p>
              <a:pPr indent="0" lvl="0" marL="0" rtl="0" algn="ctr">
                <a:spcBef>
                  <a:spcPts val="600"/>
                </a:spcBef>
                <a:spcAft>
                  <a:spcPts val="0"/>
                </a:spcAft>
                <a:buNone/>
              </a:pPr>
              <a:r>
                <a:rPr b="0" lang="es" sz="1000">
                  <a:solidFill>
                    <a:srgbClr val="475569"/>
                  </a:solidFill>
                  <a:latin typeface="Arial"/>
                  <a:ea typeface="Arial"/>
                  <a:cs typeface="Arial"/>
                  <a:sym typeface="Arial"/>
                </a:rPr>
                <a:t>(Ocupa el 80% del área de contenido)</a:t>
              </a:r>
              <a:endParaRPr b="0" sz="1000">
                <a:solidFill>
                  <a:srgbClr val="475569"/>
                </a:solidFill>
                <a:latin typeface="Arial"/>
                <a:ea typeface="Arial"/>
                <a:cs typeface="Arial"/>
                <a:sym typeface="Arial"/>
              </a:endParaRPr>
            </a:p>
          </p:txBody>
        </p:sp>
      </p:grpSp>
      <p:grpSp>
        <p:nvGrpSpPr>
          <p:cNvPr id="204" name="Google Shape;204;p17"/>
          <p:cNvGrpSpPr/>
          <p:nvPr/>
        </p:nvGrpSpPr>
        <p:grpSpPr>
          <a:xfrm>
            <a:off x="762000" y="4762500"/>
            <a:ext cx="1619400" cy="142800"/>
            <a:chOff x="762000" y="4762500"/>
            <a:chExt cx="1619400" cy="142800"/>
          </a:xfrm>
        </p:grpSpPr>
        <p:sp>
          <p:nvSpPr>
            <p:cNvPr id="205" name="Google Shape;205;p17"/>
            <p:cNvSpPr/>
            <p:nvPr/>
          </p:nvSpPr>
          <p:spPr>
            <a:xfrm>
              <a:off x="762000" y="476250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6" name="Google Shape;206;p17"/>
            <p:cNvSpPr txBox="1"/>
            <p:nvPr/>
          </p:nvSpPr>
          <p:spPr>
            <a:xfrm>
              <a:off x="762000" y="476250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3B82F6"/>
                  </a:solidFill>
                  <a:latin typeface="Arial"/>
                  <a:ea typeface="Arial"/>
                  <a:cs typeface="Arial"/>
                  <a:sym typeface="Arial"/>
                </a:rPr>
                <a:t>PNUD</a:t>
              </a:r>
              <a:endParaRPr b="0" sz="650">
                <a:solidFill>
                  <a:srgbClr val="3B82F6"/>
                </a:solidFill>
                <a:latin typeface="Arial"/>
                <a:ea typeface="Arial"/>
                <a:cs typeface="Arial"/>
                <a:sym typeface="Arial"/>
              </a:endParaRPr>
            </a:p>
          </p:txBody>
        </p:sp>
        <p:sp>
          <p:nvSpPr>
            <p:cNvPr id="207" name="Google Shape;207;p17"/>
            <p:cNvSpPr/>
            <p:nvPr/>
          </p:nvSpPr>
          <p:spPr>
            <a:xfrm>
              <a:off x="1333500" y="476250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08" name="Google Shape;208;p17"/>
            <p:cNvSpPr txBox="1"/>
            <p:nvPr/>
          </p:nvSpPr>
          <p:spPr>
            <a:xfrm>
              <a:off x="1333500" y="476250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10B981"/>
                  </a:solidFill>
                  <a:latin typeface="Arial"/>
                  <a:ea typeface="Arial"/>
                  <a:cs typeface="Arial"/>
                  <a:sym typeface="Arial"/>
                </a:rPr>
                <a:t>MSPAS</a:t>
              </a:r>
              <a:endParaRPr b="0" sz="650">
                <a:solidFill>
                  <a:srgbClr val="10B981"/>
                </a:solidFill>
                <a:latin typeface="Arial"/>
                <a:ea typeface="Arial"/>
                <a:cs typeface="Arial"/>
                <a:sym typeface="Arial"/>
              </a:endParaRPr>
            </a:p>
          </p:txBody>
        </p:sp>
        <p:sp>
          <p:nvSpPr>
            <p:cNvPr id="209" name="Google Shape;209;p17"/>
            <p:cNvSpPr/>
            <p:nvPr/>
          </p:nvSpPr>
          <p:spPr>
            <a:xfrm>
              <a:off x="1905000" y="476250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0" name="Google Shape;210;p17"/>
            <p:cNvSpPr txBox="1"/>
            <p:nvPr/>
          </p:nvSpPr>
          <p:spPr>
            <a:xfrm>
              <a:off x="1905000" y="476250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94A3B8"/>
                  </a:solidFill>
                  <a:latin typeface="Arial"/>
                  <a:ea typeface="Arial"/>
                  <a:cs typeface="Arial"/>
                  <a:sym typeface="Arial"/>
                </a:rPr>
                <a:t>USAC</a:t>
              </a:r>
              <a:endParaRPr b="0" sz="650">
                <a:solidFill>
                  <a:srgbClr val="94A3B8"/>
                </a:solidFill>
                <a:latin typeface="Arial"/>
                <a:ea typeface="Arial"/>
                <a:cs typeface="Arial"/>
                <a:sym typeface="Arial"/>
              </a:endParaRPr>
            </a:p>
          </p:txBody>
        </p:sp>
      </p:grpSp>
      <p:pic>
        <p:nvPicPr>
          <p:cNvPr id="211" name="Google Shape;211;p17" title="Diagrama_Despliegue_Final.png"/>
          <p:cNvPicPr preferRelativeResize="0"/>
          <p:nvPr/>
        </p:nvPicPr>
        <p:blipFill>
          <a:blip r:embed="rId4">
            <a:alphaModFix/>
          </a:blip>
          <a:stretch>
            <a:fillRect/>
          </a:stretch>
        </p:blipFill>
        <p:spPr>
          <a:xfrm>
            <a:off x="2751425" y="1220325"/>
            <a:ext cx="6202076" cy="380339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15" name="Shape 215"/>
        <p:cNvGrpSpPr/>
        <p:nvPr/>
      </p:nvGrpSpPr>
      <p:grpSpPr>
        <a:xfrm>
          <a:off x="0" y="0"/>
          <a:ext cx="0" cy="0"/>
          <a:chOff x="0" y="0"/>
          <a:chExt cx="0" cy="0"/>
        </a:xfrm>
      </p:grpSpPr>
      <p:grpSp>
        <p:nvGrpSpPr>
          <p:cNvPr id="216" name="Google Shape;216;p18"/>
          <p:cNvGrpSpPr/>
          <p:nvPr/>
        </p:nvGrpSpPr>
        <p:grpSpPr>
          <a:xfrm>
            <a:off x="4953000" y="381000"/>
            <a:ext cx="4000500" cy="4953000"/>
            <a:chOff x="4953000" y="381000"/>
            <a:chExt cx="4000500" cy="4953000"/>
          </a:xfrm>
        </p:grpSpPr>
        <p:sp>
          <p:nvSpPr>
            <p:cNvPr id="217" name="Google Shape;217;p18"/>
            <p:cNvSpPr/>
            <p:nvPr/>
          </p:nvSpPr>
          <p:spPr>
            <a:xfrm>
              <a:off x="6286500" y="381000"/>
              <a:ext cx="2667000" cy="2667000"/>
            </a:xfrm>
            <a:prstGeom prst="ellipse">
              <a:avLst/>
            </a:prstGeom>
            <a:solidFill>
              <a:srgbClr val="3B82F6">
                <a:alpha val="5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8" name="Google Shape;218;p18"/>
            <p:cNvSpPr/>
            <p:nvPr/>
          </p:nvSpPr>
          <p:spPr>
            <a:xfrm>
              <a:off x="7048500" y="1143000"/>
              <a:ext cx="1714500" cy="1714500"/>
            </a:xfrm>
            <a:prstGeom prst="ellipse">
              <a:avLst/>
            </a:prstGeom>
            <a:solidFill>
              <a:srgbClr val="10B981">
                <a:alpha val="3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19" name="Google Shape;219;p18"/>
            <p:cNvSpPr/>
            <p:nvPr/>
          </p:nvSpPr>
          <p:spPr>
            <a:xfrm>
              <a:off x="4953000" y="1905000"/>
              <a:ext cx="3429000" cy="3429000"/>
            </a:xfrm>
            <a:prstGeom prst="ellipse">
              <a:avLst/>
            </a:prstGeom>
            <a:solidFill>
              <a:srgbClr val="021329"/>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20" name="Google Shape;220;p18"/>
          <p:cNvGrpSpPr/>
          <p:nvPr/>
        </p:nvGrpSpPr>
        <p:grpSpPr>
          <a:xfrm>
            <a:off x="762000" y="428625"/>
            <a:ext cx="7620000" cy="714525"/>
            <a:chOff x="762000" y="428625"/>
            <a:chExt cx="7620000" cy="714525"/>
          </a:xfrm>
        </p:grpSpPr>
        <p:sp>
          <p:nvSpPr>
            <p:cNvPr id="221" name="Google Shape;221;p18"/>
            <p:cNvSpPr txBox="1"/>
            <p:nvPr/>
          </p:nvSpPr>
          <p:spPr>
            <a:xfrm>
              <a:off x="762000" y="428625"/>
              <a:ext cx="7620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000">
                  <a:solidFill>
                    <a:srgbClr val="10B981"/>
                  </a:solidFill>
                  <a:latin typeface="Montserrat"/>
                  <a:ea typeface="Montserrat"/>
                  <a:cs typeface="Montserrat"/>
                  <a:sym typeface="Montserrat"/>
                </a:rPr>
                <a:t>Plataforma de Inteligencia Epidemiológica</a:t>
              </a:r>
              <a:endParaRPr b="1" sz="1000">
                <a:solidFill>
                  <a:srgbClr val="10B981"/>
                </a:solidFill>
                <a:latin typeface="Montserrat"/>
                <a:ea typeface="Montserrat"/>
                <a:cs typeface="Montserrat"/>
                <a:sym typeface="Montserrat"/>
              </a:endParaRPr>
            </a:p>
          </p:txBody>
        </p:sp>
        <p:sp>
          <p:nvSpPr>
            <p:cNvPr id="222" name="Google Shape;222;p18"/>
            <p:cNvSpPr txBox="1"/>
            <p:nvPr/>
          </p:nvSpPr>
          <p:spPr>
            <a:xfrm>
              <a:off x="762000" y="666750"/>
              <a:ext cx="7620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s" sz="2400">
                  <a:solidFill>
                    <a:srgbClr val="FFFFFF"/>
                  </a:solidFill>
                  <a:latin typeface="Montserrat ExtraBold"/>
                  <a:ea typeface="Montserrat ExtraBold"/>
                  <a:cs typeface="Montserrat ExtraBold"/>
                  <a:sym typeface="Montserrat ExtraBold"/>
                </a:rPr>
                <a:t>El Motor ETL - AWS Glue (Serverless)</a:t>
              </a:r>
              <a:endParaRPr b="0" sz="2400">
                <a:solidFill>
                  <a:srgbClr val="FFFFFF"/>
                </a:solidFill>
                <a:latin typeface="Montserrat ExtraBold"/>
                <a:ea typeface="Montserrat ExtraBold"/>
                <a:cs typeface="Montserrat ExtraBold"/>
                <a:sym typeface="Montserrat ExtraBold"/>
              </a:endParaRPr>
            </a:p>
          </p:txBody>
        </p:sp>
      </p:grpSp>
      <p:grpSp>
        <p:nvGrpSpPr>
          <p:cNvPr id="223" name="Google Shape;223;p18"/>
          <p:cNvGrpSpPr/>
          <p:nvPr/>
        </p:nvGrpSpPr>
        <p:grpSpPr>
          <a:xfrm>
            <a:off x="762000" y="1381125"/>
            <a:ext cx="3429000" cy="3000300"/>
            <a:chOff x="762000" y="1381125"/>
            <a:chExt cx="3429000" cy="3000300"/>
          </a:xfrm>
        </p:grpSpPr>
        <p:sp>
          <p:nvSpPr>
            <p:cNvPr id="224" name="Google Shape;224;p18"/>
            <p:cNvSpPr/>
            <p:nvPr/>
          </p:nvSpPr>
          <p:spPr>
            <a:xfrm>
              <a:off x="762000" y="1381125"/>
              <a:ext cx="3429000" cy="904800"/>
            </a:xfrm>
            <a:prstGeom prst="roundRect">
              <a:avLst>
                <a:gd fmla="val 12631"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5" name="Google Shape;225;p18"/>
            <p:cNvSpPr txBox="1"/>
            <p:nvPr/>
          </p:nvSpPr>
          <p:spPr>
            <a:xfrm>
              <a:off x="952500" y="1476375"/>
              <a:ext cx="3048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100">
                  <a:solidFill>
                    <a:srgbClr val="10B981"/>
                  </a:solidFill>
                  <a:latin typeface="Montserrat"/>
                  <a:ea typeface="Montserrat"/>
                  <a:cs typeface="Montserrat"/>
                  <a:sym typeface="Montserrat"/>
                </a:rPr>
                <a:t>Cómputo Serverless</a:t>
              </a:r>
              <a:endParaRPr b="1" sz="1100">
                <a:solidFill>
                  <a:srgbClr val="10B981"/>
                </a:solidFill>
                <a:latin typeface="Montserrat"/>
                <a:ea typeface="Montserrat"/>
                <a:cs typeface="Montserrat"/>
                <a:sym typeface="Montserrat"/>
              </a:endParaRPr>
            </a:p>
            <a:p>
              <a:pPr indent="0" lvl="0" marL="0" rtl="0" algn="l">
                <a:spcBef>
                  <a:spcPts val="300"/>
                </a:spcBef>
                <a:spcAft>
                  <a:spcPts val="0"/>
                </a:spcAft>
                <a:buNone/>
              </a:pPr>
              <a:r>
                <a:rPr b="0" lang="es" sz="1050">
                  <a:solidFill>
                    <a:srgbClr val="F1F5F9"/>
                  </a:solidFill>
                  <a:latin typeface="Montserrat"/>
                  <a:ea typeface="Montserrat"/>
                  <a:cs typeface="Montserrat"/>
                  <a:sym typeface="Montserrat"/>
                </a:rPr>
                <a:t>Cero administración de servidores. Escalabilidad automática con cobro por DPU </a:t>
              </a:r>
              <a:r>
                <a:rPr b="0" lang="es" sz="1050">
                  <a:solidFill>
                    <a:srgbClr val="3B82F6"/>
                  </a:solidFill>
                  <a:latin typeface="Montserrat SemiBold"/>
                  <a:ea typeface="Montserrat SemiBold"/>
                  <a:cs typeface="Montserrat SemiBold"/>
                  <a:sym typeface="Montserrat SemiBold"/>
                </a:rPr>
                <a:t>(Data Processing Unit)</a:t>
              </a:r>
              <a:r>
                <a:rPr b="0" lang="es" sz="1050">
                  <a:solidFill>
                    <a:srgbClr val="F1F5F9"/>
                  </a:solidFill>
                  <a:latin typeface="Montserrat"/>
                  <a:ea typeface="Montserrat"/>
                  <a:cs typeface="Montserrat"/>
                  <a:sym typeface="Montserrat"/>
                </a:rPr>
                <a:t>.</a:t>
              </a:r>
              <a:endParaRPr b="0" sz="1050">
                <a:solidFill>
                  <a:srgbClr val="F1F5F9"/>
                </a:solidFill>
                <a:latin typeface="Montserrat"/>
                <a:ea typeface="Montserrat"/>
                <a:cs typeface="Montserrat"/>
                <a:sym typeface="Montserrat"/>
              </a:endParaRPr>
            </a:p>
          </p:txBody>
        </p:sp>
        <p:sp>
          <p:nvSpPr>
            <p:cNvPr id="226" name="Google Shape;226;p18"/>
            <p:cNvSpPr/>
            <p:nvPr/>
          </p:nvSpPr>
          <p:spPr>
            <a:xfrm>
              <a:off x="762000" y="2428875"/>
              <a:ext cx="3429000" cy="904800"/>
            </a:xfrm>
            <a:prstGeom prst="roundRect">
              <a:avLst>
                <a:gd fmla="val 12631"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7" name="Google Shape;227;p18"/>
            <p:cNvSpPr txBox="1"/>
            <p:nvPr/>
          </p:nvSpPr>
          <p:spPr>
            <a:xfrm>
              <a:off x="952500" y="2524125"/>
              <a:ext cx="3048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100">
                  <a:solidFill>
                    <a:srgbClr val="10B981"/>
                  </a:solidFill>
                  <a:latin typeface="Montserrat"/>
                  <a:ea typeface="Montserrat"/>
                  <a:cs typeface="Montserrat"/>
                  <a:sym typeface="Montserrat"/>
                </a:rPr>
                <a:t>Python Shell</a:t>
              </a:r>
              <a:endParaRPr b="1" sz="1100">
                <a:solidFill>
                  <a:srgbClr val="10B981"/>
                </a:solidFill>
                <a:latin typeface="Montserrat"/>
                <a:ea typeface="Montserrat"/>
                <a:cs typeface="Montserrat"/>
                <a:sym typeface="Montserrat"/>
              </a:endParaRPr>
            </a:p>
            <a:p>
              <a:pPr indent="0" lvl="0" marL="0" rtl="0" algn="l">
                <a:spcBef>
                  <a:spcPts val="300"/>
                </a:spcBef>
                <a:spcAft>
                  <a:spcPts val="0"/>
                </a:spcAft>
                <a:buNone/>
              </a:pPr>
              <a:r>
                <a:rPr b="0" lang="es" sz="1050">
                  <a:solidFill>
                    <a:srgbClr val="F1F5F9"/>
                  </a:solidFill>
                  <a:latin typeface="Montserrat"/>
                  <a:ea typeface="Montserrat"/>
                  <a:cs typeface="Montserrat"/>
                  <a:sym typeface="Montserrat"/>
                </a:rPr>
                <a:t>Entorno altamente ligero y rentable para tareas de integración que no requieren clústeres Spark completos.</a:t>
              </a:r>
              <a:endParaRPr b="0" sz="1050">
                <a:solidFill>
                  <a:srgbClr val="F1F5F9"/>
                </a:solidFill>
                <a:latin typeface="Montserrat"/>
                <a:ea typeface="Montserrat"/>
                <a:cs typeface="Montserrat"/>
                <a:sym typeface="Montserrat"/>
              </a:endParaRPr>
            </a:p>
          </p:txBody>
        </p:sp>
        <p:sp>
          <p:nvSpPr>
            <p:cNvPr id="228" name="Google Shape;228;p18"/>
            <p:cNvSpPr/>
            <p:nvPr/>
          </p:nvSpPr>
          <p:spPr>
            <a:xfrm>
              <a:off x="762000" y="3476625"/>
              <a:ext cx="3429000" cy="904800"/>
            </a:xfrm>
            <a:prstGeom prst="roundRect">
              <a:avLst>
                <a:gd fmla="val 12631"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29" name="Google Shape;229;p18"/>
            <p:cNvSpPr txBox="1"/>
            <p:nvPr/>
          </p:nvSpPr>
          <p:spPr>
            <a:xfrm>
              <a:off x="952500" y="3571875"/>
              <a:ext cx="3048000" cy="714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100">
                  <a:solidFill>
                    <a:srgbClr val="10B981"/>
                  </a:solidFill>
                  <a:latin typeface="Montserrat"/>
                  <a:ea typeface="Montserrat"/>
                  <a:cs typeface="Montserrat"/>
                  <a:sym typeface="Montserrat"/>
                </a:rPr>
                <a:t>Ejecución Orientada a Eventos</a:t>
              </a:r>
              <a:endParaRPr b="1" sz="1100">
                <a:solidFill>
                  <a:srgbClr val="10B981"/>
                </a:solidFill>
                <a:latin typeface="Montserrat"/>
                <a:ea typeface="Montserrat"/>
                <a:cs typeface="Montserrat"/>
                <a:sym typeface="Montserrat"/>
              </a:endParaRPr>
            </a:p>
            <a:p>
              <a:pPr indent="0" lvl="0" marL="0" rtl="0" algn="l">
                <a:spcBef>
                  <a:spcPts val="300"/>
                </a:spcBef>
                <a:spcAft>
                  <a:spcPts val="0"/>
                </a:spcAft>
                <a:buNone/>
              </a:pPr>
              <a:r>
                <a:rPr b="0" lang="es" sz="1050">
                  <a:solidFill>
                    <a:srgbClr val="F1F5F9"/>
                  </a:solidFill>
                  <a:latin typeface="Montserrat"/>
                  <a:ea typeface="Montserrat"/>
                  <a:cs typeface="Montserrat"/>
                  <a:sym typeface="Montserrat"/>
                </a:rPr>
                <a:t>Jobs orquestados por triggers automatizados y completamente aislados </a:t>
              </a:r>
              <a:r>
                <a:rPr b="0" lang="es" sz="1050">
                  <a:solidFill>
                    <a:srgbClr val="3B82F6"/>
                  </a:solidFill>
                  <a:latin typeface="Montserrat SemiBold"/>
                  <a:ea typeface="Montserrat SemiBold"/>
                  <a:cs typeface="Montserrat SemiBold"/>
                  <a:sym typeface="Montserrat SemiBold"/>
                </a:rPr>
                <a:t>(Extract, Transform, Load)</a:t>
              </a:r>
              <a:r>
                <a:rPr b="0" lang="es" sz="1050">
                  <a:solidFill>
                    <a:srgbClr val="F1F5F9"/>
                  </a:solidFill>
                  <a:latin typeface="Montserrat"/>
                  <a:ea typeface="Montserrat"/>
                  <a:cs typeface="Montserrat"/>
                  <a:sym typeface="Montserrat"/>
                </a:rPr>
                <a:t>.</a:t>
              </a:r>
              <a:endParaRPr b="0" sz="1050">
                <a:solidFill>
                  <a:srgbClr val="F1F5F9"/>
                </a:solidFill>
                <a:latin typeface="Montserrat"/>
                <a:ea typeface="Montserrat"/>
                <a:cs typeface="Montserrat"/>
                <a:sym typeface="Montserrat"/>
              </a:endParaRPr>
            </a:p>
          </p:txBody>
        </p:sp>
      </p:grpSp>
      <p:grpSp>
        <p:nvGrpSpPr>
          <p:cNvPr id="230" name="Google Shape;230;p18"/>
          <p:cNvGrpSpPr/>
          <p:nvPr/>
        </p:nvGrpSpPr>
        <p:grpSpPr>
          <a:xfrm>
            <a:off x="4429125" y="1381125"/>
            <a:ext cx="4000500" cy="3000300"/>
            <a:chOff x="4429125" y="1381125"/>
            <a:chExt cx="4000500" cy="3000300"/>
          </a:xfrm>
        </p:grpSpPr>
        <p:sp>
          <p:nvSpPr>
            <p:cNvPr id="231" name="Google Shape;231;p18"/>
            <p:cNvSpPr/>
            <p:nvPr/>
          </p:nvSpPr>
          <p:spPr>
            <a:xfrm>
              <a:off x="4429125" y="1381125"/>
              <a:ext cx="4000500" cy="3000300"/>
            </a:xfrm>
            <a:prstGeom prst="roundRect">
              <a:avLst>
                <a:gd fmla="val 5079" name="adj"/>
              </a:avLst>
            </a:prstGeom>
            <a:solidFill>
              <a:srgbClr val="0B1E36">
                <a:alpha val="4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32" name="Google Shape;232;p18"/>
            <p:cNvPicPr preferRelativeResize="0"/>
            <p:nvPr/>
          </p:nvPicPr>
          <p:blipFill rotWithShape="1">
            <a:blip r:embed="rId4">
              <a:alphaModFix/>
            </a:blip>
            <a:srcRect b="0" l="0" r="0" t="0"/>
            <a:stretch/>
          </p:blipFill>
          <p:spPr>
            <a:xfrm>
              <a:off x="5524500" y="2847975"/>
              <a:ext cx="476400" cy="19200"/>
            </a:xfrm>
            <a:prstGeom prst="rect">
              <a:avLst/>
            </a:prstGeom>
            <a:noFill/>
            <a:ln>
              <a:noFill/>
            </a:ln>
          </p:spPr>
        </p:pic>
        <p:pic>
          <p:nvPicPr>
            <p:cNvPr id="233" name="Google Shape;233;p18"/>
            <p:cNvPicPr preferRelativeResize="0"/>
            <p:nvPr/>
          </p:nvPicPr>
          <p:blipFill rotWithShape="1">
            <a:blip r:embed="rId5">
              <a:alphaModFix/>
            </a:blip>
            <a:srcRect b="0" l="0" r="0" t="0"/>
            <a:stretch/>
          </p:blipFill>
          <p:spPr>
            <a:xfrm>
              <a:off x="6953250" y="2847975"/>
              <a:ext cx="476400" cy="19200"/>
            </a:xfrm>
            <a:prstGeom prst="rect">
              <a:avLst/>
            </a:prstGeom>
            <a:noFill/>
            <a:ln>
              <a:noFill/>
            </a:ln>
          </p:spPr>
        </p:pic>
        <p:sp>
          <p:nvSpPr>
            <p:cNvPr id="234" name="Google Shape;234;p18"/>
            <p:cNvSpPr/>
            <p:nvPr/>
          </p:nvSpPr>
          <p:spPr>
            <a:xfrm>
              <a:off x="4857750" y="2524125"/>
              <a:ext cx="666900" cy="666900"/>
            </a:xfrm>
            <a:prstGeom prst="ellipse">
              <a:avLst/>
            </a:prstGeom>
            <a:solidFill>
              <a:srgbClr val="1E293B"/>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35" name="Google Shape;235;p18"/>
            <p:cNvSpPr txBox="1"/>
            <p:nvPr/>
          </p:nvSpPr>
          <p:spPr>
            <a:xfrm>
              <a:off x="5000625" y="2702052"/>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2400">
                  <a:solidFill>
                    <a:srgbClr val="3B82F6"/>
                  </a:solidFill>
                  <a:latin typeface="Material Icons"/>
                  <a:ea typeface="Material Icons"/>
                  <a:cs typeface="Material Icons"/>
                  <a:sym typeface="Material Icons"/>
                </a:rPr>
                <a:t>code</a:t>
              </a:r>
              <a:endParaRPr sz="2400">
                <a:solidFill>
                  <a:srgbClr val="3B82F6"/>
                </a:solidFill>
                <a:latin typeface="Material Icons"/>
                <a:ea typeface="Material Icons"/>
                <a:cs typeface="Material Icons"/>
                <a:sym typeface="Material Icons"/>
              </a:endParaRPr>
            </a:p>
          </p:txBody>
        </p:sp>
        <p:sp>
          <p:nvSpPr>
            <p:cNvPr id="236" name="Google Shape;236;p18"/>
            <p:cNvSpPr txBox="1"/>
            <p:nvPr/>
          </p:nvSpPr>
          <p:spPr>
            <a:xfrm>
              <a:off x="4810125" y="3286125"/>
              <a:ext cx="7620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900">
                  <a:solidFill>
                    <a:srgbClr val="94A3B8"/>
                  </a:solidFill>
                  <a:latin typeface="Montserrat"/>
                  <a:ea typeface="Montserrat"/>
                  <a:cs typeface="Montserrat"/>
                  <a:sym typeface="Montserrat"/>
                </a:rPr>
                <a:t>Python Scripts</a:t>
              </a:r>
              <a:endParaRPr b="1" sz="900">
                <a:solidFill>
                  <a:srgbClr val="94A3B8"/>
                </a:solidFill>
                <a:latin typeface="Montserrat"/>
                <a:ea typeface="Montserrat"/>
                <a:cs typeface="Montserrat"/>
                <a:sym typeface="Montserrat"/>
              </a:endParaRPr>
            </a:p>
          </p:txBody>
        </p:sp>
        <p:sp>
          <p:nvSpPr>
            <p:cNvPr id="237" name="Google Shape;237;p18"/>
            <p:cNvSpPr/>
            <p:nvPr/>
          </p:nvSpPr>
          <p:spPr>
            <a:xfrm>
              <a:off x="6000750" y="2381250"/>
              <a:ext cx="952500" cy="952500"/>
            </a:xfrm>
            <a:prstGeom prst="ellipse">
              <a:avLst/>
            </a:prstGeom>
            <a:solidFill>
              <a:srgbClr val="0B1E36"/>
            </a:solidFill>
            <a:ln cap="flat" cmpd="sng" w="1905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238" name="Google Shape;238;p18"/>
            <p:cNvPicPr preferRelativeResize="0"/>
            <p:nvPr/>
          </p:nvPicPr>
          <p:blipFill rotWithShape="1">
            <a:blip r:embed="rId6">
              <a:alphaModFix/>
            </a:blip>
            <a:srcRect b="0" l="0" r="0" t="0"/>
            <a:stretch/>
          </p:blipFill>
          <p:spPr>
            <a:xfrm>
              <a:off x="6072188" y="2452688"/>
              <a:ext cx="809700" cy="809700"/>
            </a:xfrm>
            <a:prstGeom prst="rect">
              <a:avLst/>
            </a:prstGeom>
            <a:noFill/>
            <a:ln>
              <a:noFill/>
            </a:ln>
          </p:spPr>
        </p:pic>
        <p:sp>
          <p:nvSpPr>
            <p:cNvPr id="239" name="Google Shape;239;p18"/>
            <p:cNvSpPr txBox="1"/>
            <p:nvPr/>
          </p:nvSpPr>
          <p:spPr>
            <a:xfrm>
              <a:off x="6191250" y="2624328"/>
              <a:ext cx="571500" cy="571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3600">
                  <a:solidFill>
                    <a:srgbClr val="10B981"/>
                  </a:solidFill>
                  <a:latin typeface="Material Icons"/>
                  <a:ea typeface="Material Icons"/>
                  <a:cs typeface="Material Icons"/>
                  <a:sym typeface="Material Icons"/>
                </a:rPr>
                <a:t>bolt</a:t>
              </a:r>
              <a:endParaRPr sz="3600">
                <a:solidFill>
                  <a:srgbClr val="10B981"/>
                </a:solidFill>
                <a:latin typeface="Material Icons"/>
                <a:ea typeface="Material Icons"/>
                <a:cs typeface="Material Icons"/>
                <a:sym typeface="Material Icons"/>
              </a:endParaRPr>
            </a:p>
          </p:txBody>
        </p:sp>
        <p:sp>
          <p:nvSpPr>
            <p:cNvPr id="240" name="Google Shape;240;p18"/>
            <p:cNvSpPr txBox="1"/>
            <p:nvPr/>
          </p:nvSpPr>
          <p:spPr>
            <a:xfrm>
              <a:off x="6000750" y="3429000"/>
              <a:ext cx="9525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1000">
                  <a:solidFill>
                    <a:srgbClr val="FFFFFF"/>
                  </a:solidFill>
                  <a:latin typeface="Montserrat ExtraBold"/>
                  <a:ea typeface="Montserrat ExtraBold"/>
                  <a:cs typeface="Montserrat ExtraBold"/>
                  <a:sym typeface="Montserrat ExtraBold"/>
                </a:rPr>
                <a:t>AWS GLUE</a:t>
              </a:r>
              <a:endParaRPr b="0" sz="1000">
                <a:solidFill>
                  <a:srgbClr val="FFFFFF"/>
                </a:solidFill>
                <a:latin typeface="Montserrat ExtraBold"/>
                <a:ea typeface="Montserrat ExtraBold"/>
                <a:cs typeface="Montserrat ExtraBold"/>
                <a:sym typeface="Montserrat ExtraBold"/>
              </a:endParaRPr>
            </a:p>
          </p:txBody>
        </p:sp>
        <p:grpSp>
          <p:nvGrpSpPr>
            <p:cNvPr id="241" name="Google Shape;241;p18"/>
            <p:cNvGrpSpPr/>
            <p:nvPr/>
          </p:nvGrpSpPr>
          <p:grpSpPr>
            <a:xfrm>
              <a:off x="7610475" y="2371725"/>
              <a:ext cx="590550" cy="971550"/>
              <a:chOff x="7610475" y="2371725"/>
              <a:chExt cx="590550" cy="971550"/>
            </a:xfrm>
          </p:grpSpPr>
          <p:sp>
            <p:nvSpPr>
              <p:cNvPr id="242" name="Google Shape;242;p18"/>
              <p:cNvSpPr/>
              <p:nvPr/>
            </p:nvSpPr>
            <p:spPr>
              <a:xfrm>
                <a:off x="7610475" y="2371725"/>
                <a:ext cx="304800" cy="304800"/>
              </a:xfrm>
              <a:prstGeom prst="ellipse">
                <a:avLst/>
              </a:prstGeom>
              <a:solidFill>
                <a:srgbClr val="1E293B"/>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3" name="Google Shape;243;p18"/>
              <p:cNvSpPr/>
              <p:nvPr/>
            </p:nvSpPr>
            <p:spPr>
              <a:xfrm>
                <a:off x="7610475" y="3038475"/>
                <a:ext cx="304800" cy="304800"/>
              </a:xfrm>
              <a:prstGeom prst="ellipse">
                <a:avLst/>
              </a:prstGeom>
              <a:solidFill>
                <a:srgbClr val="1E293B"/>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44" name="Google Shape;244;p18"/>
              <p:cNvSpPr/>
              <p:nvPr/>
            </p:nvSpPr>
            <p:spPr>
              <a:xfrm>
                <a:off x="7896225" y="2705100"/>
                <a:ext cx="304800" cy="304800"/>
              </a:xfrm>
              <a:prstGeom prst="ellipse">
                <a:avLst/>
              </a:prstGeom>
              <a:solidFill>
                <a:srgbClr val="1E293B"/>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cxnSp>
            <p:nvCxnSpPr>
              <p:cNvPr id="245" name="Google Shape;245;p18"/>
              <p:cNvCxnSpPr/>
              <p:nvPr/>
            </p:nvCxnSpPr>
            <p:spPr>
              <a:xfrm>
                <a:off x="7762875" y="2676525"/>
                <a:ext cx="0" cy="362100"/>
              </a:xfrm>
              <a:prstGeom prst="straightConnector1">
                <a:avLst/>
              </a:prstGeom>
              <a:solidFill>
                <a:srgbClr val="FFFFFF"/>
              </a:solidFill>
              <a:ln cap="flat" cmpd="sng" w="14300">
                <a:solidFill>
                  <a:srgbClr val="3B82F6"/>
                </a:solidFill>
                <a:prstDash val="solid"/>
                <a:round/>
                <a:headEnd len="sm" w="sm" type="none"/>
                <a:tailEnd len="sm" w="sm" type="none"/>
              </a:ln>
            </p:spPr>
          </p:cxnSp>
          <p:cxnSp>
            <p:nvCxnSpPr>
              <p:cNvPr id="246" name="Google Shape;246;p18"/>
              <p:cNvCxnSpPr/>
              <p:nvPr/>
            </p:nvCxnSpPr>
            <p:spPr>
              <a:xfrm>
                <a:off x="7762875" y="2524125"/>
                <a:ext cx="285900" cy="333300"/>
              </a:xfrm>
              <a:prstGeom prst="straightConnector1">
                <a:avLst/>
              </a:prstGeom>
              <a:solidFill>
                <a:srgbClr val="FFFFFF"/>
              </a:solidFill>
              <a:ln cap="flat" cmpd="sng" w="14300">
                <a:solidFill>
                  <a:srgbClr val="3B82F6"/>
                </a:solidFill>
                <a:prstDash val="solid"/>
                <a:round/>
                <a:headEnd len="sm" w="sm" type="none"/>
                <a:tailEnd len="sm" w="sm" type="none"/>
              </a:ln>
            </p:spPr>
          </p:cxnSp>
          <p:cxnSp>
            <p:nvCxnSpPr>
              <p:cNvPr id="247" name="Google Shape;247;p18"/>
              <p:cNvCxnSpPr/>
              <p:nvPr/>
            </p:nvCxnSpPr>
            <p:spPr>
              <a:xfrm flipH="1" rot="10800000">
                <a:off x="7762875" y="2857575"/>
                <a:ext cx="285900" cy="333300"/>
              </a:xfrm>
              <a:prstGeom prst="straightConnector1">
                <a:avLst/>
              </a:prstGeom>
              <a:solidFill>
                <a:srgbClr val="FFFFFF"/>
              </a:solidFill>
              <a:ln cap="flat" cmpd="sng" w="14300">
                <a:solidFill>
                  <a:srgbClr val="3B82F6"/>
                </a:solidFill>
                <a:prstDash val="solid"/>
                <a:round/>
                <a:headEnd len="sm" w="sm" type="none"/>
                <a:tailEnd len="sm" w="sm" type="none"/>
              </a:ln>
            </p:spPr>
          </p:cxnSp>
          <p:sp>
            <p:nvSpPr>
              <p:cNvPr id="248" name="Google Shape;248;p18"/>
              <p:cNvSpPr txBox="1"/>
              <p:nvPr/>
            </p:nvSpPr>
            <p:spPr>
              <a:xfrm>
                <a:off x="7667625" y="244494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935">
                    <a:solidFill>
                      <a:srgbClr val="3B82F6"/>
                    </a:solidFill>
                    <a:latin typeface="Material Icons"/>
                    <a:ea typeface="Material Icons"/>
                    <a:cs typeface="Material Icons"/>
                    <a:sym typeface="Material Icons"/>
                  </a:rPr>
                  <a:t>dns</a:t>
                </a:r>
                <a:endParaRPr sz="935">
                  <a:solidFill>
                    <a:srgbClr val="3B82F6"/>
                  </a:solidFill>
                  <a:latin typeface="Material Icons"/>
                  <a:ea typeface="Material Icons"/>
                  <a:cs typeface="Material Icons"/>
                  <a:sym typeface="Material Icons"/>
                </a:endParaRPr>
              </a:p>
            </p:txBody>
          </p:sp>
          <p:sp>
            <p:nvSpPr>
              <p:cNvPr id="249" name="Google Shape;249;p18"/>
              <p:cNvSpPr txBox="1"/>
              <p:nvPr/>
            </p:nvSpPr>
            <p:spPr>
              <a:xfrm>
                <a:off x="7667625" y="3111691"/>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935">
                    <a:solidFill>
                      <a:srgbClr val="3B82F6"/>
                    </a:solidFill>
                    <a:latin typeface="Material Icons"/>
                    <a:ea typeface="Material Icons"/>
                    <a:cs typeface="Material Icons"/>
                    <a:sym typeface="Material Icons"/>
                  </a:rPr>
                  <a:t>dns</a:t>
                </a:r>
                <a:endParaRPr sz="935">
                  <a:solidFill>
                    <a:srgbClr val="3B82F6"/>
                  </a:solidFill>
                  <a:latin typeface="Material Icons"/>
                  <a:ea typeface="Material Icons"/>
                  <a:cs typeface="Material Icons"/>
                  <a:sym typeface="Material Icons"/>
                </a:endParaRPr>
              </a:p>
            </p:txBody>
          </p:sp>
          <p:sp>
            <p:nvSpPr>
              <p:cNvPr id="250" name="Google Shape;250;p18"/>
              <p:cNvSpPr txBox="1"/>
              <p:nvPr/>
            </p:nvSpPr>
            <p:spPr>
              <a:xfrm>
                <a:off x="7953375" y="2778316"/>
                <a:ext cx="1905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935">
                    <a:solidFill>
                      <a:srgbClr val="3B82F6"/>
                    </a:solidFill>
                    <a:latin typeface="Material Icons"/>
                    <a:ea typeface="Material Icons"/>
                    <a:cs typeface="Material Icons"/>
                    <a:sym typeface="Material Icons"/>
                  </a:rPr>
                  <a:t>dns</a:t>
                </a:r>
                <a:endParaRPr sz="935">
                  <a:solidFill>
                    <a:srgbClr val="3B82F6"/>
                  </a:solidFill>
                  <a:latin typeface="Material Icons"/>
                  <a:ea typeface="Material Icons"/>
                  <a:cs typeface="Material Icons"/>
                  <a:sym typeface="Material Icons"/>
                </a:endParaRPr>
              </a:p>
            </p:txBody>
          </p:sp>
        </p:grpSp>
        <p:sp>
          <p:nvSpPr>
            <p:cNvPr id="251" name="Google Shape;251;p18"/>
            <p:cNvSpPr txBox="1"/>
            <p:nvPr/>
          </p:nvSpPr>
          <p:spPr>
            <a:xfrm>
              <a:off x="7477125" y="3429000"/>
              <a:ext cx="857400" cy="2859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900">
                  <a:solidFill>
                    <a:srgbClr val="94A3B8"/>
                  </a:solidFill>
                  <a:latin typeface="Montserrat"/>
                  <a:ea typeface="Montserrat"/>
                  <a:cs typeface="Montserrat"/>
                  <a:sym typeface="Montserrat"/>
                </a:rPr>
                <a:t>Scaling Nodes</a:t>
              </a:r>
              <a:br>
                <a:rPr b="1" lang="es" sz="900">
                  <a:solidFill>
                    <a:srgbClr val="94A3B8"/>
                  </a:solidFill>
                  <a:latin typeface="Montserrat"/>
                  <a:ea typeface="Montserrat"/>
                  <a:cs typeface="Montserrat"/>
                  <a:sym typeface="Montserrat"/>
                </a:rPr>
              </a:br>
              <a:r>
                <a:rPr b="1" lang="es" sz="800">
                  <a:solidFill>
                    <a:srgbClr val="10B981"/>
                  </a:solidFill>
                  <a:latin typeface="Montserrat"/>
                  <a:ea typeface="Montserrat"/>
                  <a:cs typeface="Montserrat"/>
                  <a:sym typeface="Montserrat"/>
                </a:rPr>
                <a:t>(DPU Pool)</a:t>
              </a:r>
              <a:endParaRPr b="1" sz="900">
                <a:solidFill>
                  <a:srgbClr val="94A3B8"/>
                </a:solidFill>
                <a:latin typeface="Montserrat"/>
                <a:ea typeface="Montserrat"/>
                <a:cs typeface="Montserrat"/>
                <a:sym typeface="Montserrat"/>
              </a:endParaRPr>
            </a:p>
          </p:txBody>
        </p:sp>
        <p:pic>
          <p:nvPicPr>
            <p:cNvPr id="252" name="Google Shape;252;p18"/>
            <p:cNvPicPr preferRelativeResize="0"/>
            <p:nvPr/>
          </p:nvPicPr>
          <p:blipFill rotWithShape="1">
            <a:blip r:embed="rId7">
              <a:alphaModFix/>
            </a:blip>
            <a:srcRect b="0" l="0" r="0" t="0"/>
            <a:stretch/>
          </p:blipFill>
          <p:spPr>
            <a:xfrm>
              <a:off x="5000625" y="1995488"/>
              <a:ext cx="2857500" cy="9600"/>
            </a:xfrm>
            <a:prstGeom prst="rect">
              <a:avLst/>
            </a:prstGeom>
            <a:noFill/>
            <a:ln>
              <a:noFill/>
            </a:ln>
          </p:spPr>
        </p:pic>
        <p:sp>
          <p:nvSpPr>
            <p:cNvPr id="253" name="Google Shape;253;p18"/>
            <p:cNvSpPr/>
            <p:nvPr/>
          </p:nvSpPr>
          <p:spPr>
            <a:xfrm>
              <a:off x="4972050" y="1971675"/>
              <a:ext cx="57300" cy="573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4" name="Google Shape;254;p18"/>
            <p:cNvSpPr/>
            <p:nvPr/>
          </p:nvSpPr>
          <p:spPr>
            <a:xfrm>
              <a:off x="7829550" y="1971675"/>
              <a:ext cx="57300" cy="573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5" name="Google Shape;255;p18"/>
            <p:cNvSpPr txBox="1"/>
            <p:nvPr/>
          </p:nvSpPr>
          <p:spPr>
            <a:xfrm>
              <a:off x="5095875" y="1857375"/>
              <a:ext cx="2667000" cy="1905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800">
                  <a:solidFill>
                    <a:srgbClr val="10B981"/>
                  </a:solidFill>
                  <a:latin typeface="Montserrat"/>
                  <a:ea typeface="Montserrat"/>
                  <a:cs typeface="Montserrat"/>
                  <a:sym typeface="Montserrat"/>
                </a:rPr>
                <a:t>Orquestación Serverless Activa</a:t>
              </a:r>
              <a:endParaRPr b="1" sz="800">
                <a:solidFill>
                  <a:srgbClr val="10B981"/>
                </a:solidFill>
                <a:latin typeface="Montserrat"/>
                <a:ea typeface="Montserrat"/>
                <a:cs typeface="Montserrat"/>
                <a:sym typeface="Montserrat"/>
              </a:endParaRPr>
            </a:p>
          </p:txBody>
        </p:sp>
      </p:grpSp>
      <p:grpSp>
        <p:nvGrpSpPr>
          <p:cNvPr id="256" name="Google Shape;256;p18"/>
          <p:cNvGrpSpPr/>
          <p:nvPr/>
        </p:nvGrpSpPr>
        <p:grpSpPr>
          <a:xfrm>
            <a:off x="762000" y="4667250"/>
            <a:ext cx="1619400" cy="142800"/>
            <a:chOff x="762000" y="4667250"/>
            <a:chExt cx="1619400" cy="142800"/>
          </a:xfrm>
        </p:grpSpPr>
        <p:sp>
          <p:nvSpPr>
            <p:cNvPr id="257" name="Google Shape;257;p18"/>
            <p:cNvSpPr/>
            <p:nvPr/>
          </p:nvSpPr>
          <p:spPr>
            <a:xfrm>
              <a:off x="762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58" name="Google Shape;258;p18"/>
            <p:cNvSpPr txBox="1"/>
            <p:nvPr/>
          </p:nvSpPr>
          <p:spPr>
            <a:xfrm>
              <a:off x="762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3B82F6"/>
                  </a:solidFill>
                  <a:latin typeface="Arial"/>
                  <a:ea typeface="Arial"/>
                  <a:cs typeface="Arial"/>
                  <a:sym typeface="Arial"/>
                </a:rPr>
                <a:t>PNUD</a:t>
              </a:r>
              <a:endParaRPr b="0" sz="650">
                <a:solidFill>
                  <a:srgbClr val="3B82F6"/>
                </a:solidFill>
                <a:latin typeface="Arial"/>
                <a:ea typeface="Arial"/>
                <a:cs typeface="Arial"/>
                <a:sym typeface="Arial"/>
              </a:endParaRPr>
            </a:p>
          </p:txBody>
        </p:sp>
        <p:sp>
          <p:nvSpPr>
            <p:cNvPr id="259" name="Google Shape;259;p18"/>
            <p:cNvSpPr/>
            <p:nvPr/>
          </p:nvSpPr>
          <p:spPr>
            <a:xfrm>
              <a:off x="13335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0" name="Google Shape;260;p18"/>
            <p:cNvSpPr txBox="1"/>
            <p:nvPr/>
          </p:nvSpPr>
          <p:spPr>
            <a:xfrm>
              <a:off x="13335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10B981"/>
                  </a:solidFill>
                  <a:latin typeface="Arial"/>
                  <a:ea typeface="Arial"/>
                  <a:cs typeface="Arial"/>
                  <a:sym typeface="Arial"/>
                </a:rPr>
                <a:t>MSPAS</a:t>
              </a:r>
              <a:endParaRPr b="0" sz="650">
                <a:solidFill>
                  <a:srgbClr val="10B981"/>
                </a:solidFill>
                <a:latin typeface="Arial"/>
                <a:ea typeface="Arial"/>
                <a:cs typeface="Arial"/>
                <a:sym typeface="Arial"/>
              </a:endParaRPr>
            </a:p>
          </p:txBody>
        </p:sp>
        <p:sp>
          <p:nvSpPr>
            <p:cNvPr id="261" name="Google Shape;261;p18"/>
            <p:cNvSpPr/>
            <p:nvPr/>
          </p:nvSpPr>
          <p:spPr>
            <a:xfrm>
              <a:off x="1905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62" name="Google Shape;262;p18"/>
            <p:cNvSpPr txBox="1"/>
            <p:nvPr/>
          </p:nvSpPr>
          <p:spPr>
            <a:xfrm>
              <a:off x="1905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94A3B8"/>
                  </a:solidFill>
                  <a:latin typeface="Arial"/>
                  <a:ea typeface="Arial"/>
                  <a:cs typeface="Arial"/>
                  <a:sym typeface="Arial"/>
                </a:rPr>
                <a:t>USAC</a:t>
              </a:r>
              <a:endParaRPr b="0" sz="650">
                <a:solidFill>
                  <a:srgbClr val="94A3B8"/>
                </a:solidFill>
                <a:latin typeface="Arial"/>
                <a:ea typeface="Arial"/>
                <a:cs typeface="Arial"/>
                <a:sym typeface="Arial"/>
              </a:endParaRPr>
            </a:p>
          </p:txBody>
        </p:sp>
      </p:gr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9"/>
          <p:cNvSpPr/>
          <p:nvPr/>
        </p:nvSpPr>
        <p:spPr>
          <a:xfrm>
            <a:off x="0" y="0"/>
            <a:ext cx="9144000" cy="5143500"/>
          </a:xfrm>
          <a:prstGeom prst="rect">
            <a:avLst/>
          </a:prstGeom>
          <a:solidFill>
            <a:srgbClr val="020B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68" name="Google Shape;268;p19"/>
          <p:cNvGrpSpPr/>
          <p:nvPr/>
        </p:nvGrpSpPr>
        <p:grpSpPr>
          <a:xfrm>
            <a:off x="4953000" y="381000"/>
            <a:ext cx="4000500" cy="4953000"/>
            <a:chOff x="4953000" y="381000"/>
            <a:chExt cx="4000500" cy="4953000"/>
          </a:xfrm>
        </p:grpSpPr>
        <p:sp>
          <p:nvSpPr>
            <p:cNvPr id="269" name="Google Shape;269;p19"/>
            <p:cNvSpPr/>
            <p:nvPr/>
          </p:nvSpPr>
          <p:spPr>
            <a:xfrm>
              <a:off x="6286500" y="381000"/>
              <a:ext cx="2667000" cy="2667000"/>
            </a:xfrm>
            <a:prstGeom prst="ellipse">
              <a:avLst/>
            </a:prstGeom>
            <a:solidFill>
              <a:srgbClr val="3B82F6">
                <a:alpha val="5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0" name="Google Shape;270;p19"/>
            <p:cNvSpPr/>
            <p:nvPr/>
          </p:nvSpPr>
          <p:spPr>
            <a:xfrm>
              <a:off x="7048500" y="1143000"/>
              <a:ext cx="1714500" cy="1714500"/>
            </a:xfrm>
            <a:prstGeom prst="ellipse">
              <a:avLst/>
            </a:prstGeom>
            <a:solidFill>
              <a:srgbClr val="10B981">
                <a:alpha val="3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1" name="Google Shape;271;p19"/>
            <p:cNvSpPr/>
            <p:nvPr/>
          </p:nvSpPr>
          <p:spPr>
            <a:xfrm>
              <a:off x="4953000" y="1905000"/>
              <a:ext cx="3429000" cy="3429000"/>
            </a:xfrm>
            <a:prstGeom prst="ellipse">
              <a:avLst/>
            </a:prstGeom>
            <a:solidFill>
              <a:srgbClr val="021329"/>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72" name="Google Shape;272;p19"/>
          <p:cNvGrpSpPr/>
          <p:nvPr/>
        </p:nvGrpSpPr>
        <p:grpSpPr>
          <a:xfrm>
            <a:off x="762000" y="428625"/>
            <a:ext cx="7620000" cy="714525"/>
            <a:chOff x="762000" y="428625"/>
            <a:chExt cx="7620000" cy="714525"/>
          </a:xfrm>
        </p:grpSpPr>
        <p:sp>
          <p:nvSpPr>
            <p:cNvPr id="273" name="Google Shape;273;p19"/>
            <p:cNvSpPr txBox="1"/>
            <p:nvPr/>
          </p:nvSpPr>
          <p:spPr>
            <a:xfrm>
              <a:off x="762000" y="428625"/>
              <a:ext cx="7620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000">
                  <a:solidFill>
                    <a:srgbClr val="10B981"/>
                  </a:solidFill>
                  <a:latin typeface="Montserrat"/>
                  <a:ea typeface="Montserrat"/>
                  <a:cs typeface="Montserrat"/>
                  <a:sym typeface="Montserrat"/>
                </a:rPr>
                <a:t>PLATAFORMA DE INTELIGENCIA EPIDEMIOLÓGICA</a:t>
              </a:r>
              <a:endParaRPr b="1" sz="1000">
                <a:solidFill>
                  <a:srgbClr val="10B981"/>
                </a:solidFill>
                <a:latin typeface="Montserrat"/>
                <a:ea typeface="Montserrat"/>
                <a:cs typeface="Montserrat"/>
                <a:sym typeface="Montserrat"/>
              </a:endParaRPr>
            </a:p>
          </p:txBody>
        </p:sp>
        <p:sp>
          <p:nvSpPr>
            <p:cNvPr id="274" name="Google Shape;274;p19"/>
            <p:cNvSpPr txBox="1"/>
            <p:nvPr/>
          </p:nvSpPr>
          <p:spPr>
            <a:xfrm>
              <a:off x="762000" y="666750"/>
              <a:ext cx="7620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2400">
                  <a:solidFill>
                    <a:srgbClr val="FFFFFF"/>
                  </a:solidFill>
                  <a:latin typeface="Montserrat ExtraBold"/>
                  <a:ea typeface="Montserrat ExtraBold"/>
                  <a:cs typeface="Montserrat ExtraBold"/>
                  <a:sym typeface="Montserrat ExtraBold"/>
                </a:rPr>
                <a:t>Fase 1 - Ingesta de Datos (Capa Sandbox)</a:t>
              </a:r>
              <a:endParaRPr b="0" sz="2400">
                <a:solidFill>
                  <a:srgbClr val="FFFFFF"/>
                </a:solidFill>
                <a:latin typeface="Montserrat ExtraBold"/>
                <a:ea typeface="Montserrat ExtraBold"/>
                <a:cs typeface="Montserrat ExtraBold"/>
                <a:sym typeface="Montserrat ExtraBold"/>
              </a:endParaRPr>
            </a:p>
          </p:txBody>
        </p:sp>
      </p:grpSp>
      <p:grpSp>
        <p:nvGrpSpPr>
          <p:cNvPr id="275" name="Google Shape;275;p19"/>
          <p:cNvGrpSpPr/>
          <p:nvPr/>
        </p:nvGrpSpPr>
        <p:grpSpPr>
          <a:xfrm>
            <a:off x="762000" y="1381125"/>
            <a:ext cx="1905000" cy="3000300"/>
            <a:chOff x="762000" y="1381125"/>
            <a:chExt cx="1905000" cy="3000300"/>
          </a:xfrm>
        </p:grpSpPr>
        <p:sp>
          <p:nvSpPr>
            <p:cNvPr id="276" name="Google Shape;276;p19"/>
            <p:cNvSpPr/>
            <p:nvPr/>
          </p:nvSpPr>
          <p:spPr>
            <a:xfrm>
              <a:off x="762000" y="1381125"/>
              <a:ext cx="1905000" cy="3000300"/>
            </a:xfrm>
            <a:prstGeom prst="roundRect">
              <a:avLst>
                <a:gd fmla="val 6000"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77" name="Google Shape;277;p19"/>
            <p:cNvSpPr txBox="1"/>
            <p:nvPr/>
          </p:nvSpPr>
          <p:spPr>
            <a:xfrm>
              <a:off x="952500" y="1571625"/>
              <a:ext cx="1524000" cy="26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1100">
                  <a:solidFill>
                    <a:srgbClr val="10B981"/>
                  </a:solidFill>
                  <a:latin typeface="Montserrat"/>
                  <a:ea typeface="Montserrat"/>
                  <a:cs typeface="Montserrat"/>
                  <a:sym typeface="Montserrat"/>
                </a:rPr>
                <a:t>ESTRATEGIA</a:t>
              </a:r>
              <a:endParaRPr b="1" sz="1100">
                <a:solidFill>
                  <a:srgbClr val="10B981"/>
                </a:solidFill>
                <a:latin typeface="Montserrat"/>
                <a:ea typeface="Montserrat"/>
                <a:cs typeface="Montserrat"/>
                <a:sym typeface="Montserrat"/>
              </a:endParaRPr>
            </a:p>
            <a:p>
              <a:pPr indent="0" lvl="0" marL="0" rtl="0" algn="l">
                <a:spcBef>
                  <a:spcPts val="300"/>
                </a:spcBef>
                <a:spcAft>
                  <a:spcPts val="0"/>
                </a:spcAft>
                <a:buNone/>
              </a:pPr>
              <a:r>
                <a:rPr b="0" lang="es" sz="1050">
                  <a:solidFill>
                    <a:srgbClr val="F1F5F9"/>
                  </a:solidFill>
                  <a:latin typeface="Arial"/>
                  <a:ea typeface="Arial"/>
                  <a:cs typeface="Arial"/>
                  <a:sym typeface="Arial"/>
                </a:rPr>
                <a:t>Reflejo exacto 1:1 de la fuente original.</a:t>
              </a:r>
              <a:endParaRPr b="0" sz="1050">
                <a:solidFill>
                  <a:srgbClr val="F1F5F9"/>
                </a:solidFill>
                <a:latin typeface="Arial"/>
                <a:ea typeface="Arial"/>
                <a:cs typeface="Arial"/>
                <a:sym typeface="Arial"/>
              </a:endParaRPr>
            </a:p>
          </p:txBody>
        </p:sp>
      </p:grpSp>
      <p:grpSp>
        <p:nvGrpSpPr>
          <p:cNvPr id="278" name="Google Shape;278;p19"/>
          <p:cNvGrpSpPr/>
          <p:nvPr/>
        </p:nvGrpSpPr>
        <p:grpSpPr>
          <a:xfrm>
            <a:off x="3038475" y="1371600"/>
            <a:ext cx="5353200" cy="3019500"/>
            <a:chOff x="3038475" y="1371600"/>
            <a:chExt cx="5353200" cy="3019500"/>
          </a:xfrm>
        </p:grpSpPr>
        <p:pic>
          <p:nvPicPr>
            <p:cNvPr id="279" name="Google Shape;279;p19"/>
            <p:cNvPicPr preferRelativeResize="0"/>
            <p:nvPr/>
          </p:nvPicPr>
          <p:blipFill rotWithShape="1">
            <a:blip r:embed="rId3">
              <a:alphaModFix/>
            </a:blip>
            <a:srcRect b="0" l="0" r="0" t="0"/>
            <a:stretch/>
          </p:blipFill>
          <p:spPr>
            <a:xfrm>
              <a:off x="3038475" y="1371600"/>
              <a:ext cx="5353200" cy="3019500"/>
            </a:xfrm>
            <a:prstGeom prst="rect">
              <a:avLst/>
            </a:prstGeom>
            <a:noFill/>
            <a:ln>
              <a:noFill/>
            </a:ln>
          </p:spPr>
        </p:pic>
        <p:sp>
          <p:nvSpPr>
            <p:cNvPr id="280" name="Google Shape;280;p19"/>
            <p:cNvSpPr txBox="1"/>
            <p:nvPr/>
          </p:nvSpPr>
          <p:spPr>
            <a:xfrm>
              <a:off x="3048000" y="1381125"/>
              <a:ext cx="5334000" cy="3000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1200">
                  <a:solidFill>
                    <a:srgbClr val="94A3B8"/>
                  </a:solidFill>
                  <a:latin typeface="Montserrat"/>
                  <a:ea typeface="Montserrat"/>
                  <a:cs typeface="Montserrat"/>
                  <a:sym typeface="Montserrat"/>
                </a:rPr>
                <a:t>Espacio reservado para Diagrama ERD</a:t>
              </a:r>
              <a:endParaRPr b="1" sz="1200">
                <a:solidFill>
                  <a:srgbClr val="94A3B8"/>
                </a:solidFill>
                <a:latin typeface="Montserrat"/>
                <a:ea typeface="Montserrat"/>
                <a:cs typeface="Montserrat"/>
                <a:sym typeface="Montserrat"/>
              </a:endParaRPr>
            </a:p>
            <a:p>
              <a:pPr indent="0" lvl="0" marL="0" rtl="0" algn="ctr">
                <a:spcBef>
                  <a:spcPts val="600"/>
                </a:spcBef>
                <a:spcAft>
                  <a:spcPts val="0"/>
                </a:spcAft>
                <a:buNone/>
              </a:pPr>
              <a:r>
                <a:rPr lang="es" sz="1000">
                  <a:solidFill>
                    <a:srgbClr val="475569"/>
                  </a:solidFill>
                  <a:latin typeface="Arial"/>
                  <a:ea typeface="Arial"/>
                  <a:cs typeface="Arial"/>
                  <a:sym typeface="Arial"/>
                </a:rPr>
                <a:t>(Ocupa el 80% del área de contenido)</a:t>
              </a:r>
              <a:endParaRPr sz="1000">
                <a:solidFill>
                  <a:srgbClr val="475569"/>
                </a:solidFill>
                <a:latin typeface="Arial"/>
                <a:ea typeface="Arial"/>
                <a:cs typeface="Arial"/>
                <a:sym typeface="Arial"/>
              </a:endParaRPr>
            </a:p>
          </p:txBody>
        </p:sp>
      </p:grpSp>
      <p:grpSp>
        <p:nvGrpSpPr>
          <p:cNvPr id="281" name="Google Shape;281;p19"/>
          <p:cNvGrpSpPr/>
          <p:nvPr/>
        </p:nvGrpSpPr>
        <p:grpSpPr>
          <a:xfrm>
            <a:off x="762000" y="4667250"/>
            <a:ext cx="1619400" cy="142800"/>
            <a:chOff x="762000" y="4667250"/>
            <a:chExt cx="1619400" cy="142800"/>
          </a:xfrm>
        </p:grpSpPr>
        <p:sp>
          <p:nvSpPr>
            <p:cNvPr id="282" name="Google Shape;282;p19"/>
            <p:cNvSpPr/>
            <p:nvPr/>
          </p:nvSpPr>
          <p:spPr>
            <a:xfrm>
              <a:off x="762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3" name="Google Shape;283;p19"/>
            <p:cNvSpPr txBox="1"/>
            <p:nvPr/>
          </p:nvSpPr>
          <p:spPr>
            <a:xfrm>
              <a:off x="762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3B82F6"/>
                  </a:solidFill>
                  <a:latin typeface="Arial"/>
                  <a:ea typeface="Arial"/>
                  <a:cs typeface="Arial"/>
                  <a:sym typeface="Arial"/>
                </a:rPr>
                <a:t>PNUD</a:t>
              </a:r>
              <a:endParaRPr b="0" sz="650">
                <a:solidFill>
                  <a:srgbClr val="3B82F6"/>
                </a:solidFill>
                <a:latin typeface="Arial"/>
                <a:ea typeface="Arial"/>
                <a:cs typeface="Arial"/>
                <a:sym typeface="Arial"/>
              </a:endParaRPr>
            </a:p>
          </p:txBody>
        </p:sp>
        <p:sp>
          <p:nvSpPr>
            <p:cNvPr id="284" name="Google Shape;284;p19"/>
            <p:cNvSpPr/>
            <p:nvPr/>
          </p:nvSpPr>
          <p:spPr>
            <a:xfrm>
              <a:off x="13335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5" name="Google Shape;285;p19"/>
            <p:cNvSpPr txBox="1"/>
            <p:nvPr/>
          </p:nvSpPr>
          <p:spPr>
            <a:xfrm>
              <a:off x="13335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10B981"/>
                  </a:solidFill>
                  <a:latin typeface="Arial"/>
                  <a:ea typeface="Arial"/>
                  <a:cs typeface="Arial"/>
                  <a:sym typeface="Arial"/>
                </a:rPr>
                <a:t>MSPAS</a:t>
              </a:r>
              <a:endParaRPr b="0" sz="650">
                <a:solidFill>
                  <a:srgbClr val="10B981"/>
                </a:solidFill>
                <a:latin typeface="Arial"/>
                <a:ea typeface="Arial"/>
                <a:cs typeface="Arial"/>
                <a:sym typeface="Arial"/>
              </a:endParaRPr>
            </a:p>
          </p:txBody>
        </p:sp>
        <p:sp>
          <p:nvSpPr>
            <p:cNvPr id="286" name="Google Shape;286;p19"/>
            <p:cNvSpPr/>
            <p:nvPr/>
          </p:nvSpPr>
          <p:spPr>
            <a:xfrm>
              <a:off x="1905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87" name="Google Shape;287;p19"/>
            <p:cNvSpPr txBox="1"/>
            <p:nvPr/>
          </p:nvSpPr>
          <p:spPr>
            <a:xfrm>
              <a:off x="1905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94A3B8"/>
                  </a:solidFill>
                  <a:latin typeface="Arial"/>
                  <a:ea typeface="Arial"/>
                  <a:cs typeface="Arial"/>
                  <a:sym typeface="Arial"/>
                </a:rPr>
                <a:t>USAC</a:t>
              </a:r>
              <a:endParaRPr b="0" sz="650">
                <a:solidFill>
                  <a:srgbClr val="94A3B8"/>
                </a:solidFill>
                <a:latin typeface="Arial"/>
                <a:ea typeface="Arial"/>
                <a:cs typeface="Arial"/>
                <a:sym typeface="Arial"/>
              </a:endParaRPr>
            </a:p>
          </p:txBody>
        </p:sp>
      </p:grpSp>
      <p:pic>
        <p:nvPicPr>
          <p:cNvPr id="288" name="Google Shape;288;p19"/>
          <p:cNvPicPr preferRelativeResize="0"/>
          <p:nvPr/>
        </p:nvPicPr>
        <p:blipFill>
          <a:blip r:embed="rId4">
            <a:alphaModFix/>
          </a:blip>
          <a:stretch>
            <a:fillRect/>
          </a:stretch>
        </p:blipFill>
        <p:spPr>
          <a:xfrm>
            <a:off x="2792475" y="1371600"/>
            <a:ext cx="6105249" cy="33783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20"/>
          <p:cNvSpPr/>
          <p:nvPr/>
        </p:nvSpPr>
        <p:spPr>
          <a:xfrm>
            <a:off x="0" y="0"/>
            <a:ext cx="9144000" cy="5143500"/>
          </a:xfrm>
          <a:prstGeom prst="rect">
            <a:avLst/>
          </a:prstGeom>
          <a:solidFill>
            <a:srgbClr val="020B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294" name="Google Shape;294;p20"/>
          <p:cNvGrpSpPr/>
          <p:nvPr/>
        </p:nvGrpSpPr>
        <p:grpSpPr>
          <a:xfrm>
            <a:off x="4953000" y="381000"/>
            <a:ext cx="4000500" cy="4953000"/>
            <a:chOff x="4953000" y="381000"/>
            <a:chExt cx="4000500" cy="4953000"/>
          </a:xfrm>
        </p:grpSpPr>
        <p:sp>
          <p:nvSpPr>
            <p:cNvPr id="295" name="Google Shape;295;p20"/>
            <p:cNvSpPr/>
            <p:nvPr/>
          </p:nvSpPr>
          <p:spPr>
            <a:xfrm>
              <a:off x="6286500" y="381000"/>
              <a:ext cx="2667000" cy="2667000"/>
            </a:xfrm>
            <a:prstGeom prst="ellipse">
              <a:avLst/>
            </a:prstGeom>
            <a:solidFill>
              <a:srgbClr val="3B82F6">
                <a:alpha val="5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6" name="Google Shape;296;p20"/>
            <p:cNvSpPr/>
            <p:nvPr/>
          </p:nvSpPr>
          <p:spPr>
            <a:xfrm>
              <a:off x="7048500" y="1143000"/>
              <a:ext cx="1714500" cy="1714500"/>
            </a:xfrm>
            <a:prstGeom prst="ellipse">
              <a:avLst/>
            </a:prstGeom>
            <a:solidFill>
              <a:srgbClr val="10B981">
                <a:alpha val="3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297" name="Google Shape;297;p20"/>
            <p:cNvSpPr/>
            <p:nvPr/>
          </p:nvSpPr>
          <p:spPr>
            <a:xfrm>
              <a:off x="4953000" y="1905000"/>
              <a:ext cx="3429000" cy="3429000"/>
            </a:xfrm>
            <a:prstGeom prst="ellipse">
              <a:avLst/>
            </a:prstGeom>
            <a:solidFill>
              <a:srgbClr val="021329"/>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298" name="Google Shape;298;p20"/>
          <p:cNvGrpSpPr/>
          <p:nvPr/>
        </p:nvGrpSpPr>
        <p:grpSpPr>
          <a:xfrm>
            <a:off x="762000" y="428625"/>
            <a:ext cx="7620000" cy="714525"/>
            <a:chOff x="762000" y="428625"/>
            <a:chExt cx="7620000" cy="714525"/>
          </a:xfrm>
        </p:grpSpPr>
        <p:sp>
          <p:nvSpPr>
            <p:cNvPr id="299" name="Google Shape;299;p20"/>
            <p:cNvSpPr txBox="1"/>
            <p:nvPr/>
          </p:nvSpPr>
          <p:spPr>
            <a:xfrm>
              <a:off x="762000" y="428625"/>
              <a:ext cx="7620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000">
                  <a:solidFill>
                    <a:srgbClr val="10B981"/>
                  </a:solidFill>
                  <a:latin typeface="Montserrat"/>
                  <a:ea typeface="Montserrat"/>
                  <a:cs typeface="Montserrat"/>
                  <a:sym typeface="Montserrat"/>
                </a:rPr>
                <a:t>PLATAFORMA DE INTELIGENCIA EPIDEMIOLÓGICA</a:t>
              </a:r>
              <a:endParaRPr b="1" sz="1000">
                <a:solidFill>
                  <a:srgbClr val="10B981"/>
                </a:solidFill>
                <a:latin typeface="Montserrat"/>
                <a:ea typeface="Montserrat"/>
                <a:cs typeface="Montserrat"/>
                <a:sym typeface="Montserrat"/>
              </a:endParaRPr>
            </a:p>
          </p:txBody>
        </p:sp>
        <p:sp>
          <p:nvSpPr>
            <p:cNvPr id="300" name="Google Shape;300;p20"/>
            <p:cNvSpPr txBox="1"/>
            <p:nvPr/>
          </p:nvSpPr>
          <p:spPr>
            <a:xfrm>
              <a:off x="762000" y="666750"/>
              <a:ext cx="7620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s" sz="2400">
                  <a:solidFill>
                    <a:srgbClr val="FFFFFF"/>
                  </a:solidFill>
                  <a:latin typeface="Montserrat ExtraBold"/>
                  <a:ea typeface="Montserrat ExtraBold"/>
                  <a:cs typeface="Montserrat ExtraBold"/>
                  <a:sym typeface="Montserrat ExtraBold"/>
                </a:rPr>
                <a:t>Fase 2 - Transformación y Stage (Limpieza)</a:t>
              </a:r>
              <a:endParaRPr b="0" sz="2400">
                <a:solidFill>
                  <a:srgbClr val="FFFFFF"/>
                </a:solidFill>
                <a:latin typeface="Montserrat ExtraBold"/>
                <a:ea typeface="Montserrat ExtraBold"/>
                <a:cs typeface="Montserrat ExtraBold"/>
                <a:sym typeface="Montserrat ExtraBold"/>
              </a:endParaRPr>
            </a:p>
          </p:txBody>
        </p:sp>
      </p:grpSp>
      <p:grpSp>
        <p:nvGrpSpPr>
          <p:cNvPr id="301" name="Google Shape;301;p20"/>
          <p:cNvGrpSpPr/>
          <p:nvPr/>
        </p:nvGrpSpPr>
        <p:grpSpPr>
          <a:xfrm>
            <a:off x="762000" y="1381125"/>
            <a:ext cx="1905000" cy="3000300"/>
            <a:chOff x="762000" y="1381125"/>
            <a:chExt cx="1905000" cy="3000300"/>
          </a:xfrm>
        </p:grpSpPr>
        <p:sp>
          <p:nvSpPr>
            <p:cNvPr id="302" name="Google Shape;302;p20"/>
            <p:cNvSpPr/>
            <p:nvPr/>
          </p:nvSpPr>
          <p:spPr>
            <a:xfrm>
              <a:off x="762000" y="1381125"/>
              <a:ext cx="1905000" cy="3000300"/>
            </a:xfrm>
            <a:prstGeom prst="roundRect">
              <a:avLst>
                <a:gd fmla="val 6000"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3" name="Google Shape;303;p20"/>
            <p:cNvSpPr txBox="1"/>
            <p:nvPr/>
          </p:nvSpPr>
          <p:spPr>
            <a:xfrm>
              <a:off x="904875" y="1571625"/>
              <a:ext cx="1619100" cy="26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1100">
                  <a:solidFill>
                    <a:srgbClr val="10B981"/>
                  </a:solidFill>
                  <a:latin typeface="Montserrat"/>
                  <a:ea typeface="Montserrat"/>
                  <a:cs typeface="Montserrat"/>
                  <a:sym typeface="Montserrat"/>
                </a:rPr>
                <a:t>ESTRATEGIA</a:t>
              </a:r>
              <a:endParaRPr b="1" sz="1100">
                <a:solidFill>
                  <a:srgbClr val="10B981"/>
                </a:solidFill>
                <a:latin typeface="Montserrat"/>
                <a:ea typeface="Montserrat"/>
                <a:cs typeface="Montserrat"/>
                <a:sym typeface="Montserrat"/>
              </a:endParaRPr>
            </a:p>
            <a:p>
              <a:pPr indent="0" lvl="0" marL="0" rtl="0" algn="l">
                <a:spcBef>
                  <a:spcPts val="900"/>
                </a:spcBef>
                <a:spcAft>
                  <a:spcPts val="0"/>
                </a:spcAft>
                <a:buNone/>
              </a:pPr>
              <a:r>
                <a:rPr b="1" lang="es" sz="1050">
                  <a:solidFill>
                    <a:srgbClr val="10B981"/>
                  </a:solidFill>
                  <a:latin typeface="Arial"/>
                  <a:ea typeface="Arial"/>
                  <a:cs typeface="Arial"/>
                  <a:sym typeface="Arial"/>
                </a:rPr>
                <a:t>Limpieza Estructural:</a:t>
              </a:r>
              <a:r>
                <a:rPr b="0" lang="es" sz="1050">
                  <a:solidFill>
                    <a:srgbClr val="F1F5F9"/>
                  </a:solidFill>
                  <a:latin typeface="Arial"/>
                  <a:ea typeface="Arial"/>
                  <a:cs typeface="Arial"/>
                  <a:sym typeface="Arial"/>
                </a:rPr>
                <a:t> Eliminación de duplicados y casteo riguroso de tipos.</a:t>
              </a:r>
              <a:endParaRPr b="0" sz="1050">
                <a:solidFill>
                  <a:srgbClr val="F1F5F9"/>
                </a:solidFill>
                <a:latin typeface="Arial"/>
                <a:ea typeface="Arial"/>
                <a:cs typeface="Arial"/>
                <a:sym typeface="Arial"/>
              </a:endParaRPr>
            </a:p>
            <a:p>
              <a:pPr indent="0" lvl="0" marL="0" rtl="0" algn="l">
                <a:spcBef>
                  <a:spcPts val="600"/>
                </a:spcBef>
                <a:spcAft>
                  <a:spcPts val="0"/>
                </a:spcAft>
                <a:buNone/>
              </a:pPr>
              <a:r>
                <a:rPr b="1" lang="es" sz="1050">
                  <a:solidFill>
                    <a:srgbClr val="10B981"/>
                  </a:solidFill>
                  <a:latin typeface="Arial"/>
                  <a:ea typeface="Arial"/>
                  <a:cs typeface="Arial"/>
                  <a:sym typeface="Arial"/>
                </a:rPr>
                <a:t>Resolución:</a:t>
              </a:r>
              <a:r>
                <a:rPr b="0" lang="es" sz="1050">
                  <a:solidFill>
                    <a:srgbClr val="F1F5F9"/>
                  </a:solidFill>
                  <a:latin typeface="Arial"/>
                  <a:ea typeface="Arial"/>
                  <a:cs typeface="Arial"/>
                  <a:sym typeface="Arial"/>
                </a:rPr>
                <a:t> Cruce en RAM de diccionarios numéricos a texto.</a:t>
              </a:r>
              <a:endParaRPr b="0" sz="1050">
                <a:solidFill>
                  <a:srgbClr val="F1F5F9"/>
                </a:solidFill>
                <a:latin typeface="Arial"/>
                <a:ea typeface="Arial"/>
                <a:cs typeface="Arial"/>
                <a:sym typeface="Arial"/>
              </a:endParaRPr>
            </a:p>
            <a:p>
              <a:pPr indent="0" lvl="0" marL="0" rtl="0" algn="l">
                <a:spcBef>
                  <a:spcPts val="600"/>
                </a:spcBef>
                <a:spcAft>
                  <a:spcPts val="0"/>
                </a:spcAft>
                <a:buNone/>
              </a:pPr>
              <a:r>
                <a:rPr b="1" lang="es" sz="1050">
                  <a:solidFill>
                    <a:srgbClr val="10B981"/>
                  </a:solidFill>
                  <a:latin typeface="Arial"/>
                  <a:ea typeface="Arial"/>
                  <a:cs typeface="Arial"/>
                  <a:sym typeface="Arial"/>
                </a:rPr>
                <a:t>Homologación:</a:t>
              </a:r>
              <a:r>
                <a:rPr b="0" lang="es" sz="1050">
                  <a:solidFill>
                    <a:srgbClr val="F1F5F9"/>
                  </a:solidFill>
                  <a:latin typeface="Arial"/>
                  <a:ea typeface="Arial"/>
                  <a:cs typeface="Arial"/>
                  <a:sym typeface="Arial"/>
                </a:rPr>
                <a:t> Limpieza Regex de códigos CIE-10.</a:t>
              </a:r>
              <a:endParaRPr b="0" sz="1050">
                <a:solidFill>
                  <a:srgbClr val="F1F5F9"/>
                </a:solidFill>
                <a:latin typeface="Arial"/>
                <a:ea typeface="Arial"/>
                <a:cs typeface="Arial"/>
                <a:sym typeface="Arial"/>
              </a:endParaRPr>
            </a:p>
            <a:p>
              <a:pPr indent="0" lvl="0" marL="0" rtl="0" algn="l">
                <a:spcBef>
                  <a:spcPts val="600"/>
                </a:spcBef>
                <a:spcAft>
                  <a:spcPts val="600"/>
                </a:spcAft>
                <a:buNone/>
              </a:pPr>
              <a:r>
                <a:rPr b="1" lang="es" sz="1050">
                  <a:solidFill>
                    <a:srgbClr val="10B981"/>
                  </a:solidFill>
                  <a:latin typeface="Arial"/>
                  <a:ea typeface="Arial"/>
                  <a:cs typeface="Arial"/>
                  <a:sym typeface="Arial"/>
                </a:rPr>
                <a:t>Derivaciones:</a:t>
              </a:r>
              <a:r>
                <a:rPr b="0" lang="es" sz="1050">
                  <a:solidFill>
                    <a:srgbClr val="F1F5F9"/>
                  </a:solidFill>
                  <a:latin typeface="Arial"/>
                  <a:ea typeface="Arial"/>
                  <a:cs typeface="Arial"/>
                  <a:sym typeface="Arial"/>
                </a:rPr>
                <a:t> Clasificación de periodos y grupos etarios.</a:t>
              </a:r>
              <a:endParaRPr b="0" sz="1050">
                <a:solidFill>
                  <a:srgbClr val="F1F5F9"/>
                </a:solidFill>
                <a:latin typeface="Arial"/>
                <a:ea typeface="Arial"/>
                <a:cs typeface="Arial"/>
                <a:sym typeface="Arial"/>
              </a:endParaRPr>
            </a:p>
          </p:txBody>
        </p:sp>
      </p:grpSp>
      <p:grpSp>
        <p:nvGrpSpPr>
          <p:cNvPr id="304" name="Google Shape;304;p20"/>
          <p:cNvGrpSpPr/>
          <p:nvPr/>
        </p:nvGrpSpPr>
        <p:grpSpPr>
          <a:xfrm>
            <a:off x="3048000" y="1381125"/>
            <a:ext cx="5334000" cy="3000300"/>
            <a:chOff x="3048000" y="1381125"/>
            <a:chExt cx="5334000" cy="3000300"/>
          </a:xfrm>
        </p:grpSpPr>
        <p:sp>
          <p:nvSpPr>
            <p:cNvPr id="305" name="Google Shape;305;p20"/>
            <p:cNvSpPr/>
            <p:nvPr/>
          </p:nvSpPr>
          <p:spPr>
            <a:xfrm>
              <a:off x="3048000" y="1381125"/>
              <a:ext cx="5334000" cy="3000300"/>
            </a:xfrm>
            <a:prstGeom prst="roundRect">
              <a:avLst>
                <a:gd fmla="val 5079"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6" name="Google Shape;306;p20"/>
            <p:cNvSpPr txBox="1"/>
            <p:nvPr/>
          </p:nvSpPr>
          <p:spPr>
            <a:xfrm>
              <a:off x="3048000" y="1381125"/>
              <a:ext cx="5334000" cy="3000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1200">
                  <a:solidFill>
                    <a:srgbClr val="94A3B8"/>
                  </a:solidFill>
                  <a:latin typeface="Montserrat"/>
                  <a:ea typeface="Montserrat"/>
                  <a:cs typeface="Montserrat"/>
                  <a:sym typeface="Montserrat"/>
                </a:rPr>
                <a:t>Espacio reservado para Diagrama ERD de Transformación</a:t>
              </a:r>
              <a:endParaRPr b="1" sz="1200">
                <a:solidFill>
                  <a:srgbClr val="94A3B8"/>
                </a:solidFill>
                <a:latin typeface="Montserrat"/>
                <a:ea typeface="Montserrat"/>
                <a:cs typeface="Montserrat"/>
                <a:sym typeface="Montserrat"/>
              </a:endParaRPr>
            </a:p>
            <a:p>
              <a:pPr indent="0" lvl="0" marL="0" rtl="0" algn="ctr">
                <a:spcBef>
                  <a:spcPts val="450"/>
                </a:spcBef>
                <a:spcAft>
                  <a:spcPts val="0"/>
                </a:spcAft>
                <a:buNone/>
              </a:pPr>
              <a:r>
                <a:rPr b="0" lang="es" sz="1000">
                  <a:solidFill>
                    <a:srgbClr val="475569"/>
                  </a:solidFill>
                  <a:latin typeface="Arial"/>
                  <a:ea typeface="Arial"/>
                  <a:cs typeface="Arial"/>
                  <a:sym typeface="Arial"/>
                </a:rPr>
                <a:t>(Ocupa el 80% del área de contenido)</a:t>
              </a:r>
              <a:endParaRPr b="0" sz="1000">
                <a:solidFill>
                  <a:srgbClr val="475569"/>
                </a:solidFill>
                <a:latin typeface="Arial"/>
                <a:ea typeface="Arial"/>
                <a:cs typeface="Arial"/>
                <a:sym typeface="Arial"/>
              </a:endParaRPr>
            </a:p>
          </p:txBody>
        </p:sp>
      </p:grpSp>
      <p:grpSp>
        <p:nvGrpSpPr>
          <p:cNvPr id="307" name="Google Shape;307;p20"/>
          <p:cNvGrpSpPr/>
          <p:nvPr/>
        </p:nvGrpSpPr>
        <p:grpSpPr>
          <a:xfrm>
            <a:off x="762000" y="4667250"/>
            <a:ext cx="1619400" cy="142800"/>
            <a:chOff x="762000" y="4667250"/>
            <a:chExt cx="1619400" cy="142800"/>
          </a:xfrm>
        </p:grpSpPr>
        <p:sp>
          <p:nvSpPr>
            <p:cNvPr id="308" name="Google Shape;308;p20"/>
            <p:cNvSpPr/>
            <p:nvPr/>
          </p:nvSpPr>
          <p:spPr>
            <a:xfrm>
              <a:off x="762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09" name="Google Shape;309;p20"/>
            <p:cNvSpPr txBox="1"/>
            <p:nvPr/>
          </p:nvSpPr>
          <p:spPr>
            <a:xfrm>
              <a:off x="762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3B82F6"/>
                  </a:solidFill>
                  <a:latin typeface="Arial"/>
                  <a:ea typeface="Arial"/>
                  <a:cs typeface="Arial"/>
                  <a:sym typeface="Arial"/>
                </a:rPr>
                <a:t>PNUD</a:t>
              </a:r>
              <a:endParaRPr b="0" sz="650">
                <a:solidFill>
                  <a:srgbClr val="3B82F6"/>
                </a:solidFill>
                <a:latin typeface="Arial"/>
                <a:ea typeface="Arial"/>
                <a:cs typeface="Arial"/>
                <a:sym typeface="Arial"/>
              </a:endParaRPr>
            </a:p>
          </p:txBody>
        </p:sp>
        <p:sp>
          <p:nvSpPr>
            <p:cNvPr id="310" name="Google Shape;310;p20"/>
            <p:cNvSpPr/>
            <p:nvPr/>
          </p:nvSpPr>
          <p:spPr>
            <a:xfrm>
              <a:off x="13335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1" name="Google Shape;311;p20"/>
            <p:cNvSpPr txBox="1"/>
            <p:nvPr/>
          </p:nvSpPr>
          <p:spPr>
            <a:xfrm>
              <a:off x="13335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10B981"/>
                  </a:solidFill>
                  <a:latin typeface="Arial"/>
                  <a:ea typeface="Arial"/>
                  <a:cs typeface="Arial"/>
                  <a:sym typeface="Arial"/>
                </a:rPr>
                <a:t>MSPAS</a:t>
              </a:r>
              <a:endParaRPr b="0" sz="650">
                <a:solidFill>
                  <a:srgbClr val="10B981"/>
                </a:solidFill>
                <a:latin typeface="Arial"/>
                <a:ea typeface="Arial"/>
                <a:cs typeface="Arial"/>
                <a:sym typeface="Arial"/>
              </a:endParaRPr>
            </a:p>
          </p:txBody>
        </p:sp>
        <p:sp>
          <p:nvSpPr>
            <p:cNvPr id="312" name="Google Shape;312;p20"/>
            <p:cNvSpPr/>
            <p:nvPr/>
          </p:nvSpPr>
          <p:spPr>
            <a:xfrm>
              <a:off x="1905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13" name="Google Shape;313;p20"/>
            <p:cNvSpPr txBox="1"/>
            <p:nvPr/>
          </p:nvSpPr>
          <p:spPr>
            <a:xfrm>
              <a:off x="1905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94A3B8"/>
                  </a:solidFill>
                  <a:latin typeface="Arial"/>
                  <a:ea typeface="Arial"/>
                  <a:cs typeface="Arial"/>
                  <a:sym typeface="Arial"/>
                </a:rPr>
                <a:t>USAC</a:t>
              </a:r>
              <a:endParaRPr b="0" sz="650">
                <a:solidFill>
                  <a:srgbClr val="94A3B8"/>
                </a:solidFill>
                <a:latin typeface="Arial"/>
                <a:ea typeface="Arial"/>
                <a:cs typeface="Arial"/>
                <a:sym typeface="Arial"/>
              </a:endParaRPr>
            </a:p>
          </p:txBody>
        </p:sp>
      </p:grpSp>
      <p:pic>
        <p:nvPicPr>
          <p:cNvPr id="314" name="Google Shape;314;p20" title="ERD_Stage.png"/>
          <p:cNvPicPr preferRelativeResize="0"/>
          <p:nvPr/>
        </p:nvPicPr>
        <p:blipFill>
          <a:blip r:embed="rId3">
            <a:alphaModFix/>
          </a:blip>
          <a:stretch>
            <a:fillRect/>
          </a:stretch>
        </p:blipFill>
        <p:spPr>
          <a:xfrm>
            <a:off x="2894000" y="1381125"/>
            <a:ext cx="5798300" cy="32861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B16"/>
        </a:solidFill>
      </p:bgPr>
    </p:bg>
    <p:spTree>
      <p:nvGrpSpPr>
        <p:cNvPr id="318" name="Shape 318"/>
        <p:cNvGrpSpPr/>
        <p:nvPr/>
      </p:nvGrpSpPr>
      <p:grpSpPr>
        <a:xfrm>
          <a:off x="0" y="0"/>
          <a:ext cx="0" cy="0"/>
          <a:chOff x="0" y="0"/>
          <a:chExt cx="0" cy="0"/>
        </a:xfrm>
      </p:grpSpPr>
      <p:grpSp>
        <p:nvGrpSpPr>
          <p:cNvPr id="319" name="Google Shape;319;p21"/>
          <p:cNvGrpSpPr/>
          <p:nvPr/>
        </p:nvGrpSpPr>
        <p:grpSpPr>
          <a:xfrm>
            <a:off x="4953000" y="381000"/>
            <a:ext cx="4000500" cy="4953000"/>
            <a:chOff x="4953000" y="381000"/>
            <a:chExt cx="4000500" cy="4953000"/>
          </a:xfrm>
        </p:grpSpPr>
        <p:sp>
          <p:nvSpPr>
            <p:cNvPr id="320" name="Google Shape;320;p21"/>
            <p:cNvSpPr/>
            <p:nvPr/>
          </p:nvSpPr>
          <p:spPr>
            <a:xfrm>
              <a:off x="6286500" y="381000"/>
              <a:ext cx="2667000" cy="2667000"/>
            </a:xfrm>
            <a:prstGeom prst="ellipse">
              <a:avLst/>
            </a:prstGeom>
            <a:solidFill>
              <a:srgbClr val="3B82F6">
                <a:alpha val="5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1" name="Google Shape;321;p21"/>
            <p:cNvSpPr/>
            <p:nvPr/>
          </p:nvSpPr>
          <p:spPr>
            <a:xfrm>
              <a:off x="7048500" y="1143000"/>
              <a:ext cx="1714500" cy="1714500"/>
            </a:xfrm>
            <a:prstGeom prst="ellipse">
              <a:avLst/>
            </a:prstGeom>
            <a:solidFill>
              <a:srgbClr val="10B981">
                <a:alpha val="3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2" name="Google Shape;322;p21"/>
            <p:cNvSpPr/>
            <p:nvPr/>
          </p:nvSpPr>
          <p:spPr>
            <a:xfrm>
              <a:off x="4953000" y="1905000"/>
              <a:ext cx="3429000" cy="3429000"/>
            </a:xfrm>
            <a:prstGeom prst="ellipse">
              <a:avLst/>
            </a:prstGeom>
            <a:solidFill>
              <a:srgbClr val="021329"/>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23" name="Google Shape;323;p21"/>
          <p:cNvGrpSpPr/>
          <p:nvPr/>
        </p:nvGrpSpPr>
        <p:grpSpPr>
          <a:xfrm>
            <a:off x="762000" y="428625"/>
            <a:ext cx="7620000" cy="714525"/>
            <a:chOff x="762000" y="428625"/>
            <a:chExt cx="7620000" cy="714525"/>
          </a:xfrm>
        </p:grpSpPr>
        <p:sp>
          <p:nvSpPr>
            <p:cNvPr id="324" name="Google Shape;324;p21"/>
            <p:cNvSpPr txBox="1"/>
            <p:nvPr/>
          </p:nvSpPr>
          <p:spPr>
            <a:xfrm>
              <a:off x="762000" y="428625"/>
              <a:ext cx="7620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000">
                  <a:solidFill>
                    <a:srgbClr val="10B981"/>
                  </a:solidFill>
                  <a:latin typeface="Montserrat"/>
                  <a:ea typeface="Montserrat"/>
                  <a:cs typeface="Montserrat"/>
                  <a:sym typeface="Montserrat"/>
                </a:rPr>
                <a:t>PLATAFORMA DE INTELIGENCIA EPIDEMIOLÓGICA</a:t>
              </a:r>
              <a:endParaRPr b="1" sz="1000">
                <a:solidFill>
                  <a:srgbClr val="10B981"/>
                </a:solidFill>
                <a:latin typeface="Montserrat"/>
                <a:ea typeface="Montserrat"/>
                <a:cs typeface="Montserrat"/>
                <a:sym typeface="Montserrat"/>
              </a:endParaRPr>
            </a:p>
          </p:txBody>
        </p:sp>
        <p:sp>
          <p:nvSpPr>
            <p:cNvPr id="325" name="Google Shape;325;p21"/>
            <p:cNvSpPr txBox="1"/>
            <p:nvPr/>
          </p:nvSpPr>
          <p:spPr>
            <a:xfrm>
              <a:off x="762000" y="666750"/>
              <a:ext cx="7620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s" sz="2400">
                  <a:solidFill>
                    <a:srgbClr val="FFFFFF"/>
                  </a:solidFill>
                  <a:latin typeface="Montserrat ExtraBold"/>
                  <a:ea typeface="Montserrat ExtraBold"/>
                  <a:cs typeface="Montserrat ExtraBold"/>
                  <a:sym typeface="Montserrat ExtraBold"/>
                </a:rPr>
                <a:t>Fase 3 - El Data Warehouse Central</a:t>
              </a:r>
              <a:endParaRPr b="0" sz="2400">
                <a:solidFill>
                  <a:srgbClr val="FFFFFF"/>
                </a:solidFill>
                <a:latin typeface="Montserrat ExtraBold"/>
                <a:ea typeface="Montserrat ExtraBold"/>
                <a:cs typeface="Montserrat ExtraBold"/>
                <a:sym typeface="Montserrat ExtraBold"/>
              </a:endParaRPr>
            </a:p>
          </p:txBody>
        </p:sp>
      </p:grpSp>
      <p:grpSp>
        <p:nvGrpSpPr>
          <p:cNvPr id="326" name="Google Shape;326;p21"/>
          <p:cNvGrpSpPr/>
          <p:nvPr/>
        </p:nvGrpSpPr>
        <p:grpSpPr>
          <a:xfrm>
            <a:off x="762000" y="1381125"/>
            <a:ext cx="1905000" cy="3000300"/>
            <a:chOff x="762000" y="1381125"/>
            <a:chExt cx="1905000" cy="3000300"/>
          </a:xfrm>
        </p:grpSpPr>
        <p:sp>
          <p:nvSpPr>
            <p:cNvPr id="327" name="Google Shape;327;p21"/>
            <p:cNvSpPr/>
            <p:nvPr/>
          </p:nvSpPr>
          <p:spPr>
            <a:xfrm>
              <a:off x="762000" y="1381125"/>
              <a:ext cx="1905000" cy="3000300"/>
            </a:xfrm>
            <a:prstGeom prst="roundRect">
              <a:avLst>
                <a:gd fmla="val 6000"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28" name="Google Shape;328;p21"/>
            <p:cNvSpPr txBox="1"/>
            <p:nvPr/>
          </p:nvSpPr>
          <p:spPr>
            <a:xfrm>
              <a:off x="904875" y="1571625"/>
              <a:ext cx="1619100" cy="26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1018">
                  <a:solidFill>
                    <a:srgbClr val="10B981"/>
                  </a:solidFill>
                  <a:latin typeface="Montserrat"/>
                  <a:ea typeface="Montserrat"/>
                  <a:cs typeface="Montserrat"/>
                  <a:sym typeface="Montserrat"/>
                </a:rPr>
                <a:t>ESTRATEGIA</a:t>
              </a:r>
              <a:endParaRPr b="1" sz="1018">
                <a:solidFill>
                  <a:srgbClr val="10B981"/>
                </a:solidFill>
                <a:latin typeface="Montserrat"/>
                <a:ea typeface="Montserrat"/>
                <a:cs typeface="Montserrat"/>
                <a:sym typeface="Montserrat"/>
              </a:endParaRPr>
            </a:p>
            <a:p>
              <a:pPr indent="0" lvl="0" marL="0" rtl="0" algn="l">
                <a:spcBef>
                  <a:spcPts val="900"/>
                </a:spcBef>
                <a:spcAft>
                  <a:spcPts val="0"/>
                </a:spcAft>
                <a:buNone/>
              </a:pPr>
              <a:r>
                <a:rPr b="1" lang="es" sz="1018">
                  <a:solidFill>
                    <a:srgbClr val="10B981"/>
                  </a:solidFill>
                  <a:latin typeface="Arial"/>
                  <a:ea typeface="Arial"/>
                  <a:cs typeface="Arial"/>
                  <a:sym typeface="Arial"/>
                </a:rPr>
                <a:t>Galaxy Schema:</a:t>
              </a:r>
              <a:br>
                <a:rPr lang="es" sz="1295"/>
              </a:br>
              <a:r>
                <a:rPr b="0" lang="es" sz="971">
                  <a:solidFill>
                    <a:srgbClr val="F1F5F9"/>
                  </a:solidFill>
                  <a:latin typeface="Arial"/>
                  <a:ea typeface="Arial"/>
                  <a:cs typeface="Arial"/>
                  <a:sym typeface="Arial"/>
                </a:rPr>
                <a:t>Múltiples Tablas de Hechos compartiendo Dimensiones Conformadas.</a:t>
              </a:r>
              <a:endParaRPr sz="1295"/>
            </a:p>
            <a:p>
              <a:pPr indent="0" lvl="0" marL="0" rtl="0" algn="l">
                <a:spcBef>
                  <a:spcPts val="900"/>
                </a:spcBef>
                <a:spcAft>
                  <a:spcPts val="0"/>
                </a:spcAft>
                <a:buNone/>
              </a:pPr>
              <a:r>
                <a:rPr b="1" lang="es" sz="1018">
                  <a:solidFill>
                    <a:srgbClr val="10B981"/>
                  </a:solidFill>
                  <a:latin typeface="Arial"/>
                  <a:ea typeface="Arial"/>
                  <a:cs typeface="Arial"/>
                  <a:sym typeface="Arial"/>
                </a:rPr>
                <a:t>Idempotencia:</a:t>
              </a:r>
              <a:br>
                <a:rPr lang="es" sz="1295"/>
              </a:br>
              <a:r>
                <a:rPr b="0" lang="es" sz="971">
                  <a:solidFill>
                    <a:srgbClr val="F1F5F9"/>
                  </a:solidFill>
                  <a:latin typeface="Arial"/>
                  <a:ea typeface="Arial"/>
                  <a:cs typeface="Arial"/>
                  <a:sym typeface="Arial"/>
                </a:rPr>
                <a:t>Garantía de carga UPSERT mediante lógica ON CONFLICT DO NOTHING.</a:t>
              </a:r>
              <a:endParaRPr sz="1295"/>
            </a:p>
            <a:p>
              <a:pPr indent="0" lvl="0" marL="0" rtl="0" algn="l">
                <a:spcBef>
                  <a:spcPts val="900"/>
                </a:spcBef>
                <a:spcAft>
                  <a:spcPts val="900"/>
                </a:spcAft>
                <a:buNone/>
              </a:pPr>
              <a:r>
                <a:rPr b="1" lang="es" sz="1018">
                  <a:solidFill>
                    <a:srgbClr val="10B981"/>
                  </a:solidFill>
                  <a:latin typeface="Arial"/>
                  <a:ea typeface="Arial"/>
                  <a:cs typeface="Arial"/>
                  <a:sym typeface="Arial"/>
                </a:rPr>
                <a:t>Integridad:</a:t>
              </a:r>
              <a:br>
                <a:rPr lang="es" sz="1295"/>
              </a:br>
              <a:r>
                <a:rPr b="0" lang="es" sz="971">
                  <a:solidFill>
                    <a:srgbClr val="F1F5F9"/>
                  </a:solidFill>
                  <a:latin typeface="Arial"/>
                  <a:ea typeface="Arial"/>
                  <a:cs typeface="Arial"/>
                  <a:sym typeface="Arial"/>
                </a:rPr>
                <a:t>Llaves foráneas físicas y validación estricta anti-huérfanos.</a:t>
              </a:r>
              <a:endParaRPr sz="1295"/>
            </a:p>
          </p:txBody>
        </p:sp>
      </p:grpSp>
      <p:grpSp>
        <p:nvGrpSpPr>
          <p:cNvPr id="329" name="Google Shape;329;p21"/>
          <p:cNvGrpSpPr/>
          <p:nvPr/>
        </p:nvGrpSpPr>
        <p:grpSpPr>
          <a:xfrm>
            <a:off x="3048000" y="1381125"/>
            <a:ext cx="5334000" cy="3000300"/>
            <a:chOff x="3048000" y="1381125"/>
            <a:chExt cx="5334000" cy="3000300"/>
          </a:xfrm>
        </p:grpSpPr>
        <p:sp>
          <p:nvSpPr>
            <p:cNvPr id="330" name="Google Shape;330;p21"/>
            <p:cNvSpPr/>
            <p:nvPr/>
          </p:nvSpPr>
          <p:spPr>
            <a:xfrm>
              <a:off x="3048000" y="1381125"/>
              <a:ext cx="5334000" cy="3000300"/>
            </a:xfrm>
            <a:prstGeom prst="roundRect">
              <a:avLst>
                <a:gd fmla="val 5079"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1" name="Google Shape;331;p21"/>
            <p:cNvSpPr txBox="1"/>
            <p:nvPr/>
          </p:nvSpPr>
          <p:spPr>
            <a:xfrm>
              <a:off x="3048000" y="1381125"/>
              <a:ext cx="5334000" cy="30003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s" sz="1200">
                  <a:solidFill>
                    <a:srgbClr val="94A3B8"/>
                  </a:solidFill>
                  <a:latin typeface="Montserrat"/>
                  <a:ea typeface="Montserrat"/>
                  <a:cs typeface="Montserrat"/>
                  <a:sym typeface="Montserrat"/>
                </a:rPr>
                <a:t>Espacio reservado para Diagrama ERD de Data Warehouse</a:t>
              </a:r>
              <a:endParaRPr b="1" sz="1200">
                <a:solidFill>
                  <a:srgbClr val="94A3B8"/>
                </a:solidFill>
                <a:latin typeface="Montserrat"/>
                <a:ea typeface="Montserrat"/>
                <a:cs typeface="Montserrat"/>
                <a:sym typeface="Montserrat"/>
              </a:endParaRPr>
            </a:p>
            <a:p>
              <a:pPr indent="0" lvl="0" marL="0" rtl="0" algn="ctr">
                <a:spcBef>
                  <a:spcPts val="600"/>
                </a:spcBef>
                <a:spcAft>
                  <a:spcPts val="0"/>
                </a:spcAft>
                <a:buNone/>
              </a:pPr>
              <a:r>
                <a:rPr b="0" lang="es" sz="1000">
                  <a:solidFill>
                    <a:srgbClr val="475569"/>
                  </a:solidFill>
                  <a:latin typeface="Arial"/>
                  <a:ea typeface="Arial"/>
                  <a:cs typeface="Arial"/>
                  <a:sym typeface="Arial"/>
                </a:rPr>
                <a:t>(Ocupa el 80% del área de contenido)</a:t>
              </a:r>
              <a:endParaRPr b="0" sz="1000">
                <a:solidFill>
                  <a:srgbClr val="475569"/>
                </a:solidFill>
                <a:latin typeface="Arial"/>
                <a:ea typeface="Arial"/>
                <a:cs typeface="Arial"/>
                <a:sym typeface="Arial"/>
              </a:endParaRPr>
            </a:p>
          </p:txBody>
        </p:sp>
      </p:grpSp>
      <p:grpSp>
        <p:nvGrpSpPr>
          <p:cNvPr id="332" name="Google Shape;332;p21"/>
          <p:cNvGrpSpPr/>
          <p:nvPr/>
        </p:nvGrpSpPr>
        <p:grpSpPr>
          <a:xfrm>
            <a:off x="762000" y="4667250"/>
            <a:ext cx="1619400" cy="142800"/>
            <a:chOff x="762000" y="4667250"/>
            <a:chExt cx="1619400" cy="142800"/>
          </a:xfrm>
        </p:grpSpPr>
        <p:sp>
          <p:nvSpPr>
            <p:cNvPr id="333" name="Google Shape;333;p21"/>
            <p:cNvSpPr/>
            <p:nvPr/>
          </p:nvSpPr>
          <p:spPr>
            <a:xfrm>
              <a:off x="762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4" name="Google Shape;334;p21"/>
            <p:cNvSpPr txBox="1"/>
            <p:nvPr/>
          </p:nvSpPr>
          <p:spPr>
            <a:xfrm>
              <a:off x="762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3B82F6"/>
                  </a:solidFill>
                  <a:latin typeface="Arial"/>
                  <a:ea typeface="Arial"/>
                  <a:cs typeface="Arial"/>
                  <a:sym typeface="Arial"/>
                </a:rPr>
                <a:t>PNUD</a:t>
              </a:r>
              <a:endParaRPr b="0" sz="650">
                <a:solidFill>
                  <a:srgbClr val="3B82F6"/>
                </a:solidFill>
                <a:latin typeface="Arial"/>
                <a:ea typeface="Arial"/>
                <a:cs typeface="Arial"/>
                <a:sym typeface="Arial"/>
              </a:endParaRPr>
            </a:p>
          </p:txBody>
        </p:sp>
        <p:sp>
          <p:nvSpPr>
            <p:cNvPr id="335" name="Google Shape;335;p21"/>
            <p:cNvSpPr/>
            <p:nvPr/>
          </p:nvSpPr>
          <p:spPr>
            <a:xfrm>
              <a:off x="13335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6" name="Google Shape;336;p21"/>
            <p:cNvSpPr txBox="1"/>
            <p:nvPr/>
          </p:nvSpPr>
          <p:spPr>
            <a:xfrm>
              <a:off x="13335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10B981"/>
                  </a:solidFill>
                  <a:latin typeface="Arial"/>
                  <a:ea typeface="Arial"/>
                  <a:cs typeface="Arial"/>
                  <a:sym typeface="Arial"/>
                </a:rPr>
                <a:t>MSPAS</a:t>
              </a:r>
              <a:endParaRPr b="0" sz="650">
                <a:solidFill>
                  <a:srgbClr val="10B981"/>
                </a:solidFill>
                <a:latin typeface="Arial"/>
                <a:ea typeface="Arial"/>
                <a:cs typeface="Arial"/>
                <a:sym typeface="Arial"/>
              </a:endParaRPr>
            </a:p>
          </p:txBody>
        </p:sp>
        <p:sp>
          <p:nvSpPr>
            <p:cNvPr id="337" name="Google Shape;337;p21"/>
            <p:cNvSpPr/>
            <p:nvPr/>
          </p:nvSpPr>
          <p:spPr>
            <a:xfrm>
              <a:off x="1905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38" name="Google Shape;338;p21"/>
            <p:cNvSpPr txBox="1"/>
            <p:nvPr/>
          </p:nvSpPr>
          <p:spPr>
            <a:xfrm>
              <a:off x="1905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94A3B8"/>
                  </a:solidFill>
                  <a:latin typeface="Arial"/>
                  <a:ea typeface="Arial"/>
                  <a:cs typeface="Arial"/>
                  <a:sym typeface="Arial"/>
                </a:rPr>
                <a:t>USAC</a:t>
              </a:r>
              <a:endParaRPr b="0" sz="650">
                <a:solidFill>
                  <a:srgbClr val="94A3B8"/>
                </a:solidFill>
                <a:latin typeface="Arial"/>
                <a:ea typeface="Arial"/>
                <a:cs typeface="Arial"/>
                <a:sym typeface="Arial"/>
              </a:endParaRPr>
            </a:p>
          </p:txBody>
        </p:sp>
      </p:grpSp>
      <p:pic>
        <p:nvPicPr>
          <p:cNvPr id="339" name="Google Shape;339;p21" title="ERD_Data_Warehouse.png"/>
          <p:cNvPicPr preferRelativeResize="0"/>
          <p:nvPr/>
        </p:nvPicPr>
        <p:blipFill>
          <a:blip r:embed="rId3">
            <a:alphaModFix/>
          </a:blip>
          <a:stretch>
            <a:fillRect/>
          </a:stretch>
        </p:blipFill>
        <p:spPr>
          <a:xfrm>
            <a:off x="3134700" y="1258100"/>
            <a:ext cx="5334001" cy="362875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sp>
        <p:nvSpPr>
          <p:cNvPr id="344" name="Google Shape;344;p22"/>
          <p:cNvSpPr/>
          <p:nvPr/>
        </p:nvSpPr>
        <p:spPr>
          <a:xfrm>
            <a:off x="0" y="0"/>
            <a:ext cx="9144000" cy="5143500"/>
          </a:xfrm>
          <a:prstGeom prst="rect">
            <a:avLst/>
          </a:prstGeom>
          <a:solidFill>
            <a:srgbClr val="020B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345" name="Google Shape;345;p22"/>
          <p:cNvGrpSpPr/>
          <p:nvPr/>
        </p:nvGrpSpPr>
        <p:grpSpPr>
          <a:xfrm>
            <a:off x="4953000" y="381000"/>
            <a:ext cx="4000500" cy="4953000"/>
            <a:chOff x="4953000" y="381000"/>
            <a:chExt cx="4000500" cy="4953000"/>
          </a:xfrm>
        </p:grpSpPr>
        <p:sp>
          <p:nvSpPr>
            <p:cNvPr id="346" name="Google Shape;346;p22"/>
            <p:cNvSpPr/>
            <p:nvPr/>
          </p:nvSpPr>
          <p:spPr>
            <a:xfrm>
              <a:off x="6286500" y="381000"/>
              <a:ext cx="2667000" cy="2667000"/>
            </a:xfrm>
            <a:prstGeom prst="ellipse">
              <a:avLst/>
            </a:prstGeom>
            <a:solidFill>
              <a:srgbClr val="3B82F6">
                <a:alpha val="5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7" name="Google Shape;347;p22"/>
            <p:cNvSpPr/>
            <p:nvPr/>
          </p:nvSpPr>
          <p:spPr>
            <a:xfrm>
              <a:off x="7048500" y="1143000"/>
              <a:ext cx="1714500" cy="1714500"/>
            </a:xfrm>
            <a:prstGeom prst="ellipse">
              <a:avLst/>
            </a:prstGeom>
            <a:solidFill>
              <a:srgbClr val="10B981">
                <a:alpha val="3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48" name="Google Shape;348;p22"/>
            <p:cNvSpPr/>
            <p:nvPr/>
          </p:nvSpPr>
          <p:spPr>
            <a:xfrm>
              <a:off x="4953000" y="1905000"/>
              <a:ext cx="3429000" cy="3429000"/>
            </a:xfrm>
            <a:prstGeom prst="ellipse">
              <a:avLst/>
            </a:prstGeom>
            <a:solidFill>
              <a:srgbClr val="021329"/>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49" name="Google Shape;349;p22"/>
          <p:cNvGrpSpPr/>
          <p:nvPr/>
        </p:nvGrpSpPr>
        <p:grpSpPr>
          <a:xfrm>
            <a:off x="762000" y="428625"/>
            <a:ext cx="7620000" cy="714525"/>
            <a:chOff x="762000" y="428625"/>
            <a:chExt cx="7620000" cy="714525"/>
          </a:xfrm>
        </p:grpSpPr>
        <p:sp>
          <p:nvSpPr>
            <p:cNvPr id="350" name="Google Shape;350;p22"/>
            <p:cNvSpPr txBox="1"/>
            <p:nvPr/>
          </p:nvSpPr>
          <p:spPr>
            <a:xfrm>
              <a:off x="762000" y="428625"/>
              <a:ext cx="7620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925">
                  <a:solidFill>
                    <a:srgbClr val="10B981"/>
                  </a:solidFill>
                  <a:latin typeface="Montserrat"/>
                  <a:ea typeface="Montserrat"/>
                  <a:cs typeface="Montserrat"/>
                  <a:sym typeface="Montserrat"/>
                </a:rPr>
                <a:t>PLATAFORMA DE INTELIGENCIA EPIDEMIOLÓGICA</a:t>
              </a:r>
              <a:endParaRPr b="1" sz="925">
                <a:solidFill>
                  <a:srgbClr val="10B981"/>
                </a:solidFill>
                <a:latin typeface="Montserrat"/>
                <a:ea typeface="Montserrat"/>
                <a:cs typeface="Montserrat"/>
                <a:sym typeface="Montserrat"/>
              </a:endParaRPr>
            </a:p>
          </p:txBody>
        </p:sp>
        <p:sp>
          <p:nvSpPr>
            <p:cNvPr id="351" name="Google Shape;351;p22"/>
            <p:cNvSpPr txBox="1"/>
            <p:nvPr/>
          </p:nvSpPr>
          <p:spPr>
            <a:xfrm>
              <a:off x="762000" y="666750"/>
              <a:ext cx="7620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s" sz="2400">
                  <a:solidFill>
                    <a:srgbClr val="FFFFFF"/>
                  </a:solidFill>
                  <a:latin typeface="Montserrat ExtraBold"/>
                  <a:ea typeface="Montserrat ExtraBold"/>
                  <a:cs typeface="Montserrat ExtraBold"/>
                  <a:sym typeface="Montserrat ExtraBold"/>
                </a:rPr>
                <a:t>Resumen Operativo del Pipeline ETL</a:t>
              </a:r>
              <a:endParaRPr b="0" sz="2400">
                <a:solidFill>
                  <a:srgbClr val="FFFFFF"/>
                </a:solidFill>
                <a:latin typeface="Montserrat ExtraBold"/>
                <a:ea typeface="Montserrat ExtraBold"/>
                <a:cs typeface="Montserrat ExtraBold"/>
                <a:sym typeface="Montserrat ExtraBold"/>
              </a:endParaRPr>
            </a:p>
          </p:txBody>
        </p:sp>
      </p:grpSp>
      <p:grpSp>
        <p:nvGrpSpPr>
          <p:cNvPr id="352" name="Google Shape;352;p22"/>
          <p:cNvGrpSpPr/>
          <p:nvPr/>
        </p:nvGrpSpPr>
        <p:grpSpPr>
          <a:xfrm>
            <a:off x="762000" y="1381125"/>
            <a:ext cx="3619500" cy="1381200"/>
            <a:chOff x="762000" y="1381125"/>
            <a:chExt cx="3619500" cy="1381200"/>
          </a:xfrm>
        </p:grpSpPr>
        <p:sp>
          <p:nvSpPr>
            <p:cNvPr id="353" name="Google Shape;353;p22"/>
            <p:cNvSpPr/>
            <p:nvPr/>
          </p:nvSpPr>
          <p:spPr>
            <a:xfrm>
              <a:off x="762000" y="1381125"/>
              <a:ext cx="3619500" cy="1381200"/>
            </a:xfrm>
            <a:prstGeom prst="roundRect">
              <a:avLst>
                <a:gd fmla="val 8275"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4" name="Google Shape;354;p22"/>
            <p:cNvSpPr/>
            <p:nvPr/>
          </p:nvSpPr>
          <p:spPr>
            <a:xfrm>
              <a:off x="1000125" y="1781175"/>
              <a:ext cx="571500" cy="571500"/>
            </a:xfrm>
            <a:prstGeom prst="ellipse">
              <a:avLst/>
            </a:prstGeom>
            <a:solidFill>
              <a:srgbClr val="1E293B"/>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5" name="Google Shape;355;p22"/>
            <p:cNvSpPr txBox="1"/>
            <p:nvPr/>
          </p:nvSpPr>
          <p:spPr>
            <a:xfrm>
              <a:off x="1095375" y="1911477"/>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2400">
                  <a:solidFill>
                    <a:srgbClr val="3B82F6"/>
                  </a:solidFill>
                  <a:latin typeface="Material Icons"/>
                  <a:ea typeface="Material Icons"/>
                  <a:cs typeface="Material Icons"/>
                  <a:sym typeface="Material Icons"/>
                </a:rPr>
                <a:t>storage</a:t>
              </a:r>
              <a:endParaRPr sz="2400">
                <a:solidFill>
                  <a:srgbClr val="3B82F6"/>
                </a:solidFill>
                <a:latin typeface="Material Icons"/>
                <a:ea typeface="Material Icons"/>
                <a:cs typeface="Material Icons"/>
                <a:sym typeface="Material Icons"/>
              </a:endParaRPr>
            </a:p>
          </p:txBody>
        </p:sp>
        <p:sp>
          <p:nvSpPr>
            <p:cNvPr id="356" name="Google Shape;356;p22"/>
            <p:cNvSpPr txBox="1"/>
            <p:nvPr/>
          </p:nvSpPr>
          <p:spPr>
            <a:xfrm>
              <a:off x="1809750" y="1571625"/>
              <a:ext cx="23814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3330">
                  <a:solidFill>
                    <a:srgbClr val="10B981"/>
                  </a:solidFill>
                  <a:latin typeface="Montserrat ExtraBold"/>
                  <a:ea typeface="Montserrat ExtraBold"/>
                  <a:cs typeface="Montserrat ExtraBold"/>
                  <a:sym typeface="Montserrat ExtraBold"/>
                </a:rPr>
                <a:t>+2M</a:t>
              </a:r>
              <a:endParaRPr b="0" sz="3330">
                <a:solidFill>
                  <a:srgbClr val="10B981"/>
                </a:solidFill>
                <a:latin typeface="Montserrat ExtraBold"/>
                <a:ea typeface="Montserrat ExtraBold"/>
                <a:cs typeface="Montserrat ExtraBold"/>
                <a:sym typeface="Montserrat ExtraBold"/>
              </a:endParaRPr>
            </a:p>
            <a:p>
              <a:pPr indent="0" lvl="0" marL="0" rtl="0" algn="l">
                <a:spcBef>
                  <a:spcPts val="0"/>
                </a:spcBef>
                <a:spcAft>
                  <a:spcPts val="0"/>
                </a:spcAft>
                <a:buNone/>
              </a:pPr>
              <a:r>
                <a:rPr b="1" lang="es" sz="925">
                  <a:solidFill>
                    <a:srgbClr val="3B82F6"/>
                  </a:solidFill>
                  <a:latin typeface="Montserrat"/>
                  <a:ea typeface="Montserrat"/>
                  <a:cs typeface="Montserrat"/>
                  <a:sym typeface="Montserrat"/>
                </a:rPr>
                <a:t>Volumen Procesado</a:t>
              </a:r>
              <a:endParaRPr b="1" sz="925">
                <a:solidFill>
                  <a:srgbClr val="3B82F6"/>
                </a:solidFill>
                <a:latin typeface="Montserrat"/>
                <a:ea typeface="Montserrat"/>
                <a:cs typeface="Montserrat"/>
                <a:sym typeface="Montserrat"/>
              </a:endParaRPr>
            </a:p>
            <a:p>
              <a:pPr indent="0" lvl="0" marL="0" rtl="0" algn="l">
                <a:spcBef>
                  <a:spcPts val="300"/>
                </a:spcBef>
                <a:spcAft>
                  <a:spcPts val="0"/>
                </a:spcAft>
                <a:buNone/>
              </a:pPr>
              <a:r>
                <a:rPr b="0" lang="es" sz="971">
                  <a:solidFill>
                    <a:srgbClr val="F1F5F9"/>
                  </a:solidFill>
                  <a:latin typeface="Arial"/>
                  <a:ea typeface="Arial"/>
                  <a:cs typeface="Arial"/>
                  <a:sym typeface="Arial"/>
                </a:rPr>
                <a:t>Registros históricos consolidados de manera eficiente.</a:t>
              </a:r>
              <a:endParaRPr b="0" sz="971">
                <a:solidFill>
                  <a:srgbClr val="F1F5F9"/>
                </a:solidFill>
                <a:latin typeface="Arial"/>
                <a:ea typeface="Arial"/>
                <a:cs typeface="Arial"/>
                <a:sym typeface="Arial"/>
              </a:endParaRPr>
            </a:p>
          </p:txBody>
        </p:sp>
      </p:grpSp>
      <p:grpSp>
        <p:nvGrpSpPr>
          <p:cNvPr id="357" name="Google Shape;357;p22"/>
          <p:cNvGrpSpPr/>
          <p:nvPr/>
        </p:nvGrpSpPr>
        <p:grpSpPr>
          <a:xfrm>
            <a:off x="762000" y="3000375"/>
            <a:ext cx="3619500" cy="1381200"/>
            <a:chOff x="762000" y="3000375"/>
            <a:chExt cx="3619500" cy="1381200"/>
          </a:xfrm>
        </p:grpSpPr>
        <p:sp>
          <p:nvSpPr>
            <p:cNvPr id="358" name="Google Shape;358;p22"/>
            <p:cNvSpPr/>
            <p:nvPr/>
          </p:nvSpPr>
          <p:spPr>
            <a:xfrm>
              <a:off x="762000" y="3000375"/>
              <a:ext cx="3619500" cy="1381200"/>
            </a:xfrm>
            <a:prstGeom prst="roundRect">
              <a:avLst>
                <a:gd fmla="val 8275"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59" name="Google Shape;359;p22"/>
            <p:cNvSpPr/>
            <p:nvPr/>
          </p:nvSpPr>
          <p:spPr>
            <a:xfrm>
              <a:off x="1000125" y="3400425"/>
              <a:ext cx="571500" cy="571500"/>
            </a:xfrm>
            <a:prstGeom prst="ellipse">
              <a:avLst/>
            </a:prstGeom>
            <a:solidFill>
              <a:srgbClr val="1E293B"/>
            </a:solidFill>
            <a:ln cap="flat" cmpd="sng" w="14300">
              <a:solidFill>
                <a:srgbClr val="3B82F6"/>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0" name="Google Shape;360;p22"/>
            <p:cNvSpPr txBox="1"/>
            <p:nvPr/>
          </p:nvSpPr>
          <p:spPr>
            <a:xfrm>
              <a:off x="1095375" y="3530727"/>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2400">
                  <a:solidFill>
                    <a:srgbClr val="3B82F6"/>
                  </a:solidFill>
                  <a:latin typeface="Material Icons"/>
                  <a:ea typeface="Material Icons"/>
                  <a:cs typeface="Material Icons"/>
                  <a:sym typeface="Material Icons"/>
                </a:rPr>
                <a:t>hub</a:t>
              </a:r>
              <a:endParaRPr sz="2400">
                <a:solidFill>
                  <a:srgbClr val="3B82F6"/>
                </a:solidFill>
                <a:latin typeface="Material Icons"/>
                <a:ea typeface="Material Icons"/>
                <a:cs typeface="Material Icons"/>
                <a:sym typeface="Material Icons"/>
              </a:endParaRPr>
            </a:p>
          </p:txBody>
        </p:sp>
        <p:sp>
          <p:nvSpPr>
            <p:cNvPr id="361" name="Google Shape;361;p22"/>
            <p:cNvSpPr txBox="1"/>
            <p:nvPr/>
          </p:nvSpPr>
          <p:spPr>
            <a:xfrm>
              <a:off x="1809750" y="3190875"/>
              <a:ext cx="23814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3330">
                  <a:solidFill>
                    <a:srgbClr val="10B981"/>
                  </a:solidFill>
                  <a:latin typeface="Montserrat ExtraBold"/>
                  <a:ea typeface="Montserrat ExtraBold"/>
                  <a:cs typeface="Montserrat ExtraBold"/>
                  <a:sym typeface="Montserrat ExtraBold"/>
                </a:rPr>
                <a:t>4</a:t>
              </a:r>
              <a:endParaRPr b="0" sz="3330">
                <a:solidFill>
                  <a:srgbClr val="10B981"/>
                </a:solidFill>
                <a:latin typeface="Montserrat ExtraBold"/>
                <a:ea typeface="Montserrat ExtraBold"/>
                <a:cs typeface="Montserrat ExtraBold"/>
                <a:sym typeface="Montserrat ExtraBold"/>
              </a:endParaRPr>
            </a:p>
            <a:p>
              <a:pPr indent="0" lvl="0" marL="0" rtl="0" algn="l">
                <a:spcBef>
                  <a:spcPts val="0"/>
                </a:spcBef>
                <a:spcAft>
                  <a:spcPts val="0"/>
                </a:spcAft>
                <a:buNone/>
              </a:pPr>
              <a:r>
                <a:rPr b="1" lang="es" sz="925">
                  <a:solidFill>
                    <a:srgbClr val="3B82F6"/>
                  </a:solidFill>
                  <a:latin typeface="Montserrat"/>
                  <a:ea typeface="Montserrat"/>
                  <a:cs typeface="Montserrat"/>
                  <a:sym typeface="Montserrat"/>
                </a:rPr>
                <a:t>Fuentes Integradas</a:t>
              </a:r>
              <a:endParaRPr b="1" sz="925">
                <a:solidFill>
                  <a:srgbClr val="3B82F6"/>
                </a:solidFill>
                <a:latin typeface="Montserrat"/>
                <a:ea typeface="Montserrat"/>
                <a:cs typeface="Montserrat"/>
                <a:sym typeface="Montserrat"/>
              </a:endParaRPr>
            </a:p>
            <a:p>
              <a:pPr indent="0" lvl="0" marL="0" rtl="0" algn="l">
                <a:spcBef>
                  <a:spcPts val="300"/>
                </a:spcBef>
                <a:spcAft>
                  <a:spcPts val="0"/>
                </a:spcAft>
                <a:buNone/>
              </a:pPr>
              <a:r>
                <a:rPr b="0" lang="es" sz="971">
                  <a:solidFill>
                    <a:srgbClr val="F1F5F9"/>
                  </a:solidFill>
                  <a:latin typeface="Arial"/>
                  <a:ea typeface="Arial"/>
                  <a:cs typeface="Arial"/>
                  <a:sym typeface="Arial"/>
                </a:rPr>
                <a:t>Orígenes heterogéneos unificados en el Data Warehouse.</a:t>
              </a:r>
              <a:endParaRPr b="0" sz="971">
                <a:solidFill>
                  <a:srgbClr val="F1F5F9"/>
                </a:solidFill>
                <a:latin typeface="Arial"/>
                <a:ea typeface="Arial"/>
                <a:cs typeface="Arial"/>
                <a:sym typeface="Arial"/>
              </a:endParaRPr>
            </a:p>
          </p:txBody>
        </p:sp>
      </p:grpSp>
      <p:grpSp>
        <p:nvGrpSpPr>
          <p:cNvPr id="362" name="Google Shape;362;p22"/>
          <p:cNvGrpSpPr/>
          <p:nvPr/>
        </p:nvGrpSpPr>
        <p:grpSpPr>
          <a:xfrm>
            <a:off x="4572000" y="1381125"/>
            <a:ext cx="3810000" cy="1381200"/>
            <a:chOff x="4572000" y="1381125"/>
            <a:chExt cx="3810000" cy="1381200"/>
          </a:xfrm>
        </p:grpSpPr>
        <p:sp>
          <p:nvSpPr>
            <p:cNvPr id="363" name="Google Shape;363;p22"/>
            <p:cNvSpPr/>
            <p:nvPr/>
          </p:nvSpPr>
          <p:spPr>
            <a:xfrm>
              <a:off x="4572000" y="1381125"/>
              <a:ext cx="3810000" cy="1381200"/>
            </a:xfrm>
            <a:prstGeom prst="roundRect">
              <a:avLst>
                <a:gd fmla="val 8275"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4" name="Google Shape;364;p22"/>
            <p:cNvSpPr/>
            <p:nvPr/>
          </p:nvSpPr>
          <p:spPr>
            <a:xfrm>
              <a:off x="4810125" y="1781175"/>
              <a:ext cx="571500" cy="571500"/>
            </a:xfrm>
            <a:prstGeom prst="ellipse">
              <a:avLst/>
            </a:prstGeom>
            <a:solidFill>
              <a:srgbClr val="1E293B"/>
            </a:solidFill>
            <a:ln cap="flat" cmpd="sng" w="1430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5" name="Google Shape;365;p22"/>
            <p:cNvSpPr txBox="1"/>
            <p:nvPr/>
          </p:nvSpPr>
          <p:spPr>
            <a:xfrm>
              <a:off x="4905375" y="1911477"/>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2400">
                  <a:solidFill>
                    <a:srgbClr val="10B981"/>
                  </a:solidFill>
                  <a:latin typeface="Material Icons"/>
                  <a:ea typeface="Material Icons"/>
                  <a:cs typeface="Material Icons"/>
                  <a:sym typeface="Material Icons"/>
                </a:rPr>
                <a:t>gavel</a:t>
              </a:r>
              <a:endParaRPr sz="2400">
                <a:solidFill>
                  <a:srgbClr val="10B981"/>
                </a:solidFill>
                <a:latin typeface="Material Icons"/>
                <a:ea typeface="Material Icons"/>
                <a:cs typeface="Material Icons"/>
                <a:sym typeface="Material Icons"/>
              </a:endParaRPr>
            </a:p>
          </p:txBody>
        </p:sp>
        <p:sp>
          <p:nvSpPr>
            <p:cNvPr id="366" name="Google Shape;366;p22"/>
            <p:cNvSpPr txBox="1"/>
            <p:nvPr/>
          </p:nvSpPr>
          <p:spPr>
            <a:xfrm>
              <a:off x="5619750" y="1571625"/>
              <a:ext cx="25719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1300">
                  <a:solidFill>
                    <a:srgbClr val="10B981"/>
                  </a:solidFill>
                  <a:latin typeface="Montserrat"/>
                  <a:ea typeface="Montserrat"/>
                  <a:cs typeface="Montserrat"/>
                  <a:sym typeface="Montserrat"/>
                </a:rPr>
                <a:t>Tolerancia a Fallos</a:t>
              </a:r>
              <a:endParaRPr b="1" sz="1300">
                <a:solidFill>
                  <a:srgbClr val="10B981"/>
                </a:solidFill>
                <a:latin typeface="Montserrat"/>
                <a:ea typeface="Montserrat"/>
                <a:cs typeface="Montserrat"/>
                <a:sym typeface="Montserrat"/>
              </a:endParaRPr>
            </a:p>
            <a:p>
              <a:pPr indent="0" lvl="0" marL="0" rtl="0" algn="l">
                <a:spcBef>
                  <a:spcPts val="600"/>
                </a:spcBef>
                <a:spcAft>
                  <a:spcPts val="0"/>
                </a:spcAft>
                <a:buNone/>
              </a:pPr>
              <a:r>
                <a:rPr b="0" lang="es" sz="971">
                  <a:solidFill>
                    <a:srgbClr val="F1F5F9"/>
                  </a:solidFill>
                  <a:latin typeface="Arial"/>
                  <a:ea typeface="Arial"/>
                  <a:cs typeface="Arial"/>
                  <a:sym typeface="Arial"/>
                </a:rPr>
                <a:t>Manejo robusto de excepciones (try/except) y almacenamiento centralizado de logs en AWS CloudWatch.</a:t>
              </a:r>
              <a:endParaRPr b="0" sz="971">
                <a:solidFill>
                  <a:srgbClr val="F1F5F9"/>
                </a:solidFill>
                <a:latin typeface="Arial"/>
                <a:ea typeface="Arial"/>
                <a:cs typeface="Arial"/>
                <a:sym typeface="Arial"/>
              </a:endParaRPr>
            </a:p>
          </p:txBody>
        </p:sp>
      </p:grpSp>
      <p:grpSp>
        <p:nvGrpSpPr>
          <p:cNvPr id="367" name="Google Shape;367;p22"/>
          <p:cNvGrpSpPr/>
          <p:nvPr/>
        </p:nvGrpSpPr>
        <p:grpSpPr>
          <a:xfrm>
            <a:off x="4572000" y="3000375"/>
            <a:ext cx="3810000" cy="1381200"/>
            <a:chOff x="4572000" y="3000375"/>
            <a:chExt cx="3810000" cy="1381200"/>
          </a:xfrm>
        </p:grpSpPr>
        <p:sp>
          <p:nvSpPr>
            <p:cNvPr id="368" name="Google Shape;368;p22"/>
            <p:cNvSpPr/>
            <p:nvPr/>
          </p:nvSpPr>
          <p:spPr>
            <a:xfrm>
              <a:off x="4572000" y="3000375"/>
              <a:ext cx="3810000" cy="1381200"/>
            </a:xfrm>
            <a:prstGeom prst="roundRect">
              <a:avLst>
                <a:gd fmla="val 8275"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69" name="Google Shape;369;p22"/>
            <p:cNvSpPr/>
            <p:nvPr/>
          </p:nvSpPr>
          <p:spPr>
            <a:xfrm>
              <a:off x="4810125" y="3400425"/>
              <a:ext cx="571500" cy="571500"/>
            </a:xfrm>
            <a:prstGeom prst="ellipse">
              <a:avLst/>
            </a:prstGeom>
            <a:solidFill>
              <a:srgbClr val="1E293B"/>
            </a:solidFill>
            <a:ln cap="flat" cmpd="sng" w="14300">
              <a:solidFill>
                <a:srgbClr val="10B981"/>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0" name="Google Shape;370;p22"/>
            <p:cNvSpPr txBox="1"/>
            <p:nvPr/>
          </p:nvSpPr>
          <p:spPr>
            <a:xfrm>
              <a:off x="4905375" y="3530727"/>
              <a:ext cx="381000" cy="3810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lang="es" sz="2400">
                  <a:solidFill>
                    <a:srgbClr val="10B981"/>
                  </a:solidFill>
                  <a:latin typeface="Material Icons"/>
                  <a:ea typeface="Material Icons"/>
                  <a:cs typeface="Material Icons"/>
                  <a:sym typeface="Material Icons"/>
                </a:rPr>
                <a:t>security</a:t>
              </a:r>
              <a:endParaRPr sz="2400">
                <a:solidFill>
                  <a:srgbClr val="10B981"/>
                </a:solidFill>
                <a:latin typeface="Material Icons"/>
                <a:ea typeface="Material Icons"/>
                <a:cs typeface="Material Icons"/>
                <a:sym typeface="Material Icons"/>
              </a:endParaRPr>
            </a:p>
          </p:txBody>
        </p:sp>
        <p:sp>
          <p:nvSpPr>
            <p:cNvPr id="371" name="Google Shape;371;p22"/>
            <p:cNvSpPr txBox="1"/>
            <p:nvPr/>
          </p:nvSpPr>
          <p:spPr>
            <a:xfrm>
              <a:off x="5619750" y="3190875"/>
              <a:ext cx="2571900" cy="10479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1300">
                  <a:solidFill>
                    <a:srgbClr val="10B981"/>
                  </a:solidFill>
                  <a:latin typeface="Montserrat"/>
                  <a:ea typeface="Montserrat"/>
                  <a:cs typeface="Montserrat"/>
                  <a:sym typeface="Montserrat"/>
                </a:rPr>
                <a:t>Gobernanza de Datos</a:t>
              </a:r>
              <a:endParaRPr b="1" sz="1300">
                <a:solidFill>
                  <a:srgbClr val="10B981"/>
                </a:solidFill>
                <a:latin typeface="Montserrat"/>
                <a:ea typeface="Montserrat"/>
                <a:cs typeface="Montserrat"/>
                <a:sym typeface="Montserrat"/>
              </a:endParaRPr>
            </a:p>
            <a:p>
              <a:pPr indent="0" lvl="0" marL="0" rtl="0" algn="l">
                <a:spcBef>
                  <a:spcPts val="600"/>
                </a:spcBef>
                <a:spcAft>
                  <a:spcPts val="0"/>
                </a:spcAft>
                <a:buNone/>
              </a:pPr>
              <a:r>
                <a:rPr b="0" lang="es" sz="971">
                  <a:solidFill>
                    <a:srgbClr val="F1F5F9"/>
                  </a:solidFill>
                  <a:latin typeface="Arial"/>
                  <a:ea typeface="Arial"/>
                  <a:cs typeface="Arial"/>
                  <a:sym typeface="Arial"/>
                </a:rPr>
                <a:t>Credenciales y secretos de conexión inyectados dinámicamente en tiempo de ejecución vía AWS Secrets Manager.</a:t>
              </a:r>
              <a:endParaRPr b="0" sz="971">
                <a:solidFill>
                  <a:srgbClr val="F1F5F9"/>
                </a:solidFill>
                <a:latin typeface="Arial"/>
                <a:ea typeface="Arial"/>
                <a:cs typeface="Arial"/>
                <a:sym typeface="Arial"/>
              </a:endParaRPr>
            </a:p>
          </p:txBody>
        </p:sp>
      </p:grpSp>
      <p:grpSp>
        <p:nvGrpSpPr>
          <p:cNvPr id="372" name="Google Shape;372;p22"/>
          <p:cNvGrpSpPr/>
          <p:nvPr/>
        </p:nvGrpSpPr>
        <p:grpSpPr>
          <a:xfrm>
            <a:off x="762000" y="4667250"/>
            <a:ext cx="1619400" cy="142800"/>
            <a:chOff x="762000" y="4667250"/>
            <a:chExt cx="1619400" cy="142800"/>
          </a:xfrm>
        </p:grpSpPr>
        <p:sp>
          <p:nvSpPr>
            <p:cNvPr id="373" name="Google Shape;373;p22"/>
            <p:cNvSpPr/>
            <p:nvPr/>
          </p:nvSpPr>
          <p:spPr>
            <a:xfrm>
              <a:off x="762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4" name="Google Shape;374;p22"/>
            <p:cNvSpPr txBox="1"/>
            <p:nvPr/>
          </p:nvSpPr>
          <p:spPr>
            <a:xfrm>
              <a:off x="762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3B82F6"/>
                  </a:solidFill>
                  <a:latin typeface="Arial"/>
                  <a:ea typeface="Arial"/>
                  <a:cs typeface="Arial"/>
                  <a:sym typeface="Arial"/>
                </a:rPr>
                <a:t>PNUD</a:t>
              </a:r>
              <a:endParaRPr b="0" sz="650">
                <a:solidFill>
                  <a:srgbClr val="3B82F6"/>
                </a:solidFill>
                <a:latin typeface="Arial"/>
                <a:ea typeface="Arial"/>
                <a:cs typeface="Arial"/>
                <a:sym typeface="Arial"/>
              </a:endParaRPr>
            </a:p>
          </p:txBody>
        </p:sp>
        <p:sp>
          <p:nvSpPr>
            <p:cNvPr id="375" name="Google Shape;375;p22"/>
            <p:cNvSpPr/>
            <p:nvPr/>
          </p:nvSpPr>
          <p:spPr>
            <a:xfrm>
              <a:off x="13335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6" name="Google Shape;376;p22"/>
            <p:cNvSpPr txBox="1"/>
            <p:nvPr/>
          </p:nvSpPr>
          <p:spPr>
            <a:xfrm>
              <a:off x="13335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10B981"/>
                  </a:solidFill>
                  <a:latin typeface="Arial"/>
                  <a:ea typeface="Arial"/>
                  <a:cs typeface="Arial"/>
                  <a:sym typeface="Arial"/>
                </a:rPr>
                <a:t>MSPAS</a:t>
              </a:r>
              <a:endParaRPr b="0" sz="650">
                <a:solidFill>
                  <a:srgbClr val="10B981"/>
                </a:solidFill>
                <a:latin typeface="Arial"/>
                <a:ea typeface="Arial"/>
                <a:cs typeface="Arial"/>
                <a:sym typeface="Arial"/>
              </a:endParaRPr>
            </a:p>
          </p:txBody>
        </p:sp>
        <p:sp>
          <p:nvSpPr>
            <p:cNvPr id="377" name="Google Shape;377;p22"/>
            <p:cNvSpPr/>
            <p:nvPr/>
          </p:nvSpPr>
          <p:spPr>
            <a:xfrm>
              <a:off x="1905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78" name="Google Shape;378;p22"/>
            <p:cNvSpPr txBox="1"/>
            <p:nvPr/>
          </p:nvSpPr>
          <p:spPr>
            <a:xfrm>
              <a:off x="1905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94A3B8"/>
                  </a:solidFill>
                  <a:latin typeface="Arial"/>
                  <a:ea typeface="Arial"/>
                  <a:cs typeface="Arial"/>
                  <a:sym typeface="Arial"/>
                </a:rPr>
                <a:t>USAC</a:t>
              </a:r>
              <a:endParaRPr b="0" sz="650">
                <a:solidFill>
                  <a:srgbClr val="94A3B8"/>
                </a:solidFill>
                <a:latin typeface="Arial"/>
                <a:ea typeface="Arial"/>
                <a:cs typeface="Arial"/>
                <a:sym typeface="Arial"/>
              </a:endParaRPr>
            </a:p>
          </p:txBody>
        </p:sp>
      </p:gr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20B16"/>
        </a:solidFill>
      </p:bgPr>
    </p:bg>
    <p:spTree>
      <p:nvGrpSpPr>
        <p:cNvPr id="382" name="Shape 382"/>
        <p:cNvGrpSpPr/>
        <p:nvPr/>
      </p:nvGrpSpPr>
      <p:grpSpPr>
        <a:xfrm>
          <a:off x="0" y="0"/>
          <a:ext cx="0" cy="0"/>
          <a:chOff x="0" y="0"/>
          <a:chExt cx="0" cy="0"/>
        </a:xfrm>
      </p:grpSpPr>
      <p:grpSp>
        <p:nvGrpSpPr>
          <p:cNvPr id="383" name="Google Shape;383;p23"/>
          <p:cNvGrpSpPr/>
          <p:nvPr/>
        </p:nvGrpSpPr>
        <p:grpSpPr>
          <a:xfrm>
            <a:off x="4953000" y="381000"/>
            <a:ext cx="4000500" cy="4953000"/>
            <a:chOff x="4953000" y="381000"/>
            <a:chExt cx="4000500" cy="4953000"/>
          </a:xfrm>
        </p:grpSpPr>
        <p:sp>
          <p:nvSpPr>
            <p:cNvPr id="384" name="Google Shape;384;p23"/>
            <p:cNvSpPr/>
            <p:nvPr/>
          </p:nvSpPr>
          <p:spPr>
            <a:xfrm>
              <a:off x="6286500" y="381000"/>
              <a:ext cx="2667000" cy="2667000"/>
            </a:xfrm>
            <a:prstGeom prst="ellipse">
              <a:avLst/>
            </a:prstGeom>
            <a:solidFill>
              <a:srgbClr val="3B82F6">
                <a:alpha val="5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5" name="Google Shape;385;p23"/>
            <p:cNvSpPr/>
            <p:nvPr/>
          </p:nvSpPr>
          <p:spPr>
            <a:xfrm>
              <a:off x="7048500" y="1143000"/>
              <a:ext cx="1714500" cy="1714500"/>
            </a:xfrm>
            <a:prstGeom prst="ellipse">
              <a:avLst/>
            </a:prstGeom>
            <a:solidFill>
              <a:srgbClr val="10B981">
                <a:alpha val="3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86" name="Google Shape;386;p23"/>
            <p:cNvSpPr/>
            <p:nvPr/>
          </p:nvSpPr>
          <p:spPr>
            <a:xfrm>
              <a:off x="4953000" y="1905000"/>
              <a:ext cx="3429000" cy="3429000"/>
            </a:xfrm>
            <a:prstGeom prst="ellipse">
              <a:avLst/>
            </a:prstGeom>
            <a:solidFill>
              <a:srgbClr val="021329"/>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387" name="Google Shape;387;p23"/>
          <p:cNvGrpSpPr/>
          <p:nvPr/>
        </p:nvGrpSpPr>
        <p:grpSpPr>
          <a:xfrm>
            <a:off x="762000" y="428625"/>
            <a:ext cx="7620000" cy="714525"/>
            <a:chOff x="762000" y="428625"/>
            <a:chExt cx="7620000" cy="714525"/>
          </a:xfrm>
        </p:grpSpPr>
        <p:sp>
          <p:nvSpPr>
            <p:cNvPr id="388" name="Google Shape;388;p23"/>
            <p:cNvSpPr txBox="1"/>
            <p:nvPr/>
          </p:nvSpPr>
          <p:spPr>
            <a:xfrm>
              <a:off x="762000" y="428625"/>
              <a:ext cx="7620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000">
                  <a:solidFill>
                    <a:srgbClr val="10B981"/>
                  </a:solidFill>
                  <a:latin typeface="Montserrat"/>
                  <a:ea typeface="Montserrat"/>
                  <a:cs typeface="Montserrat"/>
                  <a:sym typeface="Montserrat"/>
                </a:rPr>
                <a:t>PLATAFORMA DE INTELIGENCIA EPIDEMIOLÓGICA</a:t>
              </a:r>
              <a:endParaRPr b="1" sz="1000">
                <a:solidFill>
                  <a:srgbClr val="10B981"/>
                </a:solidFill>
                <a:latin typeface="Montserrat"/>
                <a:ea typeface="Montserrat"/>
                <a:cs typeface="Montserrat"/>
                <a:sym typeface="Montserrat"/>
              </a:endParaRPr>
            </a:p>
          </p:txBody>
        </p:sp>
        <p:sp>
          <p:nvSpPr>
            <p:cNvPr id="389" name="Google Shape;389;p23"/>
            <p:cNvSpPr txBox="1"/>
            <p:nvPr/>
          </p:nvSpPr>
          <p:spPr>
            <a:xfrm>
              <a:off x="762000" y="666750"/>
              <a:ext cx="7620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s" sz="2400">
                  <a:solidFill>
                    <a:srgbClr val="FFFFFF"/>
                  </a:solidFill>
                  <a:latin typeface="Montserrat ExtraBold"/>
                  <a:ea typeface="Montserrat ExtraBold"/>
                  <a:cs typeface="Montserrat ExtraBold"/>
                  <a:sym typeface="Montserrat ExtraBold"/>
                </a:rPr>
                <a:t>Contexto Analítico - El Exceso Global</a:t>
              </a:r>
              <a:endParaRPr b="0" sz="2400">
                <a:solidFill>
                  <a:srgbClr val="FFFFFF"/>
                </a:solidFill>
                <a:latin typeface="Montserrat ExtraBold"/>
                <a:ea typeface="Montserrat ExtraBold"/>
                <a:cs typeface="Montserrat ExtraBold"/>
                <a:sym typeface="Montserrat ExtraBold"/>
              </a:endParaRPr>
            </a:p>
          </p:txBody>
        </p:sp>
      </p:grpSp>
      <p:grpSp>
        <p:nvGrpSpPr>
          <p:cNvPr id="390" name="Google Shape;390;p23"/>
          <p:cNvGrpSpPr/>
          <p:nvPr/>
        </p:nvGrpSpPr>
        <p:grpSpPr>
          <a:xfrm>
            <a:off x="762000" y="1381125"/>
            <a:ext cx="2381400" cy="3000300"/>
            <a:chOff x="762000" y="1381125"/>
            <a:chExt cx="2381400" cy="3000300"/>
          </a:xfrm>
        </p:grpSpPr>
        <p:sp>
          <p:nvSpPr>
            <p:cNvPr id="391" name="Google Shape;391;p23"/>
            <p:cNvSpPr/>
            <p:nvPr/>
          </p:nvSpPr>
          <p:spPr>
            <a:xfrm>
              <a:off x="762000" y="1381125"/>
              <a:ext cx="2381400" cy="3000300"/>
            </a:xfrm>
            <a:prstGeom prst="roundRect">
              <a:avLst>
                <a:gd fmla="val 4800"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2" name="Google Shape;392;p23"/>
            <p:cNvSpPr txBox="1"/>
            <p:nvPr/>
          </p:nvSpPr>
          <p:spPr>
            <a:xfrm>
              <a:off x="933450" y="1571625"/>
              <a:ext cx="2038500" cy="2619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200">
                  <a:solidFill>
                    <a:srgbClr val="10B981"/>
                  </a:solidFill>
                  <a:latin typeface="Montserrat"/>
                  <a:ea typeface="Montserrat"/>
                  <a:cs typeface="Montserrat"/>
                  <a:sym typeface="Montserrat"/>
                </a:rPr>
                <a:t>EL HALLAZGO</a:t>
              </a:r>
              <a:endParaRPr b="1" sz="1200">
                <a:solidFill>
                  <a:srgbClr val="10B981"/>
                </a:solidFill>
                <a:latin typeface="Montserrat"/>
                <a:ea typeface="Montserrat"/>
                <a:cs typeface="Montserrat"/>
                <a:sym typeface="Montserrat"/>
              </a:endParaRPr>
            </a:p>
            <a:p>
              <a:pPr indent="0" lvl="0" marL="0" rtl="0" algn="l">
                <a:spcBef>
                  <a:spcPts val="900"/>
                </a:spcBef>
                <a:spcAft>
                  <a:spcPts val="0"/>
                </a:spcAft>
                <a:buNone/>
              </a:pPr>
              <a:r>
                <a:rPr b="0" lang="es" sz="1050">
                  <a:solidFill>
                    <a:srgbClr val="F1F5F9"/>
                  </a:solidFill>
                  <a:latin typeface="Arial"/>
                  <a:ea typeface="Arial"/>
                  <a:cs typeface="Arial"/>
                  <a:sym typeface="Arial"/>
                </a:rPr>
                <a:t>Las cifras oficiales de la OMS no cuentan toda la historia. El exceso global de mortalidad revela el verdadero impacto, superando por amplio margen los registros epidemiológicos tradicionales.</a:t>
              </a:r>
              <a:endParaRPr b="0" sz="1050">
                <a:solidFill>
                  <a:srgbClr val="F1F5F9"/>
                </a:solidFill>
                <a:latin typeface="Arial"/>
                <a:ea typeface="Arial"/>
                <a:cs typeface="Arial"/>
                <a:sym typeface="Arial"/>
              </a:endParaRPr>
            </a:p>
          </p:txBody>
        </p:sp>
      </p:grpSp>
      <p:grpSp>
        <p:nvGrpSpPr>
          <p:cNvPr id="393" name="Google Shape;393;p23"/>
          <p:cNvGrpSpPr/>
          <p:nvPr/>
        </p:nvGrpSpPr>
        <p:grpSpPr>
          <a:xfrm>
            <a:off x="3381375" y="1381125"/>
            <a:ext cx="2381400" cy="3000300"/>
            <a:chOff x="3381375" y="1381125"/>
            <a:chExt cx="2381400" cy="3000300"/>
          </a:xfrm>
        </p:grpSpPr>
        <p:sp>
          <p:nvSpPr>
            <p:cNvPr id="394" name="Google Shape;394;p23"/>
            <p:cNvSpPr/>
            <p:nvPr/>
          </p:nvSpPr>
          <p:spPr>
            <a:xfrm>
              <a:off x="3381375" y="1381125"/>
              <a:ext cx="2381400" cy="3000300"/>
            </a:xfrm>
            <a:prstGeom prst="roundRect">
              <a:avLst>
                <a:gd fmla="val 4800"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5" name="Google Shape;395;p23"/>
            <p:cNvSpPr txBox="1"/>
            <p:nvPr/>
          </p:nvSpPr>
          <p:spPr>
            <a:xfrm>
              <a:off x="3552825" y="1571625"/>
              <a:ext cx="2038500" cy="2619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200">
                  <a:solidFill>
                    <a:srgbClr val="10B981"/>
                  </a:solidFill>
                  <a:latin typeface="Montserrat"/>
                  <a:ea typeface="Montserrat"/>
                  <a:cs typeface="Montserrat"/>
                  <a:sym typeface="Montserrat"/>
                </a:rPr>
                <a:t>MÉTRICA CLAVE</a:t>
              </a:r>
              <a:endParaRPr b="1" sz="1200">
                <a:solidFill>
                  <a:srgbClr val="10B981"/>
                </a:solidFill>
                <a:latin typeface="Montserrat"/>
                <a:ea typeface="Montserrat"/>
                <a:cs typeface="Montserrat"/>
                <a:sym typeface="Montserrat"/>
              </a:endParaRPr>
            </a:p>
            <a:p>
              <a:pPr indent="0" lvl="0" marL="0" rtl="0" algn="l">
                <a:spcBef>
                  <a:spcPts val="900"/>
                </a:spcBef>
                <a:spcAft>
                  <a:spcPts val="0"/>
                </a:spcAft>
                <a:buNone/>
              </a:pPr>
              <a:r>
                <a:rPr b="0" lang="es" sz="1600">
                  <a:solidFill>
                    <a:srgbClr val="FFFFFF"/>
                  </a:solidFill>
                  <a:latin typeface="Montserrat ExtraBold"/>
                  <a:ea typeface="Montserrat ExtraBold"/>
                  <a:cs typeface="Montserrat ExtraBold"/>
                  <a:sym typeface="Montserrat ExtraBold"/>
                </a:rPr>
                <a:t>2015-2019</a:t>
              </a:r>
              <a:br>
                <a:rPr b="0" lang="es" sz="1600">
                  <a:solidFill>
                    <a:srgbClr val="FFFFFF"/>
                  </a:solidFill>
                  <a:latin typeface="Montserrat ExtraBold"/>
                  <a:ea typeface="Montserrat ExtraBold"/>
                  <a:cs typeface="Montserrat ExtraBold"/>
                  <a:sym typeface="Montserrat ExtraBold"/>
                </a:rPr>
              </a:br>
              <a:r>
                <a:rPr b="0" lang="es" sz="1600">
                  <a:solidFill>
                    <a:srgbClr val="3B82F6"/>
                  </a:solidFill>
                  <a:latin typeface="Montserrat ExtraBold"/>
                  <a:ea typeface="Montserrat ExtraBold"/>
                  <a:cs typeface="Montserrat ExtraBold"/>
                  <a:sym typeface="Montserrat ExtraBold"/>
                </a:rPr>
                <a:t>vs</a:t>
              </a:r>
              <a:br>
                <a:rPr b="0" lang="es" sz="1600">
                  <a:solidFill>
                    <a:srgbClr val="FFFFFF"/>
                  </a:solidFill>
                  <a:latin typeface="Montserrat ExtraBold"/>
                  <a:ea typeface="Montserrat ExtraBold"/>
                  <a:cs typeface="Montserrat ExtraBold"/>
                  <a:sym typeface="Montserrat ExtraBold"/>
                </a:rPr>
              </a:br>
              <a:r>
                <a:rPr b="0" lang="es" sz="1600">
                  <a:solidFill>
                    <a:srgbClr val="FFFFFF"/>
                  </a:solidFill>
                  <a:latin typeface="Montserrat ExtraBold"/>
                  <a:ea typeface="Montserrat ExtraBold"/>
                  <a:cs typeface="Montserrat ExtraBold"/>
                  <a:sym typeface="Montserrat ExtraBold"/>
                </a:rPr>
                <a:t>2020-2021</a:t>
              </a:r>
              <a:endParaRPr b="0" sz="1600">
                <a:solidFill>
                  <a:srgbClr val="FFFFFF"/>
                </a:solidFill>
                <a:latin typeface="Montserrat ExtraBold"/>
                <a:ea typeface="Montserrat ExtraBold"/>
                <a:cs typeface="Montserrat ExtraBold"/>
                <a:sym typeface="Montserrat ExtraBold"/>
              </a:endParaRPr>
            </a:p>
            <a:p>
              <a:pPr indent="0" lvl="0" marL="0" rtl="0" algn="l">
                <a:spcBef>
                  <a:spcPts val="600"/>
                </a:spcBef>
                <a:spcAft>
                  <a:spcPts val="0"/>
                </a:spcAft>
                <a:buNone/>
              </a:pPr>
              <a:r>
                <a:rPr b="0" lang="es" sz="1050">
                  <a:solidFill>
                    <a:srgbClr val="F1F5F9"/>
                  </a:solidFill>
                  <a:latin typeface="Arial"/>
                  <a:ea typeface="Arial"/>
                  <a:cs typeface="Arial"/>
                  <a:sym typeface="Arial"/>
                </a:rPr>
                <a:t>Comparativa robusta del Promedio Anual de Defunciones para aislar la desviación estadística real y medir el exceso absoluto de muertes.</a:t>
              </a:r>
              <a:endParaRPr b="0" sz="1050">
                <a:solidFill>
                  <a:srgbClr val="F1F5F9"/>
                </a:solidFill>
                <a:latin typeface="Arial"/>
                <a:ea typeface="Arial"/>
                <a:cs typeface="Arial"/>
                <a:sym typeface="Arial"/>
              </a:endParaRPr>
            </a:p>
          </p:txBody>
        </p:sp>
      </p:grpSp>
      <p:grpSp>
        <p:nvGrpSpPr>
          <p:cNvPr id="396" name="Google Shape;396;p23"/>
          <p:cNvGrpSpPr/>
          <p:nvPr/>
        </p:nvGrpSpPr>
        <p:grpSpPr>
          <a:xfrm>
            <a:off x="6000750" y="1381125"/>
            <a:ext cx="2381400" cy="3000300"/>
            <a:chOff x="6000750" y="1381125"/>
            <a:chExt cx="2381400" cy="3000300"/>
          </a:xfrm>
        </p:grpSpPr>
        <p:sp>
          <p:nvSpPr>
            <p:cNvPr id="397" name="Google Shape;397;p23"/>
            <p:cNvSpPr/>
            <p:nvPr/>
          </p:nvSpPr>
          <p:spPr>
            <a:xfrm>
              <a:off x="6000750" y="1381125"/>
              <a:ext cx="2381400" cy="3000300"/>
            </a:xfrm>
            <a:prstGeom prst="roundRect">
              <a:avLst>
                <a:gd fmla="val 4800"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398" name="Google Shape;398;p23"/>
            <p:cNvSpPr txBox="1"/>
            <p:nvPr/>
          </p:nvSpPr>
          <p:spPr>
            <a:xfrm>
              <a:off x="6172200" y="1571625"/>
              <a:ext cx="2038500" cy="2619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200">
                  <a:solidFill>
                    <a:srgbClr val="10B981"/>
                  </a:solidFill>
                  <a:latin typeface="Montserrat"/>
                  <a:ea typeface="Montserrat"/>
                  <a:cs typeface="Montserrat"/>
                  <a:sym typeface="Montserrat"/>
                </a:rPr>
                <a:t>EVIDENCIA</a:t>
              </a:r>
              <a:endParaRPr b="1" sz="1200">
                <a:solidFill>
                  <a:srgbClr val="10B981"/>
                </a:solidFill>
                <a:latin typeface="Montserrat"/>
                <a:ea typeface="Montserrat"/>
                <a:cs typeface="Montserrat"/>
                <a:sym typeface="Montserrat"/>
              </a:endParaRPr>
            </a:p>
            <a:p>
              <a:pPr indent="0" lvl="0" marL="0" rtl="0" algn="l">
                <a:spcBef>
                  <a:spcPts val="900"/>
                </a:spcBef>
                <a:spcAft>
                  <a:spcPts val="0"/>
                </a:spcAft>
                <a:buNone/>
              </a:pPr>
              <a:r>
                <a:rPr b="0" lang="es" sz="1050">
                  <a:solidFill>
                    <a:srgbClr val="F1F5F9"/>
                  </a:solidFill>
                  <a:latin typeface="Arial"/>
                  <a:ea typeface="Arial"/>
                  <a:cs typeface="Arial"/>
                  <a:sym typeface="Arial"/>
                </a:rPr>
                <a:t>Todas las regiones del mundo experimentaron un salto estadístico de gran magnitud y anómalo en su línea base de mortalidad general, evidenciando un patrón de afectación global homogéneo.</a:t>
              </a:r>
              <a:endParaRPr b="0" sz="1050">
                <a:solidFill>
                  <a:srgbClr val="F1F5F9"/>
                </a:solidFill>
                <a:latin typeface="Arial"/>
                <a:ea typeface="Arial"/>
                <a:cs typeface="Arial"/>
                <a:sym typeface="Arial"/>
              </a:endParaRPr>
            </a:p>
          </p:txBody>
        </p:sp>
      </p:grpSp>
      <p:grpSp>
        <p:nvGrpSpPr>
          <p:cNvPr id="399" name="Google Shape;399;p23"/>
          <p:cNvGrpSpPr/>
          <p:nvPr/>
        </p:nvGrpSpPr>
        <p:grpSpPr>
          <a:xfrm>
            <a:off x="762000" y="4667250"/>
            <a:ext cx="1619400" cy="142800"/>
            <a:chOff x="762000" y="4667250"/>
            <a:chExt cx="1619400" cy="142800"/>
          </a:xfrm>
        </p:grpSpPr>
        <p:sp>
          <p:nvSpPr>
            <p:cNvPr id="400" name="Google Shape;400;p23"/>
            <p:cNvSpPr/>
            <p:nvPr/>
          </p:nvSpPr>
          <p:spPr>
            <a:xfrm>
              <a:off x="762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1" name="Google Shape;401;p23"/>
            <p:cNvSpPr txBox="1"/>
            <p:nvPr/>
          </p:nvSpPr>
          <p:spPr>
            <a:xfrm>
              <a:off x="762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3B82F6"/>
                  </a:solidFill>
                  <a:latin typeface="Arial"/>
                  <a:ea typeface="Arial"/>
                  <a:cs typeface="Arial"/>
                  <a:sym typeface="Arial"/>
                </a:rPr>
                <a:t>PNUD</a:t>
              </a:r>
              <a:endParaRPr b="0" sz="650">
                <a:solidFill>
                  <a:srgbClr val="3B82F6"/>
                </a:solidFill>
                <a:latin typeface="Arial"/>
                <a:ea typeface="Arial"/>
                <a:cs typeface="Arial"/>
                <a:sym typeface="Arial"/>
              </a:endParaRPr>
            </a:p>
          </p:txBody>
        </p:sp>
        <p:sp>
          <p:nvSpPr>
            <p:cNvPr id="402" name="Google Shape;402;p23"/>
            <p:cNvSpPr/>
            <p:nvPr/>
          </p:nvSpPr>
          <p:spPr>
            <a:xfrm>
              <a:off x="13335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3" name="Google Shape;403;p23"/>
            <p:cNvSpPr txBox="1"/>
            <p:nvPr/>
          </p:nvSpPr>
          <p:spPr>
            <a:xfrm>
              <a:off x="13335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10B981"/>
                  </a:solidFill>
                  <a:latin typeface="Arial"/>
                  <a:ea typeface="Arial"/>
                  <a:cs typeface="Arial"/>
                  <a:sym typeface="Arial"/>
                </a:rPr>
                <a:t>MSPAS</a:t>
              </a:r>
              <a:endParaRPr b="0" sz="650">
                <a:solidFill>
                  <a:srgbClr val="10B981"/>
                </a:solidFill>
                <a:latin typeface="Arial"/>
                <a:ea typeface="Arial"/>
                <a:cs typeface="Arial"/>
                <a:sym typeface="Arial"/>
              </a:endParaRPr>
            </a:p>
          </p:txBody>
        </p:sp>
        <p:sp>
          <p:nvSpPr>
            <p:cNvPr id="404" name="Google Shape;404;p23"/>
            <p:cNvSpPr/>
            <p:nvPr/>
          </p:nvSpPr>
          <p:spPr>
            <a:xfrm>
              <a:off x="1905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05" name="Google Shape;405;p23"/>
            <p:cNvSpPr txBox="1"/>
            <p:nvPr/>
          </p:nvSpPr>
          <p:spPr>
            <a:xfrm>
              <a:off x="1905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94A3B8"/>
                  </a:solidFill>
                  <a:latin typeface="Arial"/>
                  <a:ea typeface="Arial"/>
                  <a:cs typeface="Arial"/>
                  <a:sym typeface="Arial"/>
                </a:rPr>
                <a:t>USAC</a:t>
              </a:r>
              <a:endParaRPr b="0" sz="650">
                <a:solidFill>
                  <a:srgbClr val="94A3B8"/>
                </a:solidFill>
                <a:latin typeface="Arial"/>
                <a:ea typeface="Arial"/>
                <a:cs typeface="Arial"/>
                <a:sym typeface="Arial"/>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9" name="Shape 409"/>
        <p:cNvGrpSpPr/>
        <p:nvPr/>
      </p:nvGrpSpPr>
      <p:grpSpPr>
        <a:xfrm>
          <a:off x="0" y="0"/>
          <a:ext cx="0" cy="0"/>
          <a:chOff x="0" y="0"/>
          <a:chExt cx="0" cy="0"/>
        </a:xfrm>
      </p:grpSpPr>
      <p:pic>
        <p:nvPicPr>
          <p:cNvPr id="410" name="Google Shape;410;p24" title="This slide contains the following visuals: Exceso de Mortalidad Global: El Salto Pandémico ,Letalidad vs. Volumen de Contagios ,Evolución de las Olas COVID en Centroamérica ,textbox ,slicer ,textbox ,textbox ,slicer ,cardVisual ,cardVisual. Please refer to the notes on this slide for details">
            <a:hlinkClick r:id="rId3"/>
          </p:cNvPr>
          <p:cNvPicPr preferRelativeResize="0"/>
          <p:nvPr/>
        </p:nvPicPr>
        <p:blipFill rotWithShape="1">
          <a:blip r:embed="rId4">
            <a:alphaModFix/>
          </a:blip>
          <a:srcRect b="0" l="0" r="0" t="0"/>
          <a:stretch/>
        </p:blipFill>
        <p:spPr>
          <a:xfrm>
            <a:off x="0" y="0"/>
            <a:ext cx="9143999" cy="51435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p25"/>
          <p:cNvSpPr/>
          <p:nvPr/>
        </p:nvSpPr>
        <p:spPr>
          <a:xfrm>
            <a:off x="0" y="0"/>
            <a:ext cx="9144000" cy="5143500"/>
          </a:xfrm>
          <a:prstGeom prst="rect">
            <a:avLst/>
          </a:prstGeom>
          <a:solidFill>
            <a:srgbClr val="020B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16" name="Google Shape;416;p25"/>
          <p:cNvGrpSpPr/>
          <p:nvPr/>
        </p:nvGrpSpPr>
        <p:grpSpPr>
          <a:xfrm>
            <a:off x="4953000" y="381000"/>
            <a:ext cx="4000500" cy="4953000"/>
            <a:chOff x="4953000" y="381000"/>
            <a:chExt cx="4000500" cy="4953000"/>
          </a:xfrm>
        </p:grpSpPr>
        <p:sp>
          <p:nvSpPr>
            <p:cNvPr id="417" name="Google Shape;417;p25"/>
            <p:cNvSpPr/>
            <p:nvPr/>
          </p:nvSpPr>
          <p:spPr>
            <a:xfrm>
              <a:off x="6286500" y="381000"/>
              <a:ext cx="2667000" cy="2667000"/>
            </a:xfrm>
            <a:prstGeom prst="ellipse">
              <a:avLst/>
            </a:prstGeom>
            <a:solidFill>
              <a:srgbClr val="3B82F6">
                <a:alpha val="5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8" name="Google Shape;418;p25"/>
            <p:cNvSpPr/>
            <p:nvPr/>
          </p:nvSpPr>
          <p:spPr>
            <a:xfrm>
              <a:off x="7048500" y="1143000"/>
              <a:ext cx="1714500" cy="1714500"/>
            </a:xfrm>
            <a:prstGeom prst="ellipse">
              <a:avLst/>
            </a:prstGeom>
            <a:solidFill>
              <a:srgbClr val="10B981">
                <a:alpha val="3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19" name="Google Shape;419;p25"/>
            <p:cNvSpPr/>
            <p:nvPr/>
          </p:nvSpPr>
          <p:spPr>
            <a:xfrm>
              <a:off x="4953000" y="1905000"/>
              <a:ext cx="3429000" cy="3429000"/>
            </a:xfrm>
            <a:prstGeom prst="ellipse">
              <a:avLst/>
            </a:prstGeom>
            <a:solidFill>
              <a:srgbClr val="021329"/>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420" name="Google Shape;420;p25"/>
          <p:cNvGrpSpPr/>
          <p:nvPr/>
        </p:nvGrpSpPr>
        <p:grpSpPr>
          <a:xfrm>
            <a:off x="762000" y="428625"/>
            <a:ext cx="7620000" cy="714525"/>
            <a:chOff x="762000" y="428625"/>
            <a:chExt cx="7620000" cy="714525"/>
          </a:xfrm>
        </p:grpSpPr>
        <p:sp>
          <p:nvSpPr>
            <p:cNvPr id="421" name="Google Shape;421;p25"/>
            <p:cNvSpPr txBox="1"/>
            <p:nvPr/>
          </p:nvSpPr>
          <p:spPr>
            <a:xfrm>
              <a:off x="762000" y="428625"/>
              <a:ext cx="7620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925">
                  <a:solidFill>
                    <a:srgbClr val="10B981"/>
                  </a:solidFill>
                  <a:latin typeface="Montserrat"/>
                  <a:ea typeface="Montserrat"/>
                  <a:cs typeface="Montserrat"/>
                  <a:sym typeface="Montserrat"/>
                </a:rPr>
                <a:t>PLATAFORMA DE INTELIGENCIA EPIDEMIOLÓGICA</a:t>
              </a:r>
              <a:endParaRPr b="1" sz="925">
                <a:solidFill>
                  <a:srgbClr val="10B981"/>
                </a:solidFill>
                <a:latin typeface="Montserrat"/>
                <a:ea typeface="Montserrat"/>
                <a:cs typeface="Montserrat"/>
                <a:sym typeface="Montserrat"/>
              </a:endParaRPr>
            </a:p>
          </p:txBody>
        </p:sp>
        <p:sp>
          <p:nvSpPr>
            <p:cNvPr id="422" name="Google Shape;422;p25"/>
            <p:cNvSpPr txBox="1"/>
            <p:nvPr/>
          </p:nvSpPr>
          <p:spPr>
            <a:xfrm>
              <a:off x="762000" y="666750"/>
              <a:ext cx="7620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s" sz="2400">
                  <a:solidFill>
                    <a:srgbClr val="FFFFFF"/>
                  </a:solidFill>
                  <a:latin typeface="Montserrat ExtraBold"/>
                  <a:ea typeface="Montserrat ExtraBold"/>
                  <a:cs typeface="Montserrat ExtraBold"/>
                  <a:sym typeface="Montserrat ExtraBold"/>
                </a:rPr>
                <a:t>El Daño Colateral en Guatemala</a:t>
              </a:r>
              <a:endParaRPr b="0" sz="2400">
                <a:solidFill>
                  <a:srgbClr val="FFFFFF"/>
                </a:solidFill>
                <a:latin typeface="Montserrat ExtraBold"/>
                <a:ea typeface="Montserrat ExtraBold"/>
                <a:cs typeface="Montserrat ExtraBold"/>
                <a:sym typeface="Montserrat ExtraBold"/>
              </a:endParaRPr>
            </a:p>
          </p:txBody>
        </p:sp>
      </p:grpSp>
      <p:grpSp>
        <p:nvGrpSpPr>
          <p:cNvPr id="423" name="Google Shape;423;p25"/>
          <p:cNvGrpSpPr/>
          <p:nvPr/>
        </p:nvGrpSpPr>
        <p:grpSpPr>
          <a:xfrm>
            <a:off x="762000" y="1381125"/>
            <a:ext cx="2381400" cy="3000300"/>
            <a:chOff x="762000" y="1381125"/>
            <a:chExt cx="2381400" cy="3000300"/>
          </a:xfrm>
        </p:grpSpPr>
        <p:sp>
          <p:nvSpPr>
            <p:cNvPr id="424" name="Google Shape;424;p25"/>
            <p:cNvSpPr/>
            <p:nvPr/>
          </p:nvSpPr>
          <p:spPr>
            <a:xfrm>
              <a:off x="762000" y="1381125"/>
              <a:ext cx="2381400" cy="3000300"/>
            </a:xfrm>
            <a:prstGeom prst="roundRect">
              <a:avLst>
                <a:gd fmla="val 4800"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5" name="Google Shape;425;p25"/>
            <p:cNvSpPr txBox="1"/>
            <p:nvPr/>
          </p:nvSpPr>
          <p:spPr>
            <a:xfrm>
              <a:off x="933450" y="1571625"/>
              <a:ext cx="2038500" cy="2619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200">
                  <a:solidFill>
                    <a:srgbClr val="10B981"/>
                  </a:solidFill>
                  <a:latin typeface="Montserrat"/>
                  <a:ea typeface="Montserrat"/>
                  <a:cs typeface="Montserrat"/>
                  <a:sym typeface="Montserrat"/>
                </a:rPr>
                <a:t>LA HIPÓTESIS</a:t>
              </a:r>
              <a:endParaRPr b="1" sz="1200">
                <a:solidFill>
                  <a:srgbClr val="10B981"/>
                </a:solidFill>
                <a:latin typeface="Montserrat"/>
                <a:ea typeface="Montserrat"/>
                <a:cs typeface="Montserrat"/>
                <a:sym typeface="Montserrat"/>
              </a:endParaRPr>
            </a:p>
            <a:p>
              <a:pPr indent="0" lvl="0" marL="0" rtl="0" algn="l">
                <a:spcBef>
                  <a:spcPts val="600"/>
                </a:spcBef>
                <a:spcAft>
                  <a:spcPts val="0"/>
                </a:spcAft>
                <a:buNone/>
              </a:pPr>
              <a:r>
                <a:rPr b="0" lang="es" sz="1050">
                  <a:solidFill>
                    <a:srgbClr val="F1F5F9"/>
                  </a:solidFill>
                  <a:latin typeface="Arial"/>
                  <a:ea typeface="Arial"/>
                  <a:cs typeface="Arial"/>
                  <a:sym typeface="Arial"/>
                </a:rPr>
                <a:t>La atención hospitalaria de otras enfermedades se paralizó de manera casi total durante los momentos críticos de la emergencia sanitaria.</a:t>
              </a:r>
              <a:endParaRPr b="0" sz="1050">
                <a:solidFill>
                  <a:srgbClr val="F1F5F9"/>
                </a:solidFill>
                <a:latin typeface="Arial"/>
                <a:ea typeface="Arial"/>
                <a:cs typeface="Arial"/>
                <a:sym typeface="Arial"/>
              </a:endParaRPr>
            </a:p>
          </p:txBody>
        </p:sp>
      </p:grpSp>
      <p:grpSp>
        <p:nvGrpSpPr>
          <p:cNvPr id="426" name="Google Shape;426;p25"/>
          <p:cNvGrpSpPr/>
          <p:nvPr/>
        </p:nvGrpSpPr>
        <p:grpSpPr>
          <a:xfrm>
            <a:off x="3381375" y="1381125"/>
            <a:ext cx="2381400" cy="3000300"/>
            <a:chOff x="3381375" y="1381125"/>
            <a:chExt cx="2381400" cy="3000300"/>
          </a:xfrm>
        </p:grpSpPr>
        <p:sp>
          <p:nvSpPr>
            <p:cNvPr id="427" name="Google Shape;427;p25"/>
            <p:cNvSpPr/>
            <p:nvPr/>
          </p:nvSpPr>
          <p:spPr>
            <a:xfrm>
              <a:off x="3381375" y="1381125"/>
              <a:ext cx="2381400" cy="3000300"/>
            </a:xfrm>
            <a:prstGeom prst="roundRect">
              <a:avLst>
                <a:gd fmla="val 4800"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28" name="Google Shape;428;p25"/>
            <p:cNvSpPr txBox="1"/>
            <p:nvPr/>
          </p:nvSpPr>
          <p:spPr>
            <a:xfrm>
              <a:off x="3552825" y="1571625"/>
              <a:ext cx="2038500" cy="2619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200">
                  <a:solidFill>
                    <a:srgbClr val="10B981"/>
                  </a:solidFill>
                  <a:latin typeface="Montserrat"/>
                  <a:ea typeface="Montserrat"/>
                  <a:cs typeface="Montserrat"/>
                  <a:sym typeface="Montserrat"/>
                </a:rPr>
                <a:t>EL CRUCE</a:t>
              </a:r>
              <a:endParaRPr b="1" sz="1200">
                <a:solidFill>
                  <a:srgbClr val="10B981"/>
                </a:solidFill>
                <a:latin typeface="Montserrat"/>
                <a:ea typeface="Montserrat"/>
                <a:cs typeface="Montserrat"/>
                <a:sym typeface="Montserrat"/>
              </a:endParaRPr>
            </a:p>
            <a:p>
              <a:pPr indent="0" lvl="0" marL="0" rtl="0" algn="l">
                <a:spcBef>
                  <a:spcPts val="600"/>
                </a:spcBef>
                <a:spcAft>
                  <a:spcPts val="0"/>
                </a:spcAft>
                <a:buNone/>
              </a:pPr>
              <a:r>
                <a:rPr b="0" lang="es" sz="1050">
                  <a:solidFill>
                    <a:srgbClr val="F1F5F9"/>
                  </a:solidFill>
                  <a:latin typeface="Arial"/>
                  <a:ea typeface="Arial"/>
                  <a:cs typeface="Arial"/>
                  <a:sym typeface="Arial"/>
                </a:rPr>
                <a:t>Mortalidad COVID-19 reportada por el MSPAS contra el volumen de atención de Morbilidad Crónica (MEC) registrado en el sistema.</a:t>
              </a:r>
              <a:endParaRPr b="0" sz="1050">
                <a:solidFill>
                  <a:srgbClr val="F1F5F9"/>
                </a:solidFill>
                <a:latin typeface="Arial"/>
                <a:ea typeface="Arial"/>
                <a:cs typeface="Arial"/>
                <a:sym typeface="Arial"/>
              </a:endParaRPr>
            </a:p>
          </p:txBody>
        </p:sp>
      </p:grpSp>
      <p:grpSp>
        <p:nvGrpSpPr>
          <p:cNvPr id="429" name="Google Shape;429;p25"/>
          <p:cNvGrpSpPr/>
          <p:nvPr/>
        </p:nvGrpSpPr>
        <p:grpSpPr>
          <a:xfrm>
            <a:off x="6000750" y="1381125"/>
            <a:ext cx="2381400" cy="3000300"/>
            <a:chOff x="6000750" y="1381125"/>
            <a:chExt cx="2381400" cy="3000300"/>
          </a:xfrm>
        </p:grpSpPr>
        <p:sp>
          <p:nvSpPr>
            <p:cNvPr id="430" name="Google Shape;430;p25"/>
            <p:cNvSpPr/>
            <p:nvPr/>
          </p:nvSpPr>
          <p:spPr>
            <a:xfrm>
              <a:off x="6000750" y="1381125"/>
              <a:ext cx="2381400" cy="3000300"/>
            </a:xfrm>
            <a:prstGeom prst="roundRect">
              <a:avLst>
                <a:gd fmla="val 4800"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1" name="Google Shape;431;p25"/>
            <p:cNvSpPr txBox="1"/>
            <p:nvPr/>
          </p:nvSpPr>
          <p:spPr>
            <a:xfrm>
              <a:off x="6172200" y="1571625"/>
              <a:ext cx="2038500" cy="26193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1200">
                  <a:solidFill>
                    <a:srgbClr val="10B981"/>
                  </a:solidFill>
                  <a:latin typeface="Montserrat"/>
                  <a:ea typeface="Montserrat"/>
                  <a:cs typeface="Montserrat"/>
                  <a:sym typeface="Montserrat"/>
                </a:rPr>
                <a:t>EL HALLAZGO</a:t>
              </a:r>
              <a:endParaRPr b="1" sz="1200">
                <a:solidFill>
                  <a:srgbClr val="10B981"/>
                </a:solidFill>
                <a:latin typeface="Montserrat"/>
                <a:ea typeface="Montserrat"/>
                <a:cs typeface="Montserrat"/>
                <a:sym typeface="Montserrat"/>
              </a:endParaRPr>
            </a:p>
            <a:p>
              <a:pPr indent="0" lvl="0" marL="0" rtl="0" algn="l">
                <a:spcBef>
                  <a:spcPts val="600"/>
                </a:spcBef>
                <a:spcAft>
                  <a:spcPts val="0"/>
                </a:spcAft>
                <a:buNone/>
              </a:pPr>
              <a:r>
                <a:rPr b="0" lang="es" sz="1050">
                  <a:solidFill>
                    <a:srgbClr val="F1F5F9"/>
                  </a:solidFill>
                  <a:latin typeface="Arial"/>
                  <a:ea typeface="Arial"/>
                  <a:cs typeface="Arial"/>
                  <a:sym typeface="Arial"/>
                </a:rPr>
                <a:t>Se evidenció un desplome en forma de "V" en el volumen de pacientes crónicos atendidos justamente durante el pico más alto de contagios.</a:t>
              </a:r>
              <a:endParaRPr b="0" sz="1050">
                <a:solidFill>
                  <a:srgbClr val="F1F5F9"/>
                </a:solidFill>
                <a:latin typeface="Arial"/>
                <a:ea typeface="Arial"/>
                <a:cs typeface="Arial"/>
                <a:sym typeface="Arial"/>
              </a:endParaRPr>
            </a:p>
          </p:txBody>
        </p:sp>
      </p:grpSp>
      <p:grpSp>
        <p:nvGrpSpPr>
          <p:cNvPr id="432" name="Google Shape;432;p25"/>
          <p:cNvGrpSpPr/>
          <p:nvPr/>
        </p:nvGrpSpPr>
        <p:grpSpPr>
          <a:xfrm>
            <a:off x="762000" y="4667250"/>
            <a:ext cx="1619400" cy="142800"/>
            <a:chOff x="762000" y="4667250"/>
            <a:chExt cx="1619400" cy="142800"/>
          </a:xfrm>
        </p:grpSpPr>
        <p:sp>
          <p:nvSpPr>
            <p:cNvPr id="433" name="Google Shape;433;p25"/>
            <p:cNvSpPr/>
            <p:nvPr/>
          </p:nvSpPr>
          <p:spPr>
            <a:xfrm>
              <a:off x="762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4" name="Google Shape;434;p25"/>
            <p:cNvSpPr txBox="1"/>
            <p:nvPr/>
          </p:nvSpPr>
          <p:spPr>
            <a:xfrm>
              <a:off x="762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3B82F6"/>
                  </a:solidFill>
                  <a:latin typeface="Arial"/>
                  <a:ea typeface="Arial"/>
                  <a:cs typeface="Arial"/>
                  <a:sym typeface="Arial"/>
                </a:rPr>
                <a:t>PNUD</a:t>
              </a:r>
              <a:endParaRPr b="0" sz="650">
                <a:solidFill>
                  <a:srgbClr val="3B82F6"/>
                </a:solidFill>
                <a:latin typeface="Arial"/>
                <a:ea typeface="Arial"/>
                <a:cs typeface="Arial"/>
                <a:sym typeface="Arial"/>
              </a:endParaRPr>
            </a:p>
          </p:txBody>
        </p:sp>
        <p:sp>
          <p:nvSpPr>
            <p:cNvPr id="435" name="Google Shape;435;p25"/>
            <p:cNvSpPr/>
            <p:nvPr/>
          </p:nvSpPr>
          <p:spPr>
            <a:xfrm>
              <a:off x="13335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6" name="Google Shape;436;p25"/>
            <p:cNvSpPr txBox="1"/>
            <p:nvPr/>
          </p:nvSpPr>
          <p:spPr>
            <a:xfrm>
              <a:off x="13335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10B981"/>
                  </a:solidFill>
                  <a:latin typeface="Arial"/>
                  <a:ea typeface="Arial"/>
                  <a:cs typeface="Arial"/>
                  <a:sym typeface="Arial"/>
                </a:rPr>
                <a:t>MSPAS</a:t>
              </a:r>
              <a:endParaRPr b="0" sz="650">
                <a:solidFill>
                  <a:srgbClr val="10B981"/>
                </a:solidFill>
                <a:latin typeface="Arial"/>
                <a:ea typeface="Arial"/>
                <a:cs typeface="Arial"/>
                <a:sym typeface="Arial"/>
              </a:endParaRPr>
            </a:p>
          </p:txBody>
        </p:sp>
        <p:sp>
          <p:nvSpPr>
            <p:cNvPr id="437" name="Google Shape;437;p25"/>
            <p:cNvSpPr/>
            <p:nvPr/>
          </p:nvSpPr>
          <p:spPr>
            <a:xfrm>
              <a:off x="1905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38" name="Google Shape;438;p25"/>
            <p:cNvSpPr txBox="1"/>
            <p:nvPr/>
          </p:nvSpPr>
          <p:spPr>
            <a:xfrm>
              <a:off x="1905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94A3B8"/>
                  </a:solidFill>
                  <a:latin typeface="Arial"/>
                  <a:ea typeface="Arial"/>
                  <a:cs typeface="Arial"/>
                  <a:sym typeface="Arial"/>
                </a:rPr>
                <a:t>USAC</a:t>
              </a:r>
              <a:endParaRPr b="0" sz="650">
                <a:solidFill>
                  <a:srgbClr val="94A3B8"/>
                </a:solidFill>
                <a:latin typeface="Arial"/>
                <a:ea typeface="Arial"/>
                <a:cs typeface="Arial"/>
                <a:sym typeface="Arial"/>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2" name="Shape 442"/>
        <p:cNvGrpSpPr/>
        <p:nvPr/>
      </p:nvGrpSpPr>
      <p:grpSpPr>
        <a:xfrm>
          <a:off x="0" y="0"/>
          <a:ext cx="0" cy="0"/>
          <a:chOff x="0" y="0"/>
          <a:chExt cx="0" cy="0"/>
        </a:xfrm>
      </p:grpSpPr>
      <p:pic>
        <p:nvPicPr>
          <p:cNvPr id="443" name="Google Shape;443;p26" title="This slide contains the following visuals: Evolución de las Olas COVID-19 en Guatemala , El Daño Colateral: Desplome en la Atención a Pacientes Crónicos ,cardVisual ,cardVisual ,cardVisual ,textbox ,textbox ,slicer ,textbox ,slicer. Please refer to the notes on this slide for details">
            <a:hlinkClick r:id="rId3"/>
          </p:cNvPr>
          <p:cNvPicPr preferRelativeResize="0"/>
          <p:nvPr/>
        </p:nvPicPr>
        <p:blipFill rotWithShape="1">
          <a:blip r:embed="rId4">
            <a:alphaModFix/>
          </a:blip>
          <a:srcRect b="0" l="0" r="0" t="0"/>
          <a:stretch/>
        </p:blipFill>
        <p:spPr>
          <a:xfrm>
            <a:off x="0" y="0"/>
            <a:ext cx="9143999" cy="51721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7" name="Shape 447"/>
        <p:cNvGrpSpPr/>
        <p:nvPr/>
      </p:nvGrpSpPr>
      <p:grpSpPr>
        <a:xfrm>
          <a:off x="0" y="0"/>
          <a:ext cx="0" cy="0"/>
          <a:chOff x="0" y="0"/>
          <a:chExt cx="0" cy="0"/>
        </a:xfrm>
      </p:grpSpPr>
      <p:pic>
        <p:nvPicPr>
          <p:cNvPr id="448" name="Google Shape;448;p27"/>
          <p:cNvPicPr preferRelativeResize="0"/>
          <p:nvPr/>
        </p:nvPicPr>
        <p:blipFill>
          <a:blip r:embed="rId3">
            <a:alphaModFix/>
          </a:blip>
          <a:stretch>
            <a:fillRect/>
          </a:stretch>
        </p:blipFill>
        <p:spPr>
          <a:xfrm>
            <a:off x="-4465" y="0"/>
            <a:ext cx="9148464"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2" name="Shape 452"/>
        <p:cNvGrpSpPr/>
        <p:nvPr/>
      </p:nvGrpSpPr>
      <p:grpSpPr>
        <a:xfrm>
          <a:off x="0" y="0"/>
          <a:ext cx="0" cy="0"/>
          <a:chOff x="0" y="0"/>
          <a:chExt cx="0" cy="0"/>
        </a:xfrm>
      </p:grpSpPr>
      <p:sp>
        <p:nvSpPr>
          <p:cNvPr id="453" name="Google Shape;453;p28"/>
          <p:cNvSpPr/>
          <p:nvPr/>
        </p:nvSpPr>
        <p:spPr>
          <a:xfrm>
            <a:off x="0" y="0"/>
            <a:ext cx="9144000" cy="5143500"/>
          </a:xfrm>
          <a:prstGeom prst="rect">
            <a:avLst/>
          </a:prstGeom>
          <a:solidFill>
            <a:srgbClr val="020B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54" name="Google Shape;454;p28"/>
          <p:cNvGrpSpPr/>
          <p:nvPr/>
        </p:nvGrpSpPr>
        <p:grpSpPr>
          <a:xfrm>
            <a:off x="4953000" y="381000"/>
            <a:ext cx="4000500" cy="4953000"/>
            <a:chOff x="4953000" y="381000"/>
            <a:chExt cx="4000500" cy="4953000"/>
          </a:xfrm>
        </p:grpSpPr>
        <p:sp>
          <p:nvSpPr>
            <p:cNvPr id="455" name="Google Shape;455;p28"/>
            <p:cNvSpPr/>
            <p:nvPr/>
          </p:nvSpPr>
          <p:spPr>
            <a:xfrm>
              <a:off x="6286500" y="381000"/>
              <a:ext cx="2667000" cy="2667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6" name="Google Shape;456;p28"/>
            <p:cNvSpPr/>
            <p:nvPr/>
          </p:nvSpPr>
          <p:spPr>
            <a:xfrm>
              <a:off x="7048500" y="1143000"/>
              <a:ext cx="1714500" cy="1714500"/>
            </a:xfrm>
            <a:prstGeom prst="ellipse">
              <a:avLst/>
            </a:prstGeom>
            <a:solidFill>
              <a:srgbClr val="10B981">
                <a:alpha val="2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57" name="Google Shape;457;p28"/>
            <p:cNvSpPr/>
            <p:nvPr/>
          </p:nvSpPr>
          <p:spPr>
            <a:xfrm>
              <a:off x="4953000" y="1905000"/>
              <a:ext cx="3429000" cy="3429000"/>
            </a:xfrm>
            <a:prstGeom prst="ellipse">
              <a:avLst/>
            </a:prstGeom>
            <a:solidFill>
              <a:srgbClr val="021329"/>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grpSp>
        <p:nvGrpSpPr>
          <p:cNvPr id="458" name="Google Shape;458;p28"/>
          <p:cNvGrpSpPr/>
          <p:nvPr/>
        </p:nvGrpSpPr>
        <p:grpSpPr>
          <a:xfrm>
            <a:off x="762000" y="428625"/>
            <a:ext cx="7620000" cy="714525"/>
            <a:chOff x="762000" y="428625"/>
            <a:chExt cx="7620000" cy="714525"/>
          </a:xfrm>
        </p:grpSpPr>
        <p:sp>
          <p:nvSpPr>
            <p:cNvPr id="459" name="Google Shape;459;p28"/>
            <p:cNvSpPr txBox="1"/>
            <p:nvPr/>
          </p:nvSpPr>
          <p:spPr>
            <a:xfrm>
              <a:off x="762000" y="428625"/>
              <a:ext cx="7620000" cy="2382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1" lang="es" sz="925">
                  <a:solidFill>
                    <a:srgbClr val="10B981"/>
                  </a:solidFill>
                  <a:latin typeface="Montserrat"/>
                  <a:ea typeface="Montserrat"/>
                  <a:cs typeface="Montserrat"/>
                  <a:sym typeface="Montserrat"/>
                </a:rPr>
                <a:t>PLATAFORMA DE INTELIGENCIA EPIDEMIOLÓGICA</a:t>
              </a:r>
              <a:endParaRPr b="1" sz="925">
                <a:solidFill>
                  <a:srgbClr val="10B981"/>
                </a:solidFill>
                <a:latin typeface="Montserrat"/>
                <a:ea typeface="Montserrat"/>
                <a:cs typeface="Montserrat"/>
                <a:sym typeface="Montserrat"/>
              </a:endParaRPr>
            </a:p>
          </p:txBody>
        </p:sp>
        <p:sp>
          <p:nvSpPr>
            <p:cNvPr id="460" name="Google Shape;460;p28"/>
            <p:cNvSpPr txBox="1"/>
            <p:nvPr/>
          </p:nvSpPr>
          <p:spPr>
            <a:xfrm>
              <a:off x="762000" y="666750"/>
              <a:ext cx="7620000" cy="476400"/>
            </a:xfrm>
            <a:prstGeom prst="rect">
              <a:avLst/>
            </a:prstGeom>
            <a:noFill/>
            <a:ln>
              <a:noFill/>
            </a:ln>
          </p:spPr>
          <p:txBody>
            <a:bodyPr anchorCtr="0" anchor="ctr" bIns="0" lIns="0" spcFirstLastPara="1" rIns="0" wrap="square" tIns="0">
              <a:noAutofit/>
            </a:bodyPr>
            <a:lstStyle/>
            <a:p>
              <a:pPr indent="0" lvl="0" marL="0" rtl="0" algn="l">
                <a:spcBef>
                  <a:spcPts val="0"/>
                </a:spcBef>
                <a:spcAft>
                  <a:spcPts val="0"/>
                </a:spcAft>
                <a:buNone/>
              </a:pPr>
              <a:r>
                <a:rPr b="0" lang="es" sz="2400">
                  <a:solidFill>
                    <a:srgbClr val="FFFFFF"/>
                  </a:solidFill>
                  <a:latin typeface="Montserrat ExtraBold"/>
                  <a:ea typeface="Montserrat ExtraBold"/>
                  <a:cs typeface="Montserrat ExtraBold"/>
                  <a:sym typeface="Montserrat ExtraBold"/>
                </a:rPr>
                <a:t>Conclusiones</a:t>
              </a:r>
              <a:endParaRPr b="0" sz="2400">
                <a:solidFill>
                  <a:srgbClr val="FFFFFF"/>
                </a:solidFill>
                <a:latin typeface="Montserrat ExtraBold"/>
                <a:ea typeface="Montserrat ExtraBold"/>
                <a:cs typeface="Montserrat ExtraBold"/>
                <a:sym typeface="Montserrat ExtraBold"/>
              </a:endParaRPr>
            </a:p>
          </p:txBody>
        </p:sp>
      </p:grpSp>
      <p:grpSp>
        <p:nvGrpSpPr>
          <p:cNvPr id="461" name="Google Shape;461;p28"/>
          <p:cNvGrpSpPr/>
          <p:nvPr/>
        </p:nvGrpSpPr>
        <p:grpSpPr>
          <a:xfrm>
            <a:off x="762000" y="1381125"/>
            <a:ext cx="2381400" cy="3000300"/>
            <a:chOff x="762000" y="1381125"/>
            <a:chExt cx="2381400" cy="3000300"/>
          </a:xfrm>
        </p:grpSpPr>
        <p:sp>
          <p:nvSpPr>
            <p:cNvPr id="462" name="Google Shape;462;p28"/>
            <p:cNvSpPr/>
            <p:nvPr/>
          </p:nvSpPr>
          <p:spPr>
            <a:xfrm>
              <a:off x="762000" y="1381125"/>
              <a:ext cx="2381400" cy="3000300"/>
            </a:xfrm>
            <a:prstGeom prst="roundRect">
              <a:avLst>
                <a:gd fmla="val 4800"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3" name="Google Shape;463;p28"/>
            <p:cNvSpPr txBox="1"/>
            <p:nvPr/>
          </p:nvSpPr>
          <p:spPr>
            <a:xfrm>
              <a:off x="933450" y="1571625"/>
              <a:ext cx="2038500" cy="26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1200">
                  <a:solidFill>
                    <a:srgbClr val="10B981"/>
                  </a:solidFill>
                  <a:latin typeface="Montserrat"/>
                  <a:ea typeface="Montserrat"/>
                  <a:cs typeface="Montserrat"/>
                  <a:sym typeface="Montserrat"/>
                </a:rPr>
                <a:t>ÉXITO ESTRUCTURAL</a:t>
              </a:r>
              <a:endParaRPr b="1" sz="1200">
                <a:solidFill>
                  <a:srgbClr val="10B981"/>
                </a:solidFill>
                <a:latin typeface="Montserrat"/>
                <a:ea typeface="Montserrat"/>
                <a:cs typeface="Montserrat"/>
                <a:sym typeface="Montserrat"/>
              </a:endParaRPr>
            </a:p>
            <a:p>
              <a:pPr indent="0" lvl="0" marL="0" rtl="0" algn="l">
                <a:spcBef>
                  <a:spcPts val="600"/>
                </a:spcBef>
                <a:spcAft>
                  <a:spcPts val="0"/>
                </a:spcAft>
                <a:buNone/>
              </a:pPr>
              <a:r>
                <a:rPr lang="es" sz="1050">
                  <a:solidFill>
                    <a:srgbClr val="F1F5F9"/>
                  </a:solidFill>
                </a:rPr>
                <a:t>Dispersión</a:t>
              </a:r>
              <a:r>
                <a:rPr lang="es" sz="1050">
                  <a:solidFill>
                    <a:srgbClr val="F1F5F9"/>
                  </a:solidFill>
                </a:rPr>
                <a:t> </a:t>
              </a:r>
              <a:r>
                <a:rPr b="0" lang="es" sz="1050">
                  <a:solidFill>
                    <a:srgbClr val="F1F5F9"/>
                  </a:solidFill>
                  <a:latin typeface="Arial"/>
                  <a:ea typeface="Arial"/>
                  <a:cs typeface="Arial"/>
                  <a:sym typeface="Arial"/>
                </a:rPr>
                <a:t>de los silos de información (INE/MSPAS/OMS) en un Data Warehouse Cloud centralizado.</a:t>
              </a:r>
              <a:endParaRPr b="0" sz="1050">
                <a:solidFill>
                  <a:srgbClr val="F1F5F9"/>
                </a:solidFill>
                <a:latin typeface="Arial"/>
                <a:ea typeface="Arial"/>
                <a:cs typeface="Arial"/>
                <a:sym typeface="Arial"/>
              </a:endParaRPr>
            </a:p>
          </p:txBody>
        </p:sp>
      </p:grpSp>
      <p:grpSp>
        <p:nvGrpSpPr>
          <p:cNvPr id="464" name="Google Shape;464;p28"/>
          <p:cNvGrpSpPr/>
          <p:nvPr/>
        </p:nvGrpSpPr>
        <p:grpSpPr>
          <a:xfrm>
            <a:off x="3381375" y="1381125"/>
            <a:ext cx="2381400" cy="3000300"/>
            <a:chOff x="3381375" y="1381125"/>
            <a:chExt cx="2381400" cy="3000300"/>
          </a:xfrm>
        </p:grpSpPr>
        <p:sp>
          <p:nvSpPr>
            <p:cNvPr id="465" name="Google Shape;465;p28"/>
            <p:cNvSpPr/>
            <p:nvPr/>
          </p:nvSpPr>
          <p:spPr>
            <a:xfrm>
              <a:off x="3381375" y="1381125"/>
              <a:ext cx="2381400" cy="3000300"/>
            </a:xfrm>
            <a:prstGeom prst="roundRect">
              <a:avLst>
                <a:gd fmla="val 4800"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6" name="Google Shape;466;p28"/>
            <p:cNvSpPr txBox="1"/>
            <p:nvPr/>
          </p:nvSpPr>
          <p:spPr>
            <a:xfrm>
              <a:off x="3552825" y="1571625"/>
              <a:ext cx="2038500" cy="26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1200">
                  <a:solidFill>
                    <a:srgbClr val="10B981"/>
                  </a:solidFill>
                  <a:latin typeface="Montserrat"/>
                  <a:ea typeface="Montserrat"/>
                  <a:cs typeface="Montserrat"/>
                  <a:sym typeface="Montserrat"/>
                </a:rPr>
                <a:t>EVIDENCIA CUANTIFICADA</a:t>
              </a:r>
              <a:endParaRPr b="1" sz="1200">
                <a:solidFill>
                  <a:srgbClr val="10B981"/>
                </a:solidFill>
                <a:latin typeface="Montserrat"/>
                <a:ea typeface="Montserrat"/>
                <a:cs typeface="Montserrat"/>
                <a:sym typeface="Montserrat"/>
              </a:endParaRPr>
            </a:p>
            <a:p>
              <a:pPr indent="0" lvl="0" marL="0" rtl="0" algn="l">
                <a:spcBef>
                  <a:spcPts val="600"/>
                </a:spcBef>
                <a:spcAft>
                  <a:spcPts val="0"/>
                </a:spcAft>
                <a:buNone/>
              </a:pPr>
              <a:r>
                <a:rPr b="0" lang="es" sz="1050">
                  <a:solidFill>
                    <a:srgbClr val="F1F5F9"/>
                  </a:solidFill>
                  <a:latin typeface="Arial"/>
                  <a:ea typeface="Arial"/>
                  <a:cs typeface="Arial"/>
                  <a:sym typeface="Arial"/>
                </a:rPr>
                <a:t>El exceso de mortalidad se explica tanto por la letalidad del virus (1.61% CFR) como por el abandono institucional prolongado.</a:t>
              </a:r>
              <a:endParaRPr b="0" sz="1050">
                <a:solidFill>
                  <a:srgbClr val="F1F5F9"/>
                </a:solidFill>
                <a:latin typeface="Arial"/>
                <a:ea typeface="Arial"/>
                <a:cs typeface="Arial"/>
                <a:sym typeface="Arial"/>
              </a:endParaRPr>
            </a:p>
          </p:txBody>
        </p:sp>
      </p:grpSp>
      <p:grpSp>
        <p:nvGrpSpPr>
          <p:cNvPr id="467" name="Google Shape;467;p28"/>
          <p:cNvGrpSpPr/>
          <p:nvPr/>
        </p:nvGrpSpPr>
        <p:grpSpPr>
          <a:xfrm>
            <a:off x="6000750" y="1381125"/>
            <a:ext cx="2381400" cy="3000300"/>
            <a:chOff x="6000750" y="1381125"/>
            <a:chExt cx="2381400" cy="3000300"/>
          </a:xfrm>
        </p:grpSpPr>
        <p:sp>
          <p:nvSpPr>
            <p:cNvPr id="468" name="Google Shape;468;p28"/>
            <p:cNvSpPr/>
            <p:nvPr/>
          </p:nvSpPr>
          <p:spPr>
            <a:xfrm>
              <a:off x="6000750" y="1381125"/>
              <a:ext cx="2381400" cy="3000300"/>
            </a:xfrm>
            <a:prstGeom prst="roundRect">
              <a:avLst>
                <a:gd fmla="val 4800"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69" name="Google Shape;469;p28"/>
            <p:cNvSpPr txBox="1"/>
            <p:nvPr/>
          </p:nvSpPr>
          <p:spPr>
            <a:xfrm>
              <a:off x="6172200" y="1571625"/>
              <a:ext cx="2038500" cy="2619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1200">
                  <a:solidFill>
                    <a:srgbClr val="10B981"/>
                  </a:solidFill>
                  <a:latin typeface="Montserrat"/>
                  <a:ea typeface="Montserrat"/>
                  <a:cs typeface="Montserrat"/>
                  <a:sym typeface="Montserrat"/>
                </a:rPr>
                <a:t>LAS VÍCTIMAS INVISIBLES</a:t>
              </a:r>
              <a:endParaRPr b="1" sz="1200">
                <a:solidFill>
                  <a:srgbClr val="10B981"/>
                </a:solidFill>
                <a:latin typeface="Montserrat"/>
                <a:ea typeface="Montserrat"/>
                <a:cs typeface="Montserrat"/>
                <a:sym typeface="Montserrat"/>
              </a:endParaRPr>
            </a:p>
            <a:p>
              <a:pPr indent="0" lvl="0" marL="0" rtl="0" algn="l">
                <a:spcBef>
                  <a:spcPts val="600"/>
                </a:spcBef>
                <a:spcAft>
                  <a:spcPts val="0"/>
                </a:spcAft>
                <a:buNone/>
              </a:pPr>
              <a:r>
                <a:rPr b="0" lang="es" sz="1050">
                  <a:solidFill>
                    <a:srgbClr val="F1F5F9"/>
                  </a:solidFill>
                  <a:latin typeface="Arial"/>
                  <a:ea typeface="Arial"/>
                  <a:cs typeface="Arial"/>
                  <a:sym typeface="Arial"/>
                </a:rPr>
                <a:t>La caída del 19.02% en atención primaria transformó a los pacientes crónicos en los mayores afectados a largo plazo.</a:t>
              </a:r>
              <a:endParaRPr b="0" sz="1050">
                <a:solidFill>
                  <a:srgbClr val="F1F5F9"/>
                </a:solidFill>
                <a:latin typeface="Arial"/>
                <a:ea typeface="Arial"/>
                <a:cs typeface="Arial"/>
                <a:sym typeface="Arial"/>
              </a:endParaRPr>
            </a:p>
          </p:txBody>
        </p:sp>
      </p:grpSp>
      <p:grpSp>
        <p:nvGrpSpPr>
          <p:cNvPr id="470" name="Google Shape;470;p28"/>
          <p:cNvGrpSpPr/>
          <p:nvPr/>
        </p:nvGrpSpPr>
        <p:grpSpPr>
          <a:xfrm>
            <a:off x="762000" y="4667250"/>
            <a:ext cx="1619400" cy="142800"/>
            <a:chOff x="762000" y="4667250"/>
            <a:chExt cx="1619400" cy="142800"/>
          </a:xfrm>
        </p:grpSpPr>
        <p:sp>
          <p:nvSpPr>
            <p:cNvPr id="471" name="Google Shape;471;p28"/>
            <p:cNvSpPr/>
            <p:nvPr/>
          </p:nvSpPr>
          <p:spPr>
            <a:xfrm>
              <a:off x="762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2" name="Google Shape;472;p28"/>
            <p:cNvSpPr txBox="1"/>
            <p:nvPr/>
          </p:nvSpPr>
          <p:spPr>
            <a:xfrm>
              <a:off x="762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3B82F6"/>
                  </a:solidFill>
                  <a:latin typeface="Arial"/>
                  <a:ea typeface="Arial"/>
                  <a:cs typeface="Arial"/>
                  <a:sym typeface="Arial"/>
                </a:rPr>
                <a:t>PNUD</a:t>
              </a:r>
              <a:endParaRPr b="0" sz="650">
                <a:solidFill>
                  <a:srgbClr val="3B82F6"/>
                </a:solidFill>
                <a:latin typeface="Arial"/>
                <a:ea typeface="Arial"/>
                <a:cs typeface="Arial"/>
                <a:sym typeface="Arial"/>
              </a:endParaRPr>
            </a:p>
          </p:txBody>
        </p:sp>
        <p:sp>
          <p:nvSpPr>
            <p:cNvPr id="473" name="Google Shape;473;p28"/>
            <p:cNvSpPr/>
            <p:nvPr/>
          </p:nvSpPr>
          <p:spPr>
            <a:xfrm>
              <a:off x="13335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4" name="Google Shape;474;p28"/>
            <p:cNvSpPr txBox="1"/>
            <p:nvPr/>
          </p:nvSpPr>
          <p:spPr>
            <a:xfrm>
              <a:off x="13335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10B981"/>
                  </a:solidFill>
                  <a:latin typeface="Arial"/>
                  <a:ea typeface="Arial"/>
                  <a:cs typeface="Arial"/>
                  <a:sym typeface="Arial"/>
                </a:rPr>
                <a:t>MSPAS</a:t>
              </a:r>
              <a:endParaRPr b="0" sz="650">
                <a:solidFill>
                  <a:srgbClr val="10B981"/>
                </a:solidFill>
                <a:latin typeface="Arial"/>
                <a:ea typeface="Arial"/>
                <a:cs typeface="Arial"/>
                <a:sym typeface="Arial"/>
              </a:endParaRPr>
            </a:p>
          </p:txBody>
        </p:sp>
        <p:sp>
          <p:nvSpPr>
            <p:cNvPr id="475" name="Google Shape;475;p28"/>
            <p:cNvSpPr/>
            <p:nvPr/>
          </p:nvSpPr>
          <p:spPr>
            <a:xfrm>
              <a:off x="1905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76" name="Google Shape;476;p28"/>
            <p:cNvSpPr txBox="1"/>
            <p:nvPr/>
          </p:nvSpPr>
          <p:spPr>
            <a:xfrm>
              <a:off x="1905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94A3B8"/>
                  </a:solidFill>
                  <a:latin typeface="Arial"/>
                  <a:ea typeface="Arial"/>
                  <a:cs typeface="Arial"/>
                  <a:sym typeface="Arial"/>
                </a:rPr>
                <a:t>USAC</a:t>
              </a:r>
              <a:endParaRPr b="0" sz="650">
                <a:solidFill>
                  <a:srgbClr val="94A3B8"/>
                </a:solidFill>
                <a:latin typeface="Arial"/>
                <a:ea typeface="Arial"/>
                <a:cs typeface="Arial"/>
                <a:sym typeface="Arial"/>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29"/>
          <p:cNvSpPr/>
          <p:nvPr/>
        </p:nvSpPr>
        <p:spPr>
          <a:xfrm>
            <a:off x="0" y="0"/>
            <a:ext cx="9144000" cy="5143500"/>
          </a:xfrm>
          <a:prstGeom prst="rect">
            <a:avLst/>
          </a:prstGeom>
          <a:solidFill>
            <a:srgbClr val="020B1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2" name="Google Shape;482;p29"/>
          <p:cNvSpPr/>
          <p:nvPr/>
        </p:nvSpPr>
        <p:spPr>
          <a:xfrm>
            <a:off x="6286500" y="381000"/>
            <a:ext cx="2667000" cy="2667000"/>
          </a:xfrm>
          <a:prstGeom prst="ellipse">
            <a:avLst/>
          </a:prstGeom>
          <a:solidFill>
            <a:srgbClr val="3B82F6">
              <a:alpha val="5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3" name="Google Shape;483;p29"/>
          <p:cNvSpPr/>
          <p:nvPr/>
        </p:nvSpPr>
        <p:spPr>
          <a:xfrm>
            <a:off x="7048500" y="1143000"/>
            <a:ext cx="1714500" cy="1714500"/>
          </a:xfrm>
          <a:prstGeom prst="ellipse">
            <a:avLst/>
          </a:prstGeom>
          <a:solidFill>
            <a:srgbClr val="10B981">
              <a:alpha val="2999"/>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84" name="Google Shape;484;p29"/>
          <p:cNvSpPr/>
          <p:nvPr/>
        </p:nvSpPr>
        <p:spPr>
          <a:xfrm>
            <a:off x="4953000" y="1905000"/>
            <a:ext cx="3429000" cy="3429000"/>
          </a:xfrm>
          <a:prstGeom prst="ellipse">
            <a:avLst/>
          </a:prstGeom>
          <a:solidFill>
            <a:srgbClr val="021329"/>
          </a:solidFill>
          <a:ln cap="flat" cmpd="sng" w="9525">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grpSp>
        <p:nvGrpSpPr>
          <p:cNvPr id="485" name="Google Shape;485;p29"/>
          <p:cNvGrpSpPr/>
          <p:nvPr/>
        </p:nvGrpSpPr>
        <p:grpSpPr>
          <a:xfrm>
            <a:off x="762000" y="428625"/>
            <a:ext cx="7620000" cy="714525"/>
            <a:chOff x="762000" y="428625"/>
            <a:chExt cx="7620000" cy="714525"/>
          </a:xfrm>
        </p:grpSpPr>
        <p:sp>
          <p:nvSpPr>
            <p:cNvPr id="486" name="Google Shape;486;p29"/>
            <p:cNvSpPr txBox="1"/>
            <p:nvPr/>
          </p:nvSpPr>
          <p:spPr>
            <a:xfrm>
              <a:off x="762000" y="428625"/>
              <a:ext cx="7620000" cy="2382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900">
                  <a:solidFill>
                    <a:srgbClr val="10B981"/>
                  </a:solidFill>
                  <a:latin typeface="Montserrat"/>
                  <a:ea typeface="Montserrat"/>
                  <a:cs typeface="Montserrat"/>
                  <a:sym typeface="Montserrat"/>
                </a:rPr>
                <a:t>PLATAFORMA DE INTELIGENCIA EPIDEMIOLÓGICA</a:t>
              </a:r>
              <a:endParaRPr b="1" sz="900">
                <a:solidFill>
                  <a:srgbClr val="10B981"/>
                </a:solidFill>
                <a:latin typeface="Montserrat"/>
                <a:ea typeface="Montserrat"/>
                <a:cs typeface="Montserrat"/>
                <a:sym typeface="Montserrat"/>
              </a:endParaRPr>
            </a:p>
          </p:txBody>
        </p:sp>
        <p:sp>
          <p:nvSpPr>
            <p:cNvPr id="487" name="Google Shape;487;p29"/>
            <p:cNvSpPr txBox="1"/>
            <p:nvPr/>
          </p:nvSpPr>
          <p:spPr>
            <a:xfrm>
              <a:off x="762000" y="666750"/>
              <a:ext cx="7620000" cy="4764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0" lang="es" sz="2400">
                  <a:solidFill>
                    <a:srgbClr val="FFFFFF"/>
                  </a:solidFill>
                  <a:latin typeface="Montserrat ExtraBold"/>
                  <a:ea typeface="Montserrat ExtraBold"/>
                  <a:cs typeface="Montserrat ExtraBold"/>
                  <a:sym typeface="Montserrat ExtraBold"/>
                </a:rPr>
                <a:t>Recomendaciones de Política Pública</a:t>
              </a:r>
              <a:endParaRPr b="0" sz="2400">
                <a:solidFill>
                  <a:srgbClr val="FFFFFF"/>
                </a:solidFill>
                <a:latin typeface="Montserrat ExtraBold"/>
                <a:ea typeface="Montserrat ExtraBold"/>
                <a:cs typeface="Montserrat ExtraBold"/>
                <a:sym typeface="Montserrat ExtraBold"/>
              </a:endParaRPr>
            </a:p>
          </p:txBody>
        </p:sp>
      </p:grpSp>
      <p:grpSp>
        <p:nvGrpSpPr>
          <p:cNvPr id="488" name="Google Shape;488;p29"/>
          <p:cNvGrpSpPr/>
          <p:nvPr/>
        </p:nvGrpSpPr>
        <p:grpSpPr>
          <a:xfrm>
            <a:off x="762000" y="1381125"/>
            <a:ext cx="2381400" cy="3000300"/>
            <a:chOff x="762000" y="1381125"/>
            <a:chExt cx="2381400" cy="3000300"/>
          </a:xfrm>
        </p:grpSpPr>
        <p:sp>
          <p:nvSpPr>
            <p:cNvPr id="489" name="Google Shape;489;p29"/>
            <p:cNvSpPr/>
            <p:nvPr/>
          </p:nvSpPr>
          <p:spPr>
            <a:xfrm>
              <a:off x="762000" y="1381125"/>
              <a:ext cx="2381400" cy="3000300"/>
            </a:xfrm>
            <a:prstGeom prst="roundRect">
              <a:avLst>
                <a:gd fmla="val 4800"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0" name="Google Shape;490;p29"/>
            <p:cNvSpPr/>
            <p:nvPr/>
          </p:nvSpPr>
          <p:spPr>
            <a:xfrm>
              <a:off x="933450" y="1647825"/>
              <a:ext cx="419100" cy="419100"/>
            </a:xfrm>
            <a:prstGeom prst="ellipse">
              <a:avLst/>
            </a:prstGeom>
            <a:solidFill>
              <a:srgbClr val="10B981">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91" name="Google Shape;491;p29"/>
            <p:cNvPicPr preferRelativeResize="0"/>
            <p:nvPr/>
          </p:nvPicPr>
          <p:blipFill rotWithShape="1">
            <a:blip r:embed="rId3">
              <a:alphaModFix/>
            </a:blip>
            <a:srcRect b="0" l="0" r="0" t="0"/>
            <a:stretch/>
          </p:blipFill>
          <p:spPr>
            <a:xfrm>
              <a:off x="1066800" y="1771650"/>
              <a:ext cx="152400" cy="152400"/>
            </a:xfrm>
            <a:prstGeom prst="rect">
              <a:avLst/>
            </a:prstGeom>
            <a:noFill/>
            <a:ln>
              <a:noFill/>
            </a:ln>
          </p:spPr>
        </p:pic>
        <p:pic>
          <p:nvPicPr>
            <p:cNvPr id="492" name="Google Shape;492;p29"/>
            <p:cNvPicPr preferRelativeResize="0"/>
            <p:nvPr/>
          </p:nvPicPr>
          <p:blipFill rotWithShape="1">
            <a:blip r:embed="rId4">
              <a:alphaModFix/>
            </a:blip>
            <a:srcRect b="0" l="0" r="0" t="0"/>
            <a:stretch/>
          </p:blipFill>
          <p:spPr>
            <a:xfrm>
              <a:off x="1000125" y="1733550"/>
              <a:ext cx="285900" cy="247800"/>
            </a:xfrm>
            <a:prstGeom prst="rect">
              <a:avLst/>
            </a:prstGeom>
            <a:noFill/>
            <a:ln>
              <a:noFill/>
            </a:ln>
          </p:spPr>
        </p:pic>
        <p:sp>
          <p:nvSpPr>
            <p:cNvPr id="493" name="Google Shape;493;p29"/>
            <p:cNvSpPr txBox="1"/>
            <p:nvPr/>
          </p:nvSpPr>
          <p:spPr>
            <a:xfrm>
              <a:off x="933450" y="2238375"/>
              <a:ext cx="20385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1100">
                  <a:solidFill>
                    <a:srgbClr val="10B981"/>
                  </a:solidFill>
                  <a:latin typeface="Montserrat"/>
                  <a:ea typeface="Montserrat"/>
                  <a:cs typeface="Montserrat"/>
                  <a:sym typeface="Montserrat"/>
                </a:rPr>
                <a:t>FOCALIZACIÓN</a:t>
              </a:r>
              <a:endParaRPr b="1" sz="1100">
                <a:solidFill>
                  <a:srgbClr val="10B981"/>
                </a:solidFill>
                <a:latin typeface="Montserrat"/>
                <a:ea typeface="Montserrat"/>
                <a:cs typeface="Montserrat"/>
                <a:sym typeface="Montserrat"/>
              </a:endParaRPr>
            </a:p>
            <a:p>
              <a:pPr indent="0" lvl="0" marL="0" rtl="0" algn="l">
                <a:spcBef>
                  <a:spcPts val="600"/>
                </a:spcBef>
                <a:spcAft>
                  <a:spcPts val="0"/>
                </a:spcAft>
                <a:buNone/>
              </a:pPr>
              <a:r>
                <a:rPr b="0" lang="es" sz="1050">
                  <a:solidFill>
                    <a:srgbClr val="F1F5F9"/>
                  </a:solidFill>
                  <a:latin typeface="Arial"/>
                  <a:ea typeface="Arial"/>
                  <a:cs typeface="Arial"/>
                  <a:sym typeface="Arial"/>
                </a:rPr>
                <a:t>Descentralizar las capacidades de Cuidados Intensivos (UCIs) hacia </a:t>
              </a:r>
              <a:r>
                <a:rPr lang="es" sz="1050">
                  <a:solidFill>
                    <a:srgbClr val="F1F5F9"/>
                  </a:solidFill>
                </a:rPr>
                <a:t>el</a:t>
              </a:r>
              <a:r>
                <a:rPr lang="es" sz="1050">
                  <a:solidFill>
                    <a:srgbClr val="F1F5F9"/>
                  </a:solidFill>
                </a:rPr>
                <a:t> </a:t>
              </a:r>
              <a:r>
                <a:rPr b="0" lang="es" sz="1050">
                  <a:solidFill>
                    <a:srgbClr val="F1F5F9"/>
                  </a:solidFill>
                  <a:latin typeface="Arial"/>
                  <a:ea typeface="Arial"/>
                  <a:cs typeface="Arial"/>
                  <a:sym typeface="Arial"/>
                </a:rPr>
                <a:t>Occidente (San Marcos, Quetzaltenango).</a:t>
              </a:r>
              <a:endParaRPr b="0" sz="1050">
                <a:solidFill>
                  <a:srgbClr val="F1F5F9"/>
                </a:solidFill>
                <a:latin typeface="Arial"/>
                <a:ea typeface="Arial"/>
                <a:cs typeface="Arial"/>
                <a:sym typeface="Arial"/>
              </a:endParaRPr>
            </a:p>
          </p:txBody>
        </p:sp>
      </p:grpSp>
      <p:grpSp>
        <p:nvGrpSpPr>
          <p:cNvPr id="494" name="Google Shape;494;p29"/>
          <p:cNvGrpSpPr/>
          <p:nvPr/>
        </p:nvGrpSpPr>
        <p:grpSpPr>
          <a:xfrm>
            <a:off x="3381375" y="1381125"/>
            <a:ext cx="2381400" cy="3000300"/>
            <a:chOff x="3381375" y="1381125"/>
            <a:chExt cx="2381400" cy="3000300"/>
          </a:xfrm>
        </p:grpSpPr>
        <p:sp>
          <p:nvSpPr>
            <p:cNvPr id="495" name="Google Shape;495;p29"/>
            <p:cNvSpPr/>
            <p:nvPr/>
          </p:nvSpPr>
          <p:spPr>
            <a:xfrm>
              <a:off x="3381375" y="1381125"/>
              <a:ext cx="2381400" cy="3000300"/>
            </a:xfrm>
            <a:prstGeom prst="roundRect">
              <a:avLst>
                <a:gd fmla="val 4800"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6" name="Google Shape;496;p29"/>
            <p:cNvSpPr/>
            <p:nvPr/>
          </p:nvSpPr>
          <p:spPr>
            <a:xfrm>
              <a:off x="3552825" y="1647825"/>
              <a:ext cx="419100" cy="419100"/>
            </a:xfrm>
            <a:prstGeom prst="ellipse">
              <a:avLst/>
            </a:prstGeom>
            <a:solidFill>
              <a:srgbClr val="10B981">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497" name="Google Shape;497;p29"/>
            <p:cNvPicPr preferRelativeResize="0"/>
            <p:nvPr/>
          </p:nvPicPr>
          <p:blipFill rotWithShape="1">
            <a:blip r:embed="rId5">
              <a:alphaModFix/>
            </a:blip>
            <a:srcRect b="0" l="0" r="0" t="0"/>
            <a:stretch/>
          </p:blipFill>
          <p:spPr>
            <a:xfrm>
              <a:off x="3624263" y="1743075"/>
              <a:ext cx="276300" cy="228600"/>
            </a:xfrm>
            <a:prstGeom prst="rect">
              <a:avLst/>
            </a:prstGeom>
            <a:noFill/>
            <a:ln>
              <a:noFill/>
            </a:ln>
          </p:spPr>
        </p:pic>
        <p:sp>
          <p:nvSpPr>
            <p:cNvPr id="498" name="Google Shape;498;p29"/>
            <p:cNvSpPr/>
            <p:nvPr/>
          </p:nvSpPr>
          <p:spPr>
            <a:xfrm>
              <a:off x="3600450" y="1933575"/>
              <a:ext cx="76200" cy="76200"/>
            </a:xfrm>
            <a:prstGeom prst="ellipse">
              <a:avLst/>
            </a:prstGeom>
            <a:solidFill>
              <a:srgbClr val="10B981"/>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499" name="Google Shape;499;p29"/>
            <p:cNvSpPr/>
            <p:nvPr/>
          </p:nvSpPr>
          <p:spPr>
            <a:xfrm>
              <a:off x="3848100" y="1704975"/>
              <a:ext cx="76200" cy="76200"/>
            </a:xfrm>
            <a:prstGeom prst="ellipse">
              <a:avLst/>
            </a:prstGeom>
            <a:solidFill>
              <a:srgbClr val="3B82F6"/>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0" name="Google Shape;500;p29"/>
            <p:cNvSpPr txBox="1"/>
            <p:nvPr/>
          </p:nvSpPr>
          <p:spPr>
            <a:xfrm>
              <a:off x="3552825" y="2238375"/>
              <a:ext cx="20385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1100">
                  <a:solidFill>
                    <a:srgbClr val="10B981"/>
                  </a:solidFill>
                  <a:latin typeface="Montserrat"/>
                  <a:ea typeface="Montserrat"/>
                  <a:cs typeface="Montserrat"/>
                  <a:sym typeface="Montserrat"/>
                </a:rPr>
                <a:t>RUTAS BLINDADAS</a:t>
              </a:r>
              <a:endParaRPr b="1" sz="1100">
                <a:solidFill>
                  <a:srgbClr val="10B981"/>
                </a:solidFill>
                <a:latin typeface="Montserrat"/>
                <a:ea typeface="Montserrat"/>
                <a:cs typeface="Montserrat"/>
                <a:sym typeface="Montserrat"/>
              </a:endParaRPr>
            </a:p>
            <a:p>
              <a:pPr indent="0" lvl="0" marL="0" rtl="0" algn="l">
                <a:spcBef>
                  <a:spcPts val="600"/>
                </a:spcBef>
                <a:spcAft>
                  <a:spcPts val="0"/>
                </a:spcAft>
                <a:buNone/>
              </a:pPr>
              <a:r>
                <a:rPr b="0" lang="es" sz="1050">
                  <a:solidFill>
                    <a:srgbClr val="F1F5F9"/>
                  </a:solidFill>
                  <a:latin typeface="Arial"/>
                  <a:ea typeface="Arial"/>
                  <a:cs typeface="Arial"/>
                  <a:sym typeface="Arial"/>
                </a:rPr>
                <a:t>Mantener redes de dispensarios móviles activos para crónicos durante futuras cuarentenas o pandemias.</a:t>
              </a:r>
              <a:endParaRPr b="0" sz="1050">
                <a:solidFill>
                  <a:srgbClr val="F1F5F9"/>
                </a:solidFill>
                <a:latin typeface="Arial"/>
                <a:ea typeface="Arial"/>
                <a:cs typeface="Arial"/>
                <a:sym typeface="Arial"/>
              </a:endParaRPr>
            </a:p>
          </p:txBody>
        </p:sp>
      </p:grpSp>
      <p:grpSp>
        <p:nvGrpSpPr>
          <p:cNvPr id="501" name="Google Shape;501;p29"/>
          <p:cNvGrpSpPr/>
          <p:nvPr/>
        </p:nvGrpSpPr>
        <p:grpSpPr>
          <a:xfrm>
            <a:off x="6000750" y="1381125"/>
            <a:ext cx="2381400" cy="3000300"/>
            <a:chOff x="6000750" y="1381125"/>
            <a:chExt cx="2381400" cy="3000300"/>
          </a:xfrm>
        </p:grpSpPr>
        <p:sp>
          <p:nvSpPr>
            <p:cNvPr id="502" name="Google Shape;502;p29"/>
            <p:cNvSpPr/>
            <p:nvPr/>
          </p:nvSpPr>
          <p:spPr>
            <a:xfrm>
              <a:off x="6000750" y="1381125"/>
              <a:ext cx="2381400" cy="3000300"/>
            </a:xfrm>
            <a:prstGeom prst="roundRect">
              <a:avLst>
                <a:gd fmla="val 4800" name="adj"/>
              </a:avLst>
            </a:prstGeom>
            <a:solidFill>
              <a:srgbClr val="0B1E36">
                <a:alpha val="60000"/>
              </a:srgbClr>
            </a:solidFill>
            <a:ln cap="flat" cmpd="sng" w="14300">
              <a:solidFill>
                <a:srgbClr val="1E293B"/>
              </a:solidFill>
              <a:prstDash val="solid"/>
              <a:round/>
              <a:headEnd len="sm" w="sm" type="none"/>
              <a:tailEnd len="sm" w="sm" type="none"/>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3" name="Google Shape;503;p29"/>
            <p:cNvSpPr/>
            <p:nvPr/>
          </p:nvSpPr>
          <p:spPr>
            <a:xfrm>
              <a:off x="6172200" y="1647825"/>
              <a:ext cx="419100" cy="419100"/>
            </a:xfrm>
            <a:prstGeom prst="ellipse">
              <a:avLst/>
            </a:prstGeom>
            <a:solidFill>
              <a:srgbClr val="10B981">
                <a:alpha val="10000"/>
              </a:srgbClr>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pic>
          <p:nvPicPr>
            <p:cNvPr id="504" name="Google Shape;504;p29"/>
            <p:cNvPicPr preferRelativeResize="0"/>
            <p:nvPr/>
          </p:nvPicPr>
          <p:blipFill rotWithShape="1">
            <a:blip r:embed="rId6">
              <a:alphaModFix/>
            </a:blip>
            <a:srcRect b="0" l="0" r="0" t="0"/>
            <a:stretch/>
          </p:blipFill>
          <p:spPr>
            <a:xfrm>
              <a:off x="6229350" y="1714500"/>
              <a:ext cx="304800" cy="314400"/>
            </a:xfrm>
            <a:prstGeom prst="rect">
              <a:avLst/>
            </a:prstGeom>
            <a:noFill/>
            <a:ln>
              <a:noFill/>
            </a:ln>
          </p:spPr>
        </p:pic>
        <p:pic>
          <p:nvPicPr>
            <p:cNvPr id="505" name="Google Shape;505;p29"/>
            <p:cNvPicPr preferRelativeResize="0"/>
            <p:nvPr/>
          </p:nvPicPr>
          <p:blipFill rotWithShape="1">
            <a:blip r:embed="rId7">
              <a:alphaModFix/>
            </a:blip>
            <a:srcRect b="0" l="0" r="0" t="0"/>
            <a:stretch/>
          </p:blipFill>
          <p:spPr>
            <a:xfrm>
              <a:off x="6324600" y="1819275"/>
              <a:ext cx="133500" cy="109500"/>
            </a:xfrm>
            <a:prstGeom prst="rect">
              <a:avLst/>
            </a:prstGeom>
            <a:noFill/>
            <a:ln>
              <a:noFill/>
            </a:ln>
          </p:spPr>
        </p:pic>
        <p:sp>
          <p:nvSpPr>
            <p:cNvPr id="506" name="Google Shape;506;p29"/>
            <p:cNvSpPr txBox="1"/>
            <p:nvPr/>
          </p:nvSpPr>
          <p:spPr>
            <a:xfrm>
              <a:off x="6172200" y="2238375"/>
              <a:ext cx="2038500" cy="20001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b="1" lang="es" sz="1100">
                  <a:solidFill>
                    <a:srgbClr val="10B981"/>
                  </a:solidFill>
                  <a:latin typeface="Montserrat"/>
                  <a:ea typeface="Montserrat"/>
                  <a:cs typeface="Montserrat"/>
                  <a:sym typeface="Montserrat"/>
                </a:rPr>
                <a:t>MODERNIZACIÓN</a:t>
              </a:r>
              <a:endParaRPr b="1" sz="1100">
                <a:solidFill>
                  <a:srgbClr val="10B981"/>
                </a:solidFill>
                <a:latin typeface="Montserrat"/>
                <a:ea typeface="Montserrat"/>
                <a:cs typeface="Montserrat"/>
                <a:sym typeface="Montserrat"/>
              </a:endParaRPr>
            </a:p>
            <a:p>
              <a:pPr indent="0" lvl="0" marL="0" rtl="0" algn="l">
                <a:spcBef>
                  <a:spcPts val="600"/>
                </a:spcBef>
                <a:spcAft>
                  <a:spcPts val="0"/>
                </a:spcAft>
                <a:buNone/>
              </a:pPr>
              <a:r>
                <a:rPr b="0" lang="es" sz="1050">
                  <a:solidFill>
                    <a:srgbClr val="F1F5F9"/>
                  </a:solidFill>
                  <a:latin typeface="Arial"/>
                  <a:ea typeface="Arial"/>
                  <a:cs typeface="Arial"/>
                  <a:sym typeface="Arial"/>
                </a:rPr>
                <a:t>Adoptar esta plataforma Serverless como el estándar base para un Sistema de Alertas Tempranas del MSPAS.</a:t>
              </a:r>
              <a:endParaRPr b="0" sz="1050">
                <a:solidFill>
                  <a:srgbClr val="F1F5F9"/>
                </a:solidFill>
                <a:latin typeface="Arial"/>
                <a:ea typeface="Arial"/>
                <a:cs typeface="Arial"/>
                <a:sym typeface="Arial"/>
              </a:endParaRPr>
            </a:p>
          </p:txBody>
        </p:sp>
      </p:grpSp>
      <p:grpSp>
        <p:nvGrpSpPr>
          <p:cNvPr id="507" name="Google Shape;507;p29"/>
          <p:cNvGrpSpPr/>
          <p:nvPr/>
        </p:nvGrpSpPr>
        <p:grpSpPr>
          <a:xfrm>
            <a:off x="762000" y="4667250"/>
            <a:ext cx="1619400" cy="142800"/>
            <a:chOff x="762000" y="4667250"/>
            <a:chExt cx="1619400" cy="142800"/>
          </a:xfrm>
        </p:grpSpPr>
        <p:sp>
          <p:nvSpPr>
            <p:cNvPr id="508" name="Google Shape;508;p29"/>
            <p:cNvSpPr/>
            <p:nvPr/>
          </p:nvSpPr>
          <p:spPr>
            <a:xfrm>
              <a:off x="762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09" name="Google Shape;509;p29"/>
            <p:cNvSpPr txBox="1"/>
            <p:nvPr/>
          </p:nvSpPr>
          <p:spPr>
            <a:xfrm>
              <a:off x="762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3B82F6"/>
                  </a:solidFill>
                  <a:latin typeface="Arial"/>
                  <a:ea typeface="Arial"/>
                  <a:cs typeface="Arial"/>
                  <a:sym typeface="Arial"/>
                </a:rPr>
                <a:t>PNUD</a:t>
              </a:r>
              <a:endParaRPr b="0" sz="650">
                <a:solidFill>
                  <a:srgbClr val="3B82F6"/>
                </a:solidFill>
                <a:latin typeface="Arial"/>
                <a:ea typeface="Arial"/>
                <a:cs typeface="Arial"/>
                <a:sym typeface="Arial"/>
              </a:endParaRPr>
            </a:p>
          </p:txBody>
        </p:sp>
        <p:sp>
          <p:nvSpPr>
            <p:cNvPr id="510" name="Google Shape;510;p29"/>
            <p:cNvSpPr/>
            <p:nvPr/>
          </p:nvSpPr>
          <p:spPr>
            <a:xfrm>
              <a:off x="13335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1" name="Google Shape;511;p29"/>
            <p:cNvSpPr txBox="1"/>
            <p:nvPr/>
          </p:nvSpPr>
          <p:spPr>
            <a:xfrm>
              <a:off x="13335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10B981"/>
                  </a:solidFill>
                  <a:latin typeface="Arial"/>
                  <a:ea typeface="Arial"/>
                  <a:cs typeface="Arial"/>
                  <a:sym typeface="Arial"/>
                </a:rPr>
                <a:t>MSPAS</a:t>
              </a:r>
              <a:endParaRPr b="0" sz="650">
                <a:solidFill>
                  <a:srgbClr val="10B981"/>
                </a:solidFill>
                <a:latin typeface="Arial"/>
                <a:ea typeface="Arial"/>
                <a:cs typeface="Arial"/>
                <a:sym typeface="Arial"/>
              </a:endParaRPr>
            </a:p>
          </p:txBody>
        </p:sp>
        <p:sp>
          <p:nvSpPr>
            <p:cNvPr id="512" name="Google Shape;512;p29"/>
            <p:cNvSpPr/>
            <p:nvPr/>
          </p:nvSpPr>
          <p:spPr>
            <a:xfrm>
              <a:off x="1905000" y="4667250"/>
              <a:ext cx="476400" cy="142800"/>
            </a:xfrm>
            <a:prstGeom prst="roundRect">
              <a:avLst>
                <a:gd fmla="val 20000" name="adj"/>
              </a:avLst>
            </a:prstGeom>
            <a:solidFill>
              <a:srgbClr val="1E293B"/>
            </a:solidFill>
            <a:ln>
              <a:noFill/>
            </a:ln>
          </p:spPr>
          <p:txBody>
            <a:bodyPr anchorCtr="0" anchor="ctr" bIns="0" lIns="0" spcFirstLastPara="1" rIns="0" wrap="square" tIns="0">
              <a:noAutofit/>
            </a:bodyPr>
            <a:lstStyle/>
            <a:p>
              <a:pPr indent="0" lvl="0" marL="0" rtl="0" algn="l">
                <a:spcBef>
                  <a:spcPts val="0"/>
                </a:spcBef>
                <a:spcAft>
                  <a:spcPts val="0"/>
                </a:spcAft>
                <a:buNone/>
              </a:pPr>
              <a:r>
                <a:t/>
              </a:r>
              <a:endParaRPr/>
            </a:p>
          </p:txBody>
        </p:sp>
        <p:sp>
          <p:nvSpPr>
            <p:cNvPr id="513" name="Google Shape;513;p29"/>
            <p:cNvSpPr txBox="1"/>
            <p:nvPr/>
          </p:nvSpPr>
          <p:spPr>
            <a:xfrm>
              <a:off x="1905000" y="4667250"/>
              <a:ext cx="476400" cy="1428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0" lang="es" sz="650">
                  <a:solidFill>
                    <a:srgbClr val="94A3B8"/>
                  </a:solidFill>
                  <a:latin typeface="Arial"/>
                  <a:ea typeface="Arial"/>
                  <a:cs typeface="Arial"/>
                  <a:sym typeface="Arial"/>
                </a:rPr>
                <a:t>USAC</a:t>
              </a:r>
              <a:endParaRPr b="0" sz="650">
                <a:solidFill>
                  <a:srgbClr val="94A3B8"/>
                </a:solidFill>
                <a:latin typeface="Arial"/>
                <a:ea typeface="Arial"/>
                <a:cs typeface="Arial"/>
                <a:sym typeface="Arial"/>
              </a:endParaRPr>
            </a:p>
          </p:txBody>
        </p:sp>
      </p:gr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